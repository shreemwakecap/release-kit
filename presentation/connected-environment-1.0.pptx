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About twelve minutes, plus questions. The overview video (3:21) is optional.</a:t>
            </a:r>
          </a:p>
          <a:p>
            <a:r>
              <a:t>We cover why we built Connected Environment, what is in 1.0 today, what it does not do yet, and where to watch and try it.</a:t>
            </a:r>
          </a:p>
          <a:p>
            <a:r>
              <a:t>The three chips on the right are the three answers a site can get: Danger from Weather Station, All Clear from Lightning, Check from Gas. That is the whole story in one picture.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site the question is simple: is it safe to work right now?</a:t>
            </a:r>
          </a:p>
          <a:p>
            <a:r>
              <a:t>Heat says one thing. Lightning says another. Gas says a third. Three screens, three products, three places to look.</a:t>
            </a:r>
          </a:p>
          <a:p>
            <a:r>
              <a:t>Connected Environment puts them under one roof.</a:t>
            </a:r>
          </a:p>
          <a:p>
            <a:r>
              <a:t>These tiles are live production screens from three different projects, captured on 4 October. Weather showed Danger. Lightning showed All Clear. Gas showed Check.</a:t>
            </a:r>
          </a:p>
          <a:p>
            <a:r>
              <a:t>Point out that Check does not mean calm. It means one detector is not reporting, so the screen cannot confirm it is safe.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Connected Environment is one umbrella in the portal.</a:t>
            </a:r>
          </a:p>
          <a:p>
            <a:r>
              <a:t>Under it sit Weather Station, Lightning and Gas, each with its own screens and devices.</a:t>
            </a:r>
          </a:p>
          <a:p>
            <a:r>
              <a:t>They share one platform: one backend, one menu and header. A project switches on only the products it uses.</a:t>
            </a:r>
          </a:p>
          <a:p>
            <a:r>
              <a:t>The last line, new environment products go under it, is our stated direction. It is not a shipped feature, so say it as direction.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heat number does not tell a supervisor what to do. The strip across the top does: Danger, in words, and an instruction.</a:t>
            </a:r>
          </a:p>
          <a:p>
            <a:r>
              <a:t>One: View Recommended Steps opens the actions in priority order. First, pause outdoor work and move crews to shade or rest. Then notify the site safety officer.</a:t>
            </a:r>
          </a:p>
          <a:p>
            <a:r>
              <a:t>Two: the heat card carries the cycle in force. Work time, rest time, and drinking water.</a:t>
            </a:r>
          </a:p>
          <a:p>
            <a:r>
              <a:t>Three: station health. An offline station is named, and readiness reads Not ready.</a:t>
            </a:r>
          </a:p>
          <a:p>
            <a:r>
              <a:t>Four: the gear opens Select parameters. It chooses which readings are featured. Each station also has a rename pencil.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places.</a:t>
            </a:r>
          </a:p>
          <a:p>
            <a:r>
              <a:t>Reports: pick a period and see the peak heat index and peak wind speed across stations, with a daily breakdown and an Excel export.</a:t>
            </a:r>
          </a:p>
          <a:p>
            <a:r>
              <a:t>Settings, Weather Station holds the Site Safety Policy. Stop-work limits. For temperature and wind, a 30 day chart shows what the limit would have done. On the project in this screenshot, temperature would have stopped work on eight of the last 30 days, and wind on one. Those are values at capture time.</a:t>
            </a:r>
          </a:p>
          <a:p>
            <a:r>
              <a:t>Below the limits are the heat index bands, each with work, rest and water settings, and a Change history tab.</a:t>
            </a:r>
          </a:p>
          <a:p>
            <a:r>
              <a:t>Say the warning out loud: the page says changing anything here changes when work stops, for everyone on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Lightning is close. Who tells the crew to stop? The site&amp;#x27;s own cabinet lights and sounder, first. This page is the backup, and its top line says so.</a:t>
            </a:r>
          </a:p>
          <a:p>
            <a:r>
              <a:t>Only the green state counts as safe to work.</a:t>
            </a:r>
          </a:p>
          <a:p>
            <a:r>
              <a:t>The rings are the configured alert distances. They are a zone reference, not a live strike position.</a:t>
            </a:r>
          </a:p>
          <a:p>
            <a:r>
              <a:t>New here: a map of the alert distances, an alarm activity chart, and an alarm history you can export as CSV.</a:t>
            </a:r>
          </a:p>
          <a:p>
            <a:r>
              <a:t>The wallboard and phone views, shown in the inset, open by web address, not from the menu.</a:t>
            </a:r>
          </a:p>
          <a:p>
            <a:r>
              <a:t>Settings, Lightning lets you edit the alert distances and set the location.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quiet gas screen is not a safe gas screen.</a:t>
            </a:r>
          </a:p>
          <a:p>
            <a:r>
              <a:t>The Gas dashboard opens on Overview. Five detectors, four online. Live alarms counts alerts nobody has acknowledged. Each gas card shows the worst current reading among the detectors that are reporting, with its limits.</a:t>
            </a:r>
          </a:p>
          <a:p>
            <a:r>
              <a:t>When a detector stops reporting, the page names it, and the status reads Check: not confirmed safe.</a:t>
            </a:r>
          </a:p>
          <a:p>
            <a:r>
              <a:t>Alerts can be acknowledged and closed, with edit access. Be explicit: that is recorded in WakeCap only. It is not sent to the gas vendor, so an alert closed here stays open in the vendor&amp;#x27;s system.</a:t>
            </a:r>
          </a:p>
          <a:p>
            <a:r>
              <a:t>Compliance lists the limits. Exposure and exceedance figures say Not available yet, instead of an empty chart that reads as all clear.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project switches on only what it uses.</a:t>
            </a:r>
          </a:p>
          <a:p>
            <a:r>
              <a:t>In Settings, Connected Products has one Active or Inactive switch per product. The table is drawn from three real projects: Weather alone, Lightning alone, and Weather with Gas. The strip below is the live screen.</a:t>
            </a:r>
          </a:p>
          <a:p>
            <a:r>
              <a:t>The menu shows what is on.</a:t>
            </a:r>
          </a:p>
          <a:p>
            <a:r>
              <a:t>We did not switch anything on or off for this deck.</a:t>
            </a:r>
          </a:p>
          <a:p>
            <a:r>
              <a:t>If someone asks how to enable a product: Settings, Connected Products. It changes a real project, so do it with the project owner.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roads in, one platform behind them.</a:t>
            </a:r>
          </a:p>
          <a:p>
            <a:r>
              <a:t>Weather stations reach WakeCap over the site&amp;#x27;s wireless mesh, through a gateway, into the cloud, which decodes and stores the readings.</a:t>
            </a:r>
          </a:p>
          <a:p>
            <a:r>
              <a:t>Lightning is read through a small input module and shows on the mesh as a Modbus device. Modbus is an industrial wiring and data standard many sensors speak. Anything unreadable is set aside.</a:t>
            </a:r>
          </a:p>
          <a:p>
            <a:r>
              <a:t>Gas takes another road: the vendor&amp;#x27;s cloud. No mesh, no Modbus. WakeCap asks that cloud on a regular timer, and each detector reports on its own schedule, so each reading shows its age.</a:t>
            </a:r>
          </a:p>
          <a:p>
            <a:r>
              <a:t>Do not quote polling or reporting intervals. We have not verified numbers.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plain about the edges.</a:t>
            </a:r>
          </a:p>
          <a:p>
            <a:r>
              <a:t>Gas acknowledge and close are recorded in WakeCap only. Gas exposure and compliance figures say Not available yet, and some gas history is not stored yet. Trends is in the menu marked Planned.</a:t>
            </a:r>
          </a:p>
          <a:p>
            <a:r>
              <a:t>The AI assistant is direction only. Building blocks exist for Weather Station only. No assistant runs on any site.</a:t>
            </a:r>
          </a:p>
          <a:p>
            <a:r>
              <a:t>Direction: new environment products go under Connected Environment. A future assistant could read weather readings and propose changes. A person approves, and the weather safety answer comes from fixed rules. We promise no dates.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to watch: five short videos. Start with the overview. The setup tour shows how to enable and configure each product, read only on production.</a:t>
            </a:r>
          </a:p>
          <a:p>
            <a:r>
              <a:t>To try it: open your project in the portal, then click the sun-and-cloud icon in the left rail. That is Connected Environment, if your project has it.</a:t>
            </a:r>
          </a:p>
          <a:p>
            <a:r>
              <a:t>Read the top line first: the Weather verdict, the Lightning banner, the Gas status.</a:t>
            </a:r>
          </a:p>
          <a:p>
            <a:r>
              <a:t>Then take questions. The next slides are the appendix: setup flows, what we say and do not say, and a glossary.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the setup flow, in order.</a:t>
            </a:r>
          </a:p>
          <a:p>
            <a:r>
              <a:t>Choose what to feature: the gear on the Weather Station page opens Select parameters.</a:t>
            </a:r>
          </a:p>
          <a:p>
            <a:r>
              <a:t>Enable: Settings, Connected Products, one switch per product.</a:t>
            </a:r>
          </a:p>
          <a:p>
            <a:r>
              <a:t>Configure Weather Station: Settings, Weather Station, the Site Safety Policy.</a:t>
            </a:r>
          </a:p>
          <a:p>
            <a:r>
              <a:t>Configure Lightning: Settings, Lightning. Edit alerting radii and Set location.</a:t>
            </a:r>
          </a:p>
          <a:p>
            <a:r>
              <a:t>Gas has no settings page. Its limits are read only on the Compliance page.</a:t>
            </a:r>
          </a:p>
          <a:p>
            <a:r>
              <a:t>The setup tour video walks through all of it. Remind the audience that enabling a product and changing a policy both affect a real project.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Cheat sheet for questions.</a:t>
            </a:r>
          </a:p>
          <a:p>
            <a:r>
              <a:t>Say: it is live; Lightning is a backup; gas close is recorded in WakeCap only; the assistant is direction only; new products go under it, as direction.</a:t>
            </a:r>
          </a:p>
          <a:p>
            <a:r>
              <a:t>Do not say: that a site is safe; one rule set or one audit trail; a go-live date or expansion plan; that the assistant approves anything; that gas exposure or compliance figures exist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Glossary, for reference. Nothing here needs to be read 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0C0C"/>
        </a:solidFill>
        <a:effectLst/>
      </p:bgPr>
    </p:bg>
    <p:spTree>
      <p:nvGrpSpPr>
        <p:cNvPr id="1" name=""/>
        <p:cNvGrpSpPr/>
        <p:nvPr/>
      </p:nvGrpSpPr>
      <p:grpSpPr/>
      <p:sp>
        <p:nvSpPr>
          <p:cNvPr id="2" name="Title 1"/>
          <p:cNvSpPr>
            <a:spLocks noGrp="1"/>
          </p:cNvSpPr>
          <p:nvPr>
            <p:ph type="title"/>
          </p:nvPr>
        </p:nvSpPr>
        <p:spPr>
          <a:xfrm>
            <a:off x="762000" y="1981200"/>
            <a:ext cx="7505700" cy="1295400"/>
          </a:xfrm>
        </p:spPr>
        <p:txBody>
          <a:bodyPr wrap="square" lIns="0" rIns="0" tIns="0" bIns="0" anchor="t">
            <a:noAutofit/>
          </a:bodyPr>
          <a:lstStyle/>
          <a:p>
            <a:pPr algn="l">
              <a:lnSpc>
                <a:spcPts val="5100"/>
              </a:lnSpc>
              <a:spcBef>
                <a:spcPts val="0"/>
              </a:spcBef>
              <a:spcAft>
                <a:spcPts val="0"/>
              </a:spcAft>
            </a:pPr>
            <a:r>
              <a:rPr sz="4500" b="1" i="0">
                <a:solidFill>
                  <a:srgbClr val="FFFFFF"/>
                </a:solidFill>
                <a:latin typeface="Arial"/>
              </a:rPr>
              <a:t>Connected Environment</a:t>
            </a:r>
            <a:br/>
            <a:r>
              <a:rPr sz="4500" b="1" i="0">
                <a:solidFill>
                  <a:srgbClr val="FF8300"/>
                </a:solidFill>
                <a:latin typeface="Arial"/>
              </a:rPr>
              <a:t>1.0</a:t>
            </a:r>
          </a:p>
        </p:txBody>
      </p:sp>
      <p:sp>
        <p:nvSpPr>
          <p:cNvPr id="3" name="Rectangle 2"/>
          <p:cNvSpPr/>
          <p:nvPr/>
        </p:nvSpPr>
        <p:spPr>
          <a:xfrm>
            <a:off x="762000" y="1428750"/>
            <a:ext cx="609600" cy="57150"/>
          </a:xfrm>
          <a:prstGeom prst="rect">
            <a:avLst/>
          </a:prstGeom>
          <a:solidFill>
            <a:srgbClr val="FF8300"/>
          </a:solidFill>
          <a:ln>
            <a:noFill/>
          </a:ln>
        </p:spPr>
        <p:txBody>
          <a:bodyPr rtlCol="0" anchor="ctr"/>
          <a:lstStyle/>
          <a:p>
            <a:pPr algn="ctr"/>
          </a:p>
        </p:txBody>
      </p:sp>
      <p:sp>
        <p:nvSpPr>
          <p:cNvPr id="4" name="TextBox 3"/>
          <p:cNvSpPr txBox="1"/>
          <p:nvPr/>
        </p:nvSpPr>
        <p:spPr>
          <a:xfrm>
            <a:off x="762000" y="1657350"/>
            <a:ext cx="67437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FF8300"/>
                </a:solidFill>
                <a:latin typeface="Arial"/>
              </a:rPr>
              <a:t>RELEASE · OCTOBER 2026</a:t>
            </a:r>
          </a:p>
        </p:txBody>
      </p:sp>
      <p:sp>
        <p:nvSpPr>
          <p:cNvPr id="5" name="TextBox 4"/>
          <p:cNvSpPr txBox="1"/>
          <p:nvPr/>
        </p:nvSpPr>
        <p:spPr>
          <a:xfrm>
            <a:off x="762000" y="3543300"/>
            <a:ext cx="6743700" cy="342900"/>
          </a:xfrm>
          <a:prstGeom prst="rect">
            <a:avLst/>
          </a:prstGeom>
          <a:noFill/>
        </p:spPr>
        <p:txBody>
          <a:bodyPr wrap="square" lIns="0" rIns="0" tIns="0" bIns="0" anchor="t">
            <a:noAutofit/>
          </a:bodyPr>
          <a:lstStyle/>
          <a:p>
            <a:pPr algn="l">
              <a:lnSpc>
                <a:spcPts val="2700"/>
              </a:lnSpc>
              <a:spcBef>
                <a:spcPts val="0"/>
              </a:spcBef>
              <a:spcAft>
                <a:spcPts val="0"/>
              </a:spcAft>
            </a:pPr>
            <a:r>
              <a:rPr sz="1950" b="0" i="0">
                <a:solidFill>
                  <a:srgbClr val="D0D0D0"/>
                </a:solidFill>
                <a:latin typeface="Arial"/>
              </a:rPr>
              <a:t>The home for everything environmental on site.</a:t>
            </a:r>
          </a:p>
        </p:txBody>
      </p:sp>
      <p:sp>
        <p:nvSpPr>
          <p:cNvPr id="6" name="TextBox 5"/>
          <p:cNvSpPr txBox="1"/>
          <p:nvPr/>
        </p:nvSpPr>
        <p:spPr>
          <a:xfrm>
            <a:off x="762000" y="5810250"/>
            <a:ext cx="674370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9A9A9A"/>
                </a:solidFill>
                <a:latin typeface="Arial"/>
              </a:rPr>
              <a:t>WakeCap · Internal presentation</a:t>
            </a:r>
          </a:p>
        </p:txBody>
      </p:sp>
      <p:sp>
        <p:nvSpPr>
          <p:cNvPr id="7" name="Rounded Rectangle 6"/>
          <p:cNvSpPr/>
          <p:nvPr/>
        </p:nvSpPr>
        <p:spPr>
          <a:xfrm>
            <a:off x="8572500" y="1619250"/>
            <a:ext cx="2857500" cy="685800"/>
          </a:xfrm>
          <a:prstGeom prst="roundRect">
            <a:avLst>
              <a:gd name="adj" fmla="val 50000"/>
            </a:avLst>
          </a:prstGeom>
          <a:solidFill>
            <a:srgbClr val="D64545"/>
          </a:solidFill>
          <a:ln>
            <a:noFill/>
          </a:ln>
        </p:spPr>
        <p:txBody>
          <a:bodyPr rtlCol="0" anchor="ctr"/>
          <a:lstStyle/>
          <a:p>
            <a:pPr algn="ctr"/>
          </a:p>
        </p:txBody>
      </p:sp>
      <p:sp>
        <p:nvSpPr>
          <p:cNvPr id="8" name="TextBox 7"/>
          <p:cNvSpPr txBox="1"/>
          <p:nvPr/>
        </p:nvSpPr>
        <p:spPr>
          <a:xfrm>
            <a:off x="8534400" y="1619250"/>
            <a:ext cx="2933700" cy="685800"/>
          </a:xfrm>
          <a:prstGeom prst="rect">
            <a:avLst/>
          </a:prstGeom>
          <a:noFill/>
        </p:spPr>
        <p:txBody>
          <a:bodyPr wrap="none" lIns="0" rIns="0" tIns="0" bIns="0" anchor="t">
            <a:noAutofit/>
          </a:bodyPr>
          <a:lstStyle/>
          <a:p>
            <a:pPr algn="ctr">
              <a:lnSpc>
                <a:spcPts val="5400"/>
              </a:lnSpc>
              <a:spcBef>
                <a:spcPts val="0"/>
              </a:spcBef>
              <a:spcAft>
                <a:spcPts val="0"/>
              </a:spcAft>
            </a:pPr>
            <a:r>
              <a:rPr sz="2250" b="1" i="0">
                <a:solidFill>
                  <a:srgbClr val="FFFFFF"/>
                </a:solidFill>
                <a:latin typeface="Arial"/>
              </a:rPr>
              <a:t>Danger</a:t>
            </a:r>
          </a:p>
        </p:txBody>
      </p:sp>
      <p:sp>
        <p:nvSpPr>
          <p:cNvPr id="9" name="TextBox 8"/>
          <p:cNvSpPr txBox="1"/>
          <p:nvPr/>
        </p:nvSpPr>
        <p:spPr>
          <a:xfrm>
            <a:off x="8572500" y="2381250"/>
            <a:ext cx="2933700" cy="180975"/>
          </a:xfrm>
          <a:prstGeom prst="rect">
            <a:avLst/>
          </a:prstGeom>
          <a:noFill/>
        </p:spPr>
        <p:txBody>
          <a:bodyPr wrap="square" lIns="0" rIns="0" tIns="0" bIns="0" anchor="t">
            <a:noAutofit/>
          </a:bodyPr>
          <a:lstStyle/>
          <a:p>
            <a:pPr algn="l">
              <a:lnSpc>
                <a:spcPts val="1425"/>
              </a:lnSpc>
              <a:spcBef>
                <a:spcPts val="0"/>
              </a:spcBef>
              <a:spcAft>
                <a:spcPts val="0"/>
              </a:spcAft>
            </a:pPr>
            <a:r>
              <a:rPr sz="1125" b="0" i="0">
                <a:solidFill>
                  <a:srgbClr val="B8B8B8"/>
                </a:solidFill>
                <a:latin typeface="Arial"/>
              </a:rPr>
              <a:t>Weather Station</a:t>
            </a:r>
          </a:p>
        </p:txBody>
      </p:sp>
      <p:sp>
        <p:nvSpPr>
          <p:cNvPr id="10" name="Rounded Rectangle 9"/>
          <p:cNvSpPr/>
          <p:nvPr/>
        </p:nvSpPr>
        <p:spPr>
          <a:xfrm>
            <a:off x="8572500" y="3028950"/>
            <a:ext cx="2857500" cy="685800"/>
          </a:xfrm>
          <a:prstGeom prst="roundRect">
            <a:avLst>
              <a:gd name="adj" fmla="val 50000"/>
            </a:avLst>
          </a:prstGeom>
          <a:solidFill>
            <a:srgbClr val="1E9E5A"/>
          </a:solidFill>
          <a:ln>
            <a:noFill/>
          </a:ln>
        </p:spPr>
        <p:txBody>
          <a:bodyPr rtlCol="0" anchor="ctr"/>
          <a:lstStyle/>
          <a:p>
            <a:pPr algn="ctr"/>
          </a:p>
        </p:txBody>
      </p:sp>
      <p:sp>
        <p:nvSpPr>
          <p:cNvPr id="11" name="TextBox 10"/>
          <p:cNvSpPr txBox="1"/>
          <p:nvPr/>
        </p:nvSpPr>
        <p:spPr>
          <a:xfrm>
            <a:off x="8534400" y="3028950"/>
            <a:ext cx="2933700" cy="685800"/>
          </a:xfrm>
          <a:prstGeom prst="rect">
            <a:avLst/>
          </a:prstGeom>
          <a:noFill/>
        </p:spPr>
        <p:txBody>
          <a:bodyPr wrap="none" lIns="0" rIns="0" tIns="0" bIns="0" anchor="t">
            <a:noAutofit/>
          </a:bodyPr>
          <a:lstStyle/>
          <a:p>
            <a:pPr algn="ctr">
              <a:lnSpc>
                <a:spcPts val="5400"/>
              </a:lnSpc>
              <a:spcBef>
                <a:spcPts val="0"/>
              </a:spcBef>
              <a:spcAft>
                <a:spcPts val="0"/>
              </a:spcAft>
            </a:pPr>
            <a:r>
              <a:rPr sz="2250" b="1" i="0">
                <a:solidFill>
                  <a:srgbClr val="FFFFFF"/>
                </a:solidFill>
                <a:latin typeface="Arial"/>
              </a:rPr>
              <a:t>All Clear</a:t>
            </a:r>
          </a:p>
        </p:txBody>
      </p:sp>
      <p:sp>
        <p:nvSpPr>
          <p:cNvPr id="12" name="TextBox 11"/>
          <p:cNvSpPr txBox="1"/>
          <p:nvPr/>
        </p:nvSpPr>
        <p:spPr>
          <a:xfrm>
            <a:off x="8572500" y="3790950"/>
            <a:ext cx="2933700" cy="180975"/>
          </a:xfrm>
          <a:prstGeom prst="rect">
            <a:avLst/>
          </a:prstGeom>
          <a:noFill/>
        </p:spPr>
        <p:txBody>
          <a:bodyPr wrap="square" lIns="0" rIns="0" tIns="0" bIns="0" anchor="t">
            <a:noAutofit/>
          </a:bodyPr>
          <a:lstStyle/>
          <a:p>
            <a:pPr algn="l">
              <a:lnSpc>
                <a:spcPts val="1425"/>
              </a:lnSpc>
              <a:spcBef>
                <a:spcPts val="0"/>
              </a:spcBef>
              <a:spcAft>
                <a:spcPts val="0"/>
              </a:spcAft>
            </a:pPr>
            <a:r>
              <a:rPr sz="1125" b="0" i="0">
                <a:solidFill>
                  <a:srgbClr val="B8B8B8"/>
                </a:solidFill>
                <a:latin typeface="Arial"/>
              </a:rPr>
              <a:t>Lightning</a:t>
            </a:r>
          </a:p>
        </p:txBody>
      </p:sp>
      <p:sp>
        <p:nvSpPr>
          <p:cNvPr id="13" name="Rounded Rectangle 12"/>
          <p:cNvSpPr/>
          <p:nvPr/>
        </p:nvSpPr>
        <p:spPr>
          <a:xfrm>
            <a:off x="8572500" y="4438650"/>
            <a:ext cx="2857500" cy="685800"/>
          </a:xfrm>
          <a:prstGeom prst="roundRect">
            <a:avLst>
              <a:gd name="adj" fmla="val 50000"/>
            </a:avLst>
          </a:prstGeom>
          <a:solidFill>
            <a:srgbClr val="F2A33A"/>
          </a:solidFill>
          <a:ln>
            <a:noFill/>
          </a:ln>
        </p:spPr>
        <p:txBody>
          <a:bodyPr rtlCol="0" anchor="ctr"/>
          <a:lstStyle/>
          <a:p>
            <a:pPr algn="ctr"/>
          </a:p>
        </p:txBody>
      </p:sp>
      <p:sp>
        <p:nvSpPr>
          <p:cNvPr id="14" name="TextBox 13"/>
          <p:cNvSpPr txBox="1"/>
          <p:nvPr/>
        </p:nvSpPr>
        <p:spPr>
          <a:xfrm>
            <a:off x="8534400" y="4438650"/>
            <a:ext cx="2933700" cy="685800"/>
          </a:xfrm>
          <a:prstGeom prst="rect">
            <a:avLst/>
          </a:prstGeom>
          <a:noFill/>
        </p:spPr>
        <p:txBody>
          <a:bodyPr wrap="none" lIns="0" rIns="0" tIns="0" bIns="0" anchor="t">
            <a:noAutofit/>
          </a:bodyPr>
          <a:lstStyle/>
          <a:p>
            <a:pPr algn="ctr">
              <a:lnSpc>
                <a:spcPts val="5400"/>
              </a:lnSpc>
              <a:spcBef>
                <a:spcPts val="0"/>
              </a:spcBef>
              <a:spcAft>
                <a:spcPts val="0"/>
              </a:spcAft>
            </a:pPr>
            <a:r>
              <a:rPr sz="2250" b="1" i="0">
                <a:solidFill>
                  <a:srgbClr val="0C0C0C"/>
                </a:solidFill>
                <a:latin typeface="Arial"/>
              </a:rPr>
              <a:t>Check</a:t>
            </a:r>
          </a:p>
        </p:txBody>
      </p:sp>
      <p:sp>
        <p:nvSpPr>
          <p:cNvPr id="15" name="TextBox 14"/>
          <p:cNvSpPr txBox="1"/>
          <p:nvPr/>
        </p:nvSpPr>
        <p:spPr>
          <a:xfrm>
            <a:off x="8572500" y="5200650"/>
            <a:ext cx="2933700" cy="180975"/>
          </a:xfrm>
          <a:prstGeom prst="rect">
            <a:avLst/>
          </a:prstGeom>
          <a:noFill/>
        </p:spPr>
        <p:txBody>
          <a:bodyPr wrap="square" lIns="0" rIns="0" tIns="0" bIns="0" anchor="t">
            <a:noAutofit/>
          </a:bodyPr>
          <a:lstStyle/>
          <a:p>
            <a:pPr algn="l">
              <a:lnSpc>
                <a:spcPts val="1425"/>
              </a:lnSpc>
              <a:spcBef>
                <a:spcPts val="0"/>
              </a:spcBef>
              <a:spcAft>
                <a:spcPts val="0"/>
              </a:spcAft>
            </a:pPr>
            <a:r>
              <a:rPr sz="1125" b="0" i="0">
                <a:solidFill>
                  <a:srgbClr val="B8B8B8"/>
                </a:solidFill>
                <a:latin typeface="Arial"/>
              </a:rPr>
              <a:t>Gas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itle 1"/>
          <p:cNvSpPr>
            <a:spLocks noGrp="1"/>
          </p:cNvSpPr>
          <p:nvPr>
            <p:ph type="title"/>
          </p:nvPr>
        </p:nvSpPr>
        <p:spPr>
          <a:xfrm>
            <a:off x="609600" y="876300"/>
            <a:ext cx="11049000" cy="419100"/>
          </a:xfrm>
        </p:spPr>
        <p:txBody>
          <a:bodyPr wrap="square" lIns="0" rIns="0" tIns="0" bIns="0" anchor="t">
            <a:noAutofit/>
          </a:bodyPr>
          <a:lstStyle/>
          <a:p>
            <a:pPr algn="l">
              <a:lnSpc>
                <a:spcPts val="3300"/>
              </a:lnSpc>
              <a:spcBef>
                <a:spcPts val="0"/>
              </a:spcBef>
              <a:spcAft>
                <a:spcPts val="0"/>
              </a:spcAft>
            </a:pPr>
            <a:r>
              <a:rPr sz="2850" b="1" i="0">
                <a:solidFill>
                  <a:srgbClr val="0C0C0C"/>
                </a:solidFill>
                <a:latin typeface="Arial"/>
              </a:rPr>
              <a:t>Is it safe to work right now?</a:t>
            </a:r>
          </a:p>
        </p:txBody>
      </p:sp>
      <p:sp>
        <p:nvSpPr>
          <p:cNvPr id="3" name="Rectangle 2"/>
          <p:cNvSpPr/>
          <p:nvPr/>
        </p:nvSpPr>
        <p:spPr>
          <a:xfrm>
            <a:off x="609600" y="495300"/>
            <a:ext cx="381000" cy="47625"/>
          </a:xfrm>
          <a:prstGeom prst="rect">
            <a:avLst/>
          </a:prstGeom>
          <a:solidFill>
            <a:srgbClr val="FF8300"/>
          </a:solidFill>
          <a:ln>
            <a:noFill/>
          </a:ln>
        </p:spPr>
        <p:txBody>
          <a:bodyPr rtlCol="0" anchor="ctr"/>
          <a:lstStyle/>
          <a:p>
            <a:pPr algn="ctr"/>
          </a:p>
        </p:txBody>
      </p:sp>
      <p:sp>
        <p:nvSpPr>
          <p:cNvPr id="4" name="TextBox 3"/>
          <p:cNvSpPr txBox="1"/>
          <p:nvPr/>
        </p:nvSpPr>
        <p:spPr>
          <a:xfrm>
            <a:off x="609600" y="647700"/>
            <a:ext cx="96012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WHY ONE PLACE</a:t>
            </a:r>
          </a:p>
        </p:txBody>
      </p:sp>
      <p:sp>
        <p:nvSpPr>
          <p:cNvPr id="5" name="TextBox 4"/>
          <p:cNvSpPr txBox="1"/>
          <p:nvPr/>
        </p:nvSpPr>
        <p:spPr>
          <a:xfrm>
            <a:off x="609600" y="1352550"/>
            <a:ext cx="10553700" cy="266700"/>
          </a:xfrm>
          <a:prstGeom prst="rect">
            <a:avLst/>
          </a:prstGeom>
          <a:noFill/>
        </p:spPr>
        <p:txBody>
          <a:bodyPr wrap="square" lIns="0" rIns="0" tIns="0" bIns="0" anchor="t">
            <a:noAutofit/>
          </a:bodyPr>
          <a:lstStyle/>
          <a:p>
            <a:pPr algn="l">
              <a:lnSpc>
                <a:spcPts val="2100"/>
              </a:lnSpc>
              <a:spcBef>
                <a:spcPts val="0"/>
              </a:spcBef>
              <a:spcAft>
                <a:spcPts val="0"/>
              </a:spcAft>
            </a:pPr>
            <a:r>
              <a:rPr sz="1500" b="0" i="0">
                <a:solidFill>
                  <a:srgbClr val="6B6B6B"/>
                </a:solidFill>
                <a:latin typeface="Arial"/>
              </a:rPr>
              <a:t>Heat says one thing. Lightning says another. Gas says a third.</a:t>
            </a:r>
          </a:p>
        </p:txBody>
      </p:sp>
      <p:sp>
        <p:nvSpPr>
          <p:cNvPr id="6" name="Rounded Rectangle 5"/>
          <p:cNvSpPr/>
          <p:nvPr/>
        </p:nvSpPr>
        <p:spPr>
          <a:xfrm>
            <a:off x="614362" y="1909762"/>
            <a:ext cx="3343275" cy="3019425"/>
          </a:xfrm>
          <a:prstGeom prst="roundRect">
            <a:avLst>
              <a:gd name="adj" fmla="val 3627"/>
            </a:avLst>
          </a:prstGeom>
          <a:solidFill>
            <a:srgbClr val="FFFFFF"/>
          </a:solidFill>
          <a:ln w="9525">
            <a:solidFill>
              <a:srgbClr val="DCDCD7"/>
            </a:solidFill>
          </a:ln>
        </p:spPr>
        <p:txBody>
          <a:bodyPr rtlCol="0" anchor="ctr"/>
          <a:lstStyle/>
          <a:p>
            <a:pPr algn="ctr"/>
          </a:p>
        </p:txBody>
      </p:sp>
      <p:sp>
        <p:nvSpPr>
          <p:cNvPr id="7" name="Rounded Rectangle 6"/>
          <p:cNvSpPr/>
          <p:nvPr/>
        </p:nvSpPr>
        <p:spPr>
          <a:xfrm>
            <a:off x="800100" y="2076450"/>
            <a:ext cx="1066800" cy="323850"/>
          </a:xfrm>
          <a:prstGeom prst="roundRect">
            <a:avLst>
              <a:gd name="adj" fmla="val 50000"/>
            </a:avLst>
          </a:prstGeom>
          <a:solidFill>
            <a:srgbClr val="D64545"/>
          </a:solidFill>
          <a:ln>
            <a:noFill/>
          </a:ln>
        </p:spPr>
        <p:txBody>
          <a:bodyPr rtlCol="0" anchor="ctr"/>
          <a:lstStyle/>
          <a:p>
            <a:pPr algn="ctr"/>
          </a:p>
        </p:txBody>
      </p:sp>
      <p:sp>
        <p:nvSpPr>
          <p:cNvPr id="8" name="TextBox 7"/>
          <p:cNvSpPr txBox="1"/>
          <p:nvPr/>
        </p:nvSpPr>
        <p:spPr>
          <a:xfrm>
            <a:off x="762000" y="2076450"/>
            <a:ext cx="1143000" cy="323850"/>
          </a:xfrm>
          <a:prstGeom prst="rect">
            <a:avLst/>
          </a:prstGeom>
          <a:noFill/>
        </p:spPr>
        <p:txBody>
          <a:bodyPr wrap="none" lIns="0" rIns="0" tIns="0" bIns="0" anchor="t">
            <a:noAutofit/>
          </a:bodyPr>
          <a:lstStyle/>
          <a:p>
            <a:pPr algn="ctr">
              <a:lnSpc>
                <a:spcPts val="2550"/>
              </a:lnSpc>
              <a:spcBef>
                <a:spcPts val="0"/>
              </a:spcBef>
              <a:spcAft>
                <a:spcPts val="0"/>
              </a:spcAft>
            </a:pPr>
            <a:r>
              <a:rPr sz="1125" b="1" i="0">
                <a:solidFill>
                  <a:srgbClr val="FFFFFF"/>
                </a:solidFill>
                <a:latin typeface="Arial"/>
              </a:rPr>
              <a:t>Danger</a:t>
            </a:r>
          </a:p>
        </p:txBody>
      </p:sp>
      <p:sp>
        <p:nvSpPr>
          <p:cNvPr id="9" name="TextBox 8"/>
          <p:cNvSpPr txBox="1"/>
          <p:nvPr/>
        </p:nvSpPr>
        <p:spPr>
          <a:xfrm>
            <a:off x="2000250" y="2143125"/>
            <a:ext cx="1885950" cy="180975"/>
          </a:xfrm>
          <a:prstGeom prst="rect">
            <a:avLst/>
          </a:prstGeom>
          <a:noFill/>
        </p:spPr>
        <p:txBody>
          <a:bodyPr wrap="square" lIns="0" rIns="0" tIns="0" bIns="0" anchor="t">
            <a:noAutofit/>
          </a:bodyPr>
          <a:lstStyle/>
          <a:p>
            <a:pPr algn="l">
              <a:lnSpc>
                <a:spcPts val="1425"/>
              </a:lnSpc>
              <a:spcBef>
                <a:spcPts val="0"/>
              </a:spcBef>
              <a:spcAft>
                <a:spcPts val="0"/>
              </a:spcAft>
            </a:pPr>
            <a:r>
              <a:rPr sz="1125" b="0" i="0">
                <a:solidFill>
                  <a:srgbClr val="6B6B6B"/>
                </a:solidFill>
                <a:latin typeface="Arial"/>
              </a:rPr>
              <a:t>Weather Station</a:t>
            </a:r>
          </a:p>
        </p:txBody>
      </p:sp>
      <p:pic>
        <p:nvPicPr>
          <p:cNvPr id="10" name="Picture 9" descr="tile-weather.png"/>
          <p:cNvPicPr>
            <a:picLocks noChangeAspect="1"/>
          </p:cNvPicPr>
          <p:nvPr/>
        </p:nvPicPr>
        <p:blipFill>
          <a:blip r:embed="rId2"/>
          <a:stretch>
            <a:fillRect/>
          </a:stretch>
        </p:blipFill>
        <p:spPr>
          <a:xfrm>
            <a:off x="771525" y="2657475"/>
            <a:ext cx="3028950" cy="1504950"/>
          </a:xfrm>
          <a:prstGeom prst="rect">
            <a:avLst/>
          </a:prstGeom>
        </p:spPr>
      </p:pic>
      <p:sp>
        <p:nvSpPr>
          <p:cNvPr id="11" name="Rectangle 10"/>
          <p:cNvSpPr/>
          <p:nvPr/>
        </p:nvSpPr>
        <p:spPr>
          <a:xfrm>
            <a:off x="766762" y="2652712"/>
            <a:ext cx="3038475" cy="1514475"/>
          </a:xfrm>
          <a:prstGeom prst="rect">
            <a:avLst/>
          </a:prstGeom>
          <a:noFill/>
          <a:ln w="9525">
            <a:solidFill>
              <a:srgbClr val="E6E6E1"/>
            </a:solidFill>
          </a:ln>
        </p:spPr>
        <p:txBody>
          <a:bodyPr rtlCol="0" anchor="ctr"/>
          <a:lstStyle/>
          <a:p>
            <a:pPr algn="ctr"/>
          </a:p>
        </p:txBody>
      </p:sp>
      <p:sp>
        <p:nvSpPr>
          <p:cNvPr id="12" name="TextBox 11"/>
          <p:cNvSpPr txBox="1"/>
          <p:nvPr/>
        </p:nvSpPr>
        <p:spPr>
          <a:xfrm>
            <a:off x="800100" y="4400550"/>
            <a:ext cx="3048000" cy="219075"/>
          </a:xfrm>
          <a:prstGeom prst="rect">
            <a:avLst/>
          </a:prstGeom>
          <a:noFill/>
        </p:spPr>
        <p:txBody>
          <a:bodyPr wrap="square" lIns="0" rIns="0" tIns="0" bIns="0" anchor="t">
            <a:noAutofit/>
          </a:bodyPr>
          <a:lstStyle/>
          <a:p>
            <a:pPr algn="l">
              <a:lnSpc>
                <a:spcPts val="1725"/>
              </a:lnSpc>
              <a:spcBef>
                <a:spcPts val="0"/>
              </a:spcBef>
              <a:spcAft>
                <a:spcPts val="0"/>
              </a:spcAft>
            </a:pPr>
            <a:r>
              <a:rPr sz="1200" b="0" i="0">
                <a:solidFill>
                  <a:srgbClr val="2B2B2B"/>
                </a:solidFill>
                <a:latin typeface="Arial"/>
              </a:rPr>
              <a:t>Danger, in words, with the steps to take.</a:t>
            </a:r>
          </a:p>
        </p:txBody>
      </p:sp>
      <p:sp>
        <p:nvSpPr>
          <p:cNvPr id="13" name="Rounded Rectangle 12"/>
          <p:cNvSpPr/>
          <p:nvPr/>
        </p:nvSpPr>
        <p:spPr>
          <a:xfrm>
            <a:off x="4424362" y="1909762"/>
            <a:ext cx="3343275" cy="3019425"/>
          </a:xfrm>
          <a:prstGeom prst="roundRect">
            <a:avLst>
              <a:gd name="adj" fmla="val 3627"/>
            </a:avLst>
          </a:prstGeom>
          <a:solidFill>
            <a:srgbClr val="FFFFFF"/>
          </a:solidFill>
          <a:ln w="9525">
            <a:solidFill>
              <a:srgbClr val="DCDCD7"/>
            </a:solidFill>
          </a:ln>
        </p:spPr>
        <p:txBody>
          <a:bodyPr rtlCol="0" anchor="ctr"/>
          <a:lstStyle/>
          <a:p>
            <a:pPr algn="ctr"/>
          </a:p>
        </p:txBody>
      </p:sp>
      <p:sp>
        <p:nvSpPr>
          <p:cNvPr id="14" name="Rounded Rectangle 13"/>
          <p:cNvSpPr/>
          <p:nvPr/>
        </p:nvSpPr>
        <p:spPr>
          <a:xfrm>
            <a:off x="4610100" y="2076450"/>
            <a:ext cx="1066800" cy="323850"/>
          </a:xfrm>
          <a:prstGeom prst="roundRect">
            <a:avLst>
              <a:gd name="adj" fmla="val 50000"/>
            </a:avLst>
          </a:prstGeom>
          <a:solidFill>
            <a:srgbClr val="1E9E5A"/>
          </a:solidFill>
          <a:ln>
            <a:noFill/>
          </a:ln>
        </p:spPr>
        <p:txBody>
          <a:bodyPr rtlCol="0" anchor="ctr"/>
          <a:lstStyle/>
          <a:p>
            <a:pPr algn="ctr"/>
          </a:p>
        </p:txBody>
      </p:sp>
      <p:sp>
        <p:nvSpPr>
          <p:cNvPr id="15" name="TextBox 14"/>
          <p:cNvSpPr txBox="1"/>
          <p:nvPr/>
        </p:nvSpPr>
        <p:spPr>
          <a:xfrm>
            <a:off x="4572000" y="2076450"/>
            <a:ext cx="1143000" cy="323850"/>
          </a:xfrm>
          <a:prstGeom prst="rect">
            <a:avLst/>
          </a:prstGeom>
          <a:noFill/>
        </p:spPr>
        <p:txBody>
          <a:bodyPr wrap="none" lIns="0" rIns="0" tIns="0" bIns="0" anchor="t">
            <a:noAutofit/>
          </a:bodyPr>
          <a:lstStyle/>
          <a:p>
            <a:pPr algn="ctr">
              <a:lnSpc>
                <a:spcPts val="2550"/>
              </a:lnSpc>
              <a:spcBef>
                <a:spcPts val="0"/>
              </a:spcBef>
              <a:spcAft>
                <a:spcPts val="0"/>
              </a:spcAft>
            </a:pPr>
            <a:r>
              <a:rPr sz="1125" b="1" i="0">
                <a:solidFill>
                  <a:srgbClr val="FFFFFF"/>
                </a:solidFill>
                <a:latin typeface="Arial"/>
              </a:rPr>
              <a:t>All Clear</a:t>
            </a:r>
          </a:p>
        </p:txBody>
      </p:sp>
      <p:sp>
        <p:nvSpPr>
          <p:cNvPr id="16" name="TextBox 15"/>
          <p:cNvSpPr txBox="1"/>
          <p:nvPr/>
        </p:nvSpPr>
        <p:spPr>
          <a:xfrm>
            <a:off x="5810250" y="2143125"/>
            <a:ext cx="1885950" cy="180975"/>
          </a:xfrm>
          <a:prstGeom prst="rect">
            <a:avLst/>
          </a:prstGeom>
          <a:noFill/>
        </p:spPr>
        <p:txBody>
          <a:bodyPr wrap="square" lIns="0" rIns="0" tIns="0" bIns="0" anchor="t">
            <a:noAutofit/>
          </a:bodyPr>
          <a:lstStyle/>
          <a:p>
            <a:pPr algn="l">
              <a:lnSpc>
                <a:spcPts val="1425"/>
              </a:lnSpc>
              <a:spcBef>
                <a:spcPts val="0"/>
              </a:spcBef>
              <a:spcAft>
                <a:spcPts val="0"/>
              </a:spcAft>
            </a:pPr>
            <a:r>
              <a:rPr sz="1125" b="0" i="0">
                <a:solidFill>
                  <a:srgbClr val="6B6B6B"/>
                </a:solidFill>
                <a:latin typeface="Arial"/>
              </a:rPr>
              <a:t>Lightning</a:t>
            </a:r>
          </a:p>
        </p:txBody>
      </p:sp>
      <p:pic>
        <p:nvPicPr>
          <p:cNvPr id="17" name="Picture 16" descr="tile-lightning.png"/>
          <p:cNvPicPr>
            <a:picLocks noChangeAspect="1"/>
          </p:cNvPicPr>
          <p:nvPr/>
        </p:nvPicPr>
        <p:blipFill>
          <a:blip r:embed="rId3"/>
          <a:stretch>
            <a:fillRect/>
          </a:stretch>
        </p:blipFill>
        <p:spPr>
          <a:xfrm>
            <a:off x="4581525" y="2657475"/>
            <a:ext cx="3028950" cy="1504950"/>
          </a:xfrm>
          <a:prstGeom prst="rect">
            <a:avLst/>
          </a:prstGeom>
        </p:spPr>
      </p:pic>
      <p:sp>
        <p:nvSpPr>
          <p:cNvPr id="18" name="Rectangle 17"/>
          <p:cNvSpPr/>
          <p:nvPr/>
        </p:nvSpPr>
        <p:spPr>
          <a:xfrm>
            <a:off x="4576762" y="2652712"/>
            <a:ext cx="3038475" cy="1514475"/>
          </a:xfrm>
          <a:prstGeom prst="rect">
            <a:avLst/>
          </a:prstGeom>
          <a:noFill/>
          <a:ln w="9525">
            <a:solidFill>
              <a:srgbClr val="E6E6E1"/>
            </a:solidFill>
          </a:ln>
        </p:spPr>
        <p:txBody>
          <a:bodyPr rtlCol="0" anchor="ctr"/>
          <a:lstStyle/>
          <a:p>
            <a:pPr algn="ctr"/>
          </a:p>
        </p:txBody>
      </p:sp>
      <p:sp>
        <p:nvSpPr>
          <p:cNvPr id="19" name="TextBox 18"/>
          <p:cNvSpPr txBox="1"/>
          <p:nvPr/>
        </p:nvSpPr>
        <p:spPr>
          <a:xfrm>
            <a:off x="4610100" y="4400550"/>
            <a:ext cx="3048000" cy="438150"/>
          </a:xfrm>
          <a:prstGeom prst="rect">
            <a:avLst/>
          </a:prstGeom>
          <a:noFill/>
        </p:spPr>
        <p:txBody>
          <a:bodyPr wrap="square" lIns="0" rIns="0" tIns="0" bIns="0" anchor="t">
            <a:noAutofit/>
          </a:bodyPr>
          <a:lstStyle/>
          <a:p>
            <a:pPr algn="l">
              <a:lnSpc>
                <a:spcPts val="1725"/>
              </a:lnSpc>
              <a:spcBef>
                <a:spcPts val="0"/>
              </a:spcBef>
              <a:spcAft>
                <a:spcPts val="0"/>
              </a:spcAft>
            </a:pPr>
            <a:r>
              <a:rPr sz="1200" b="0" i="0">
                <a:solidFill>
                  <a:srgbClr val="2B2B2B"/>
                </a:solidFill>
                <a:latin typeface="Arial"/>
              </a:rPr>
              <a:t>All Clear. Only green counts as safe to work.</a:t>
            </a:r>
          </a:p>
        </p:txBody>
      </p:sp>
      <p:sp>
        <p:nvSpPr>
          <p:cNvPr id="20" name="Rounded Rectangle 19"/>
          <p:cNvSpPr/>
          <p:nvPr/>
        </p:nvSpPr>
        <p:spPr>
          <a:xfrm>
            <a:off x="8234362" y="1909762"/>
            <a:ext cx="3343275" cy="3019425"/>
          </a:xfrm>
          <a:prstGeom prst="roundRect">
            <a:avLst>
              <a:gd name="adj" fmla="val 3627"/>
            </a:avLst>
          </a:prstGeom>
          <a:solidFill>
            <a:srgbClr val="FFFFFF"/>
          </a:solidFill>
          <a:ln w="9525">
            <a:solidFill>
              <a:srgbClr val="DCDCD7"/>
            </a:solidFill>
          </a:ln>
        </p:spPr>
        <p:txBody>
          <a:bodyPr rtlCol="0" anchor="ctr"/>
          <a:lstStyle/>
          <a:p>
            <a:pPr algn="ctr"/>
          </a:p>
        </p:txBody>
      </p:sp>
      <p:sp>
        <p:nvSpPr>
          <p:cNvPr id="21" name="Rounded Rectangle 20"/>
          <p:cNvSpPr/>
          <p:nvPr/>
        </p:nvSpPr>
        <p:spPr>
          <a:xfrm>
            <a:off x="8420100" y="2076450"/>
            <a:ext cx="1066800" cy="323850"/>
          </a:xfrm>
          <a:prstGeom prst="roundRect">
            <a:avLst>
              <a:gd name="adj" fmla="val 50000"/>
            </a:avLst>
          </a:prstGeom>
          <a:solidFill>
            <a:srgbClr val="F2A33A"/>
          </a:solidFill>
          <a:ln>
            <a:noFill/>
          </a:ln>
        </p:spPr>
        <p:txBody>
          <a:bodyPr rtlCol="0" anchor="ctr"/>
          <a:lstStyle/>
          <a:p>
            <a:pPr algn="ctr"/>
          </a:p>
        </p:txBody>
      </p:sp>
      <p:sp>
        <p:nvSpPr>
          <p:cNvPr id="22" name="TextBox 21"/>
          <p:cNvSpPr txBox="1"/>
          <p:nvPr/>
        </p:nvSpPr>
        <p:spPr>
          <a:xfrm>
            <a:off x="8382000" y="2076450"/>
            <a:ext cx="1143000" cy="323850"/>
          </a:xfrm>
          <a:prstGeom prst="rect">
            <a:avLst/>
          </a:prstGeom>
          <a:noFill/>
        </p:spPr>
        <p:txBody>
          <a:bodyPr wrap="none" lIns="0" rIns="0" tIns="0" bIns="0" anchor="t">
            <a:noAutofit/>
          </a:bodyPr>
          <a:lstStyle/>
          <a:p>
            <a:pPr algn="ctr">
              <a:lnSpc>
                <a:spcPts val="2550"/>
              </a:lnSpc>
              <a:spcBef>
                <a:spcPts val="0"/>
              </a:spcBef>
              <a:spcAft>
                <a:spcPts val="0"/>
              </a:spcAft>
            </a:pPr>
            <a:r>
              <a:rPr sz="1125" b="1" i="0">
                <a:solidFill>
                  <a:srgbClr val="0C0C0C"/>
                </a:solidFill>
                <a:latin typeface="Arial"/>
              </a:rPr>
              <a:t>Check</a:t>
            </a:r>
          </a:p>
        </p:txBody>
      </p:sp>
      <p:sp>
        <p:nvSpPr>
          <p:cNvPr id="23" name="TextBox 22"/>
          <p:cNvSpPr txBox="1"/>
          <p:nvPr/>
        </p:nvSpPr>
        <p:spPr>
          <a:xfrm>
            <a:off x="9620250" y="2143125"/>
            <a:ext cx="1885950" cy="180975"/>
          </a:xfrm>
          <a:prstGeom prst="rect">
            <a:avLst/>
          </a:prstGeom>
          <a:noFill/>
        </p:spPr>
        <p:txBody>
          <a:bodyPr wrap="square" lIns="0" rIns="0" tIns="0" bIns="0" anchor="t">
            <a:noAutofit/>
          </a:bodyPr>
          <a:lstStyle/>
          <a:p>
            <a:pPr algn="l">
              <a:lnSpc>
                <a:spcPts val="1425"/>
              </a:lnSpc>
              <a:spcBef>
                <a:spcPts val="0"/>
              </a:spcBef>
              <a:spcAft>
                <a:spcPts val="0"/>
              </a:spcAft>
            </a:pPr>
            <a:r>
              <a:rPr sz="1125" b="0" i="0">
                <a:solidFill>
                  <a:srgbClr val="6B6B6B"/>
                </a:solidFill>
                <a:latin typeface="Arial"/>
              </a:rPr>
              <a:t>Gas</a:t>
            </a:r>
          </a:p>
        </p:txBody>
      </p:sp>
      <p:pic>
        <p:nvPicPr>
          <p:cNvPr id="24" name="Picture 23" descr="tile-gas.png"/>
          <p:cNvPicPr>
            <a:picLocks noChangeAspect="1"/>
          </p:cNvPicPr>
          <p:nvPr/>
        </p:nvPicPr>
        <p:blipFill>
          <a:blip r:embed="rId4"/>
          <a:stretch>
            <a:fillRect/>
          </a:stretch>
        </p:blipFill>
        <p:spPr>
          <a:xfrm>
            <a:off x="8391525" y="2828925"/>
            <a:ext cx="3028950" cy="1152525"/>
          </a:xfrm>
          <a:prstGeom prst="rect">
            <a:avLst/>
          </a:prstGeom>
        </p:spPr>
      </p:pic>
      <p:sp>
        <p:nvSpPr>
          <p:cNvPr id="25" name="Rectangle 24"/>
          <p:cNvSpPr/>
          <p:nvPr/>
        </p:nvSpPr>
        <p:spPr>
          <a:xfrm>
            <a:off x="8386762" y="2824162"/>
            <a:ext cx="3038475" cy="1162050"/>
          </a:xfrm>
          <a:prstGeom prst="rect">
            <a:avLst/>
          </a:prstGeom>
          <a:noFill/>
          <a:ln w="9525">
            <a:solidFill>
              <a:srgbClr val="E6E6E1"/>
            </a:solidFill>
          </a:ln>
        </p:spPr>
        <p:txBody>
          <a:bodyPr rtlCol="0" anchor="ctr"/>
          <a:lstStyle/>
          <a:p>
            <a:pPr algn="ctr"/>
          </a:p>
        </p:txBody>
      </p:sp>
      <p:sp>
        <p:nvSpPr>
          <p:cNvPr id="26" name="TextBox 25"/>
          <p:cNvSpPr txBox="1"/>
          <p:nvPr/>
        </p:nvSpPr>
        <p:spPr>
          <a:xfrm>
            <a:off x="8420100" y="4400550"/>
            <a:ext cx="3048000" cy="438150"/>
          </a:xfrm>
          <a:prstGeom prst="rect">
            <a:avLst/>
          </a:prstGeom>
          <a:noFill/>
        </p:spPr>
        <p:txBody>
          <a:bodyPr wrap="square" lIns="0" rIns="0" tIns="0" bIns="0" anchor="t">
            <a:noAutofit/>
          </a:bodyPr>
          <a:lstStyle/>
          <a:p>
            <a:pPr algn="l">
              <a:lnSpc>
                <a:spcPts val="1725"/>
              </a:lnSpc>
              <a:spcBef>
                <a:spcPts val="0"/>
              </a:spcBef>
              <a:spcAft>
                <a:spcPts val="0"/>
              </a:spcAft>
            </a:pPr>
            <a:r>
              <a:rPr sz="1200" b="0" i="0">
                <a:solidFill>
                  <a:srgbClr val="2B2B2B"/>
                </a:solidFill>
                <a:latin typeface="Arial"/>
              </a:rPr>
              <a:t>Check. Not confirmed safe: one detector is not reporting.</a:t>
            </a:r>
          </a:p>
        </p:txBody>
      </p:sp>
      <p:sp>
        <p:nvSpPr>
          <p:cNvPr id="27" name="Rounded Rectangle 26"/>
          <p:cNvSpPr/>
          <p:nvPr/>
        </p:nvSpPr>
        <p:spPr>
          <a:xfrm>
            <a:off x="609600" y="5200650"/>
            <a:ext cx="10972800" cy="723900"/>
          </a:xfrm>
          <a:prstGeom prst="roundRect">
            <a:avLst>
              <a:gd name="adj" fmla="val 15789"/>
            </a:avLst>
          </a:prstGeom>
          <a:solidFill>
            <a:srgbClr val="0C0C0C"/>
          </a:solidFill>
          <a:ln>
            <a:noFill/>
          </a:ln>
        </p:spPr>
        <p:txBody>
          <a:bodyPr rtlCol="0" anchor="ctr"/>
          <a:lstStyle/>
          <a:p>
            <a:pPr algn="ctr"/>
          </a:p>
        </p:txBody>
      </p:sp>
      <p:sp>
        <p:nvSpPr>
          <p:cNvPr id="28" name="TextBox 27"/>
          <p:cNvSpPr txBox="1"/>
          <p:nvPr/>
        </p:nvSpPr>
        <p:spPr>
          <a:xfrm>
            <a:off x="914400" y="5362575"/>
            <a:ext cx="10458450" cy="400050"/>
          </a:xfrm>
          <a:prstGeom prst="rect">
            <a:avLst/>
          </a:prstGeom>
          <a:noFill/>
        </p:spPr>
        <p:txBody>
          <a:bodyPr wrap="square" lIns="0" rIns="0" tIns="0" bIns="0" anchor="t">
            <a:noAutofit/>
          </a:bodyPr>
          <a:lstStyle/>
          <a:p>
            <a:pPr algn="l">
              <a:lnSpc>
                <a:spcPts val="3150"/>
              </a:lnSpc>
              <a:spcBef>
                <a:spcPts val="0"/>
              </a:spcBef>
              <a:spcAft>
                <a:spcPts val="0"/>
              </a:spcAft>
            </a:pPr>
            <a:r>
              <a:rPr sz="1800" b="1" i="0">
                <a:solidFill>
                  <a:srgbClr val="FFFFFF"/>
                </a:solidFill>
                <a:latin typeface="Arial"/>
              </a:rPr>
              <a:t>Connected Environment puts them under one roof: </a:t>
            </a:r>
            <a:r>
              <a:rPr sz="1800" b="1" i="0">
                <a:solidFill>
                  <a:srgbClr val="B85C00"/>
                </a:solidFill>
                <a:latin typeface="Arial"/>
              </a:rPr>
              <a:t>one place to look.</a:t>
            </a:r>
          </a:p>
        </p:txBody>
      </p:sp>
      <p:sp>
        <p:nvSpPr>
          <p:cNvPr id="29" name="TextBox 28"/>
          <p:cNvSpPr txBox="1"/>
          <p:nvPr/>
        </p:nvSpPr>
        <p:spPr>
          <a:xfrm>
            <a:off x="609600" y="6057900"/>
            <a:ext cx="1104900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Three projects, three screens, one portal. Live production screens, 4 October 2026. Names blurred.</a:t>
            </a:r>
          </a:p>
        </p:txBody>
      </p:sp>
      <p:sp>
        <p:nvSpPr>
          <p:cNvPr id="30" name="TextBox 29"/>
          <p:cNvSpPr txBox="1"/>
          <p:nvPr/>
        </p:nvSpPr>
        <p:spPr>
          <a:xfrm>
            <a:off x="609600" y="6496050"/>
            <a:ext cx="5791200" cy="152400"/>
          </a:xfrm>
          <a:prstGeom prst="rect">
            <a:avLst/>
          </a:prstGeom>
          <a:noFill/>
        </p:spPr>
        <p:txBody>
          <a:bodyPr wrap="square" lIns="0" rIns="0" tIns="0" bIns="0" anchor="t">
            <a:noAutofit/>
          </a:bodyPr>
          <a:lstStyle/>
          <a:p>
            <a:pPr algn="l">
              <a:lnSpc>
                <a:spcPts val="1200"/>
              </a:lnSpc>
              <a:spcBef>
                <a:spcPts val="0"/>
              </a:spcBef>
              <a:spcAft>
                <a:spcPts val="0"/>
              </a:spcAft>
            </a:pPr>
            <a:r>
              <a:rPr sz="900" b="0" i="0">
                <a:solidFill>
                  <a:srgbClr val="6B6B6B"/>
                </a:solidFill>
                <a:latin typeface="Arial"/>
              </a:rPr>
              <a:t>Connected Environment 1.0 · Internal</a:t>
            </a:r>
          </a:p>
        </p:txBody>
      </p:sp>
      <p:sp>
        <p:nvSpPr>
          <p:cNvPr id="31" name="TextBox 30"/>
          <p:cNvSpPr txBox="1"/>
          <p:nvPr/>
        </p:nvSpPr>
        <p:spPr>
          <a:xfrm>
            <a:off x="10553700" y="6496050"/>
            <a:ext cx="1028700" cy="152400"/>
          </a:xfrm>
          <a:prstGeom prst="rect">
            <a:avLst/>
          </a:prstGeom>
          <a:noFill/>
        </p:spPr>
        <p:txBody>
          <a:bodyPr wrap="square" lIns="0" rIns="0" tIns="0" bIns="0" anchor="t">
            <a:noAutofit/>
          </a:bodyPr>
          <a:lstStyle/>
          <a:p>
            <a:pPr algn="r">
              <a:lnSpc>
                <a:spcPts val="1200"/>
              </a:lnSpc>
              <a:spcBef>
                <a:spcPts val="0"/>
              </a:spcBef>
              <a:spcAft>
                <a:spcPts val="0"/>
              </a:spcAft>
            </a:pPr>
            <a:r>
              <a:rPr sz="900" b="0" i="0">
                <a:solidFill>
                  <a:srgbClr val="6B6B6B"/>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itle 1"/>
          <p:cNvSpPr>
            <a:spLocks noGrp="1"/>
          </p:cNvSpPr>
          <p:nvPr>
            <p:ph type="title"/>
          </p:nvPr>
        </p:nvSpPr>
        <p:spPr>
          <a:xfrm>
            <a:off x="609600" y="876300"/>
            <a:ext cx="11049000" cy="419100"/>
          </a:xfrm>
        </p:spPr>
        <p:txBody>
          <a:bodyPr wrap="square" lIns="0" rIns="0" tIns="0" bIns="0" anchor="t">
            <a:noAutofit/>
          </a:bodyPr>
          <a:lstStyle/>
          <a:p>
            <a:pPr algn="l">
              <a:lnSpc>
                <a:spcPts val="3300"/>
              </a:lnSpc>
              <a:spcBef>
                <a:spcPts val="0"/>
              </a:spcBef>
              <a:spcAft>
                <a:spcPts val="0"/>
              </a:spcAft>
            </a:pPr>
            <a:r>
              <a:rPr sz="2850" b="1" i="0">
                <a:solidFill>
                  <a:srgbClr val="0C0C0C"/>
                </a:solidFill>
                <a:latin typeface="Arial"/>
              </a:rPr>
              <a:t>One product. Three environment products inside.</a:t>
            </a:r>
          </a:p>
        </p:txBody>
      </p:sp>
      <p:sp>
        <p:nvSpPr>
          <p:cNvPr id="3" name="Rectangle 2"/>
          <p:cNvSpPr/>
          <p:nvPr/>
        </p:nvSpPr>
        <p:spPr>
          <a:xfrm>
            <a:off x="609600" y="495300"/>
            <a:ext cx="381000" cy="47625"/>
          </a:xfrm>
          <a:prstGeom prst="rect">
            <a:avLst/>
          </a:prstGeom>
          <a:solidFill>
            <a:srgbClr val="FF8300"/>
          </a:solidFill>
          <a:ln>
            <a:noFill/>
          </a:ln>
        </p:spPr>
        <p:txBody>
          <a:bodyPr rtlCol="0" anchor="ctr"/>
          <a:lstStyle/>
          <a:p>
            <a:pPr algn="ctr"/>
          </a:p>
        </p:txBody>
      </p:sp>
      <p:sp>
        <p:nvSpPr>
          <p:cNvPr id="4" name="TextBox 3"/>
          <p:cNvSpPr txBox="1"/>
          <p:nvPr/>
        </p:nvSpPr>
        <p:spPr>
          <a:xfrm>
            <a:off x="609600" y="647700"/>
            <a:ext cx="96012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WHAT SHIPPED</a:t>
            </a:r>
          </a:p>
        </p:txBody>
      </p:sp>
      <p:sp>
        <p:nvSpPr>
          <p:cNvPr id="5" name="Rounded Rectangle 4"/>
          <p:cNvSpPr/>
          <p:nvPr/>
        </p:nvSpPr>
        <p:spPr>
          <a:xfrm>
            <a:off x="609600" y="1600200"/>
            <a:ext cx="10972800" cy="914400"/>
          </a:xfrm>
          <a:prstGeom prst="roundRect">
            <a:avLst>
              <a:gd name="adj" fmla="val 12500"/>
            </a:avLst>
          </a:prstGeom>
          <a:solidFill>
            <a:srgbClr val="0C0C0C"/>
          </a:solidFill>
          <a:ln>
            <a:noFill/>
          </a:ln>
        </p:spPr>
        <p:txBody>
          <a:bodyPr rtlCol="0" anchor="ctr"/>
          <a:lstStyle/>
          <a:p>
            <a:pPr algn="ctr"/>
          </a:p>
        </p:txBody>
      </p:sp>
      <p:sp>
        <p:nvSpPr>
          <p:cNvPr id="6" name="TextBox 5"/>
          <p:cNvSpPr txBox="1"/>
          <p:nvPr/>
        </p:nvSpPr>
        <p:spPr>
          <a:xfrm>
            <a:off x="914400" y="1752600"/>
            <a:ext cx="6743700" cy="342900"/>
          </a:xfrm>
          <a:prstGeom prst="rect">
            <a:avLst/>
          </a:prstGeom>
          <a:noFill/>
        </p:spPr>
        <p:txBody>
          <a:bodyPr wrap="square" lIns="0" rIns="0" tIns="0" bIns="0" anchor="t">
            <a:noAutofit/>
          </a:bodyPr>
          <a:lstStyle/>
          <a:p>
            <a:pPr algn="l">
              <a:lnSpc>
                <a:spcPts val="2700"/>
              </a:lnSpc>
              <a:spcBef>
                <a:spcPts val="0"/>
              </a:spcBef>
              <a:spcAft>
                <a:spcPts val="0"/>
              </a:spcAft>
            </a:pPr>
            <a:r>
              <a:rPr sz="2250" b="1" i="0">
                <a:solidFill>
                  <a:srgbClr val="FFFFFF"/>
                </a:solidFill>
                <a:latin typeface="Arial"/>
              </a:rPr>
              <a:t>Connected Environment</a:t>
            </a:r>
          </a:p>
        </p:txBody>
      </p:sp>
      <p:sp>
        <p:nvSpPr>
          <p:cNvPr id="7" name="TextBox 6"/>
          <p:cNvSpPr txBox="1"/>
          <p:nvPr/>
        </p:nvSpPr>
        <p:spPr>
          <a:xfrm>
            <a:off x="914400" y="2133600"/>
            <a:ext cx="8648700" cy="180975"/>
          </a:xfrm>
          <a:prstGeom prst="rect">
            <a:avLst/>
          </a:prstGeom>
          <a:noFill/>
        </p:spPr>
        <p:txBody>
          <a:bodyPr wrap="square" lIns="0" rIns="0" tIns="0" bIns="0" anchor="t">
            <a:noAutofit/>
          </a:bodyPr>
          <a:lstStyle/>
          <a:p>
            <a:pPr algn="l">
              <a:lnSpc>
                <a:spcPts val="1425"/>
              </a:lnSpc>
              <a:spcBef>
                <a:spcPts val="0"/>
              </a:spcBef>
              <a:spcAft>
                <a:spcPts val="0"/>
              </a:spcAft>
            </a:pPr>
            <a:r>
              <a:rPr sz="1200" b="0" i="0">
                <a:solidFill>
                  <a:srgbClr val="BDBDBD"/>
                </a:solidFill>
                <a:latin typeface="Arial"/>
              </a:rPr>
              <a:t>One menu and header · one backend · each project switches on only what it uses</a:t>
            </a:r>
          </a:p>
        </p:txBody>
      </p:sp>
      <p:sp>
        <p:nvSpPr>
          <p:cNvPr id="8" name="Rounded Rectangle 7"/>
          <p:cNvSpPr/>
          <p:nvPr/>
        </p:nvSpPr>
        <p:spPr>
          <a:xfrm>
            <a:off x="10439400" y="1866900"/>
            <a:ext cx="857250" cy="323850"/>
          </a:xfrm>
          <a:prstGeom prst="roundRect">
            <a:avLst>
              <a:gd name="adj" fmla="val 50000"/>
            </a:avLst>
          </a:prstGeom>
          <a:solidFill>
            <a:srgbClr val="FF8300"/>
          </a:solidFill>
          <a:ln>
            <a:noFill/>
          </a:ln>
        </p:spPr>
        <p:txBody>
          <a:bodyPr rtlCol="0" anchor="ctr"/>
          <a:lstStyle/>
          <a:p>
            <a:pPr algn="ctr"/>
          </a:p>
        </p:txBody>
      </p:sp>
      <p:sp>
        <p:nvSpPr>
          <p:cNvPr id="9" name="TextBox 8"/>
          <p:cNvSpPr txBox="1"/>
          <p:nvPr/>
        </p:nvSpPr>
        <p:spPr>
          <a:xfrm>
            <a:off x="10401300" y="1866900"/>
            <a:ext cx="933450" cy="323850"/>
          </a:xfrm>
          <a:prstGeom prst="rect">
            <a:avLst/>
          </a:prstGeom>
          <a:noFill/>
        </p:spPr>
        <p:txBody>
          <a:bodyPr wrap="none" lIns="0" rIns="0" tIns="0" bIns="0" anchor="t">
            <a:noAutofit/>
          </a:bodyPr>
          <a:lstStyle/>
          <a:p>
            <a:pPr algn="ctr">
              <a:lnSpc>
                <a:spcPts val="2550"/>
              </a:lnSpc>
              <a:spcBef>
                <a:spcPts val="0"/>
              </a:spcBef>
              <a:spcAft>
                <a:spcPts val="0"/>
              </a:spcAft>
            </a:pPr>
            <a:r>
              <a:rPr sz="1350" b="1" i="0">
                <a:solidFill>
                  <a:srgbClr val="FFFFFF"/>
                </a:solidFill>
                <a:latin typeface="Arial"/>
              </a:rPr>
              <a:t>1.0</a:t>
            </a:r>
          </a:p>
        </p:txBody>
      </p:sp>
      <p:sp>
        <p:nvSpPr>
          <p:cNvPr id="10" name="Rounded Rectangle 9"/>
          <p:cNvSpPr/>
          <p:nvPr/>
        </p:nvSpPr>
        <p:spPr>
          <a:xfrm>
            <a:off x="614362" y="2767012"/>
            <a:ext cx="3343275" cy="2143125"/>
          </a:xfrm>
          <a:prstGeom prst="roundRect">
            <a:avLst>
              <a:gd name="adj" fmla="val 5111"/>
            </a:avLst>
          </a:prstGeom>
          <a:solidFill>
            <a:srgbClr val="FFFFFF"/>
          </a:solidFill>
          <a:ln w="9525">
            <a:solidFill>
              <a:srgbClr val="DCDCD7"/>
            </a:solidFill>
          </a:ln>
        </p:spPr>
        <p:txBody>
          <a:bodyPr rtlCol="0" anchor="ctr"/>
          <a:lstStyle/>
          <a:p>
            <a:pPr algn="ctr"/>
          </a:p>
        </p:txBody>
      </p:sp>
      <p:sp>
        <p:nvSpPr>
          <p:cNvPr id="11" name="Rounded Rectangle 10"/>
          <p:cNvSpPr/>
          <p:nvPr/>
        </p:nvSpPr>
        <p:spPr>
          <a:xfrm>
            <a:off x="609600" y="2762250"/>
            <a:ext cx="3352800" cy="57150"/>
          </a:xfrm>
          <a:prstGeom prst="roundRect">
            <a:avLst>
              <a:gd name="adj" fmla="val 50000"/>
            </a:avLst>
          </a:prstGeom>
          <a:solidFill>
            <a:srgbClr val="FF8300"/>
          </a:solidFill>
          <a:ln>
            <a:noFill/>
          </a:ln>
        </p:spPr>
        <p:txBody>
          <a:bodyPr rtlCol="0" anchor="ctr"/>
          <a:lstStyle/>
          <a:p>
            <a:pPr algn="ctr"/>
          </a:p>
        </p:txBody>
      </p:sp>
      <p:sp>
        <p:nvSpPr>
          <p:cNvPr id="12" name="TextBox 11"/>
          <p:cNvSpPr txBox="1"/>
          <p:nvPr/>
        </p:nvSpPr>
        <p:spPr>
          <a:xfrm>
            <a:off x="838200" y="3009900"/>
            <a:ext cx="2971800" cy="295275"/>
          </a:xfrm>
          <a:prstGeom prst="rect">
            <a:avLst/>
          </a:prstGeom>
          <a:noFill/>
        </p:spPr>
        <p:txBody>
          <a:bodyPr wrap="square" lIns="0" rIns="0" tIns="0" bIns="0" anchor="t">
            <a:noAutofit/>
          </a:bodyPr>
          <a:lstStyle/>
          <a:p>
            <a:pPr algn="l">
              <a:lnSpc>
                <a:spcPts val="2325"/>
              </a:lnSpc>
              <a:spcBef>
                <a:spcPts val="0"/>
              </a:spcBef>
              <a:spcAft>
                <a:spcPts val="0"/>
              </a:spcAft>
            </a:pPr>
            <a:r>
              <a:rPr sz="1875" b="1" i="0">
                <a:solidFill>
                  <a:srgbClr val="0C0C0C"/>
                </a:solidFill>
                <a:latin typeface="Arial"/>
              </a:rPr>
              <a:t>Weather Station</a:t>
            </a:r>
          </a:p>
        </p:txBody>
      </p:sp>
      <p:sp>
        <p:nvSpPr>
          <p:cNvPr id="13" name="Oval 12"/>
          <p:cNvSpPr/>
          <p:nvPr/>
        </p:nvSpPr>
        <p:spPr>
          <a:xfrm>
            <a:off x="838200" y="3552825"/>
            <a:ext cx="95250" cy="95250"/>
          </a:xfrm>
          <a:prstGeom prst="ellipse">
            <a:avLst/>
          </a:prstGeom>
          <a:solidFill>
            <a:srgbClr val="FF8300"/>
          </a:solidFill>
          <a:ln>
            <a:noFill/>
          </a:ln>
        </p:spPr>
        <p:txBody>
          <a:bodyPr rtlCol="0" anchor="ctr"/>
          <a:lstStyle/>
          <a:p>
            <a:pPr algn="ctr"/>
          </a:p>
        </p:txBody>
      </p:sp>
      <p:sp>
        <p:nvSpPr>
          <p:cNvPr id="14" name="TextBox 13"/>
          <p:cNvSpPr txBox="1"/>
          <p:nvPr/>
        </p:nvSpPr>
        <p:spPr>
          <a:xfrm>
            <a:off x="1066800" y="3467100"/>
            <a:ext cx="2743200" cy="438150"/>
          </a:xfrm>
          <a:prstGeom prst="rect">
            <a:avLst/>
          </a:prstGeom>
          <a:noFill/>
        </p:spPr>
        <p:txBody>
          <a:bodyPr wrap="square" lIns="0" rIns="0" tIns="0" bIns="0" anchor="t">
            <a:noAutofit/>
          </a:bodyPr>
          <a:lstStyle/>
          <a:p>
            <a:pPr algn="l">
              <a:lnSpc>
                <a:spcPts val="1725"/>
              </a:lnSpc>
              <a:spcBef>
                <a:spcPts val="0"/>
              </a:spcBef>
              <a:spcAft>
                <a:spcPts val="0"/>
              </a:spcAft>
            </a:pPr>
            <a:r>
              <a:rPr sz="1200" b="0" i="0">
                <a:solidFill>
                  <a:srgbClr val="2B2B2B"/>
                </a:solidFill>
                <a:latin typeface="Arial"/>
              </a:rPr>
              <a:t>A verdict and the steps to take, not just a heat number.</a:t>
            </a:r>
          </a:p>
        </p:txBody>
      </p:sp>
      <p:sp>
        <p:nvSpPr>
          <p:cNvPr id="15" name="Oval 14"/>
          <p:cNvSpPr/>
          <p:nvPr/>
        </p:nvSpPr>
        <p:spPr>
          <a:xfrm>
            <a:off x="838200" y="4105275"/>
            <a:ext cx="95250" cy="95250"/>
          </a:xfrm>
          <a:prstGeom prst="ellipse">
            <a:avLst/>
          </a:prstGeom>
          <a:solidFill>
            <a:srgbClr val="FF8300"/>
          </a:solidFill>
          <a:ln>
            <a:noFill/>
          </a:ln>
        </p:spPr>
        <p:txBody>
          <a:bodyPr rtlCol="0" anchor="ctr"/>
          <a:lstStyle/>
          <a:p>
            <a:pPr algn="ctr"/>
          </a:p>
        </p:txBody>
      </p:sp>
      <p:sp>
        <p:nvSpPr>
          <p:cNvPr id="16" name="TextBox 15"/>
          <p:cNvSpPr txBox="1"/>
          <p:nvPr/>
        </p:nvSpPr>
        <p:spPr>
          <a:xfrm>
            <a:off x="1066800" y="4019550"/>
            <a:ext cx="2743200" cy="438150"/>
          </a:xfrm>
          <a:prstGeom prst="rect">
            <a:avLst/>
          </a:prstGeom>
          <a:noFill/>
        </p:spPr>
        <p:txBody>
          <a:bodyPr wrap="square" lIns="0" rIns="0" tIns="0" bIns="0" anchor="t">
            <a:noAutofit/>
          </a:bodyPr>
          <a:lstStyle/>
          <a:p>
            <a:pPr algn="l">
              <a:lnSpc>
                <a:spcPts val="1725"/>
              </a:lnSpc>
              <a:spcBef>
                <a:spcPts val="0"/>
              </a:spcBef>
              <a:spcAft>
                <a:spcPts val="0"/>
              </a:spcAft>
            </a:pPr>
            <a:r>
              <a:rPr sz="1200" b="0" i="0">
                <a:solidFill>
                  <a:srgbClr val="2B2B2B"/>
                </a:solidFill>
                <a:latin typeface="Arial"/>
              </a:rPr>
              <a:t>Reports, and a Site Safety Policy with a 30 day preview.</a:t>
            </a:r>
          </a:p>
        </p:txBody>
      </p:sp>
      <p:sp>
        <p:nvSpPr>
          <p:cNvPr id="17" name="Rounded Rectangle 16"/>
          <p:cNvSpPr/>
          <p:nvPr/>
        </p:nvSpPr>
        <p:spPr>
          <a:xfrm>
            <a:off x="4424362" y="2767012"/>
            <a:ext cx="3343275" cy="2143125"/>
          </a:xfrm>
          <a:prstGeom prst="roundRect">
            <a:avLst>
              <a:gd name="adj" fmla="val 5111"/>
            </a:avLst>
          </a:prstGeom>
          <a:solidFill>
            <a:srgbClr val="FFFFFF"/>
          </a:solidFill>
          <a:ln w="9525">
            <a:solidFill>
              <a:srgbClr val="DCDCD7"/>
            </a:solidFill>
          </a:ln>
        </p:spPr>
        <p:txBody>
          <a:bodyPr rtlCol="0" anchor="ctr"/>
          <a:lstStyle/>
          <a:p>
            <a:pPr algn="ctr"/>
          </a:p>
        </p:txBody>
      </p:sp>
      <p:sp>
        <p:nvSpPr>
          <p:cNvPr id="18" name="Rounded Rectangle 17"/>
          <p:cNvSpPr/>
          <p:nvPr/>
        </p:nvSpPr>
        <p:spPr>
          <a:xfrm>
            <a:off x="4419600" y="2762250"/>
            <a:ext cx="3352800" cy="57150"/>
          </a:xfrm>
          <a:prstGeom prst="roundRect">
            <a:avLst>
              <a:gd name="adj" fmla="val 50000"/>
            </a:avLst>
          </a:prstGeom>
          <a:solidFill>
            <a:srgbClr val="FF8300"/>
          </a:solidFill>
          <a:ln>
            <a:noFill/>
          </a:ln>
        </p:spPr>
        <p:txBody>
          <a:bodyPr rtlCol="0" anchor="ctr"/>
          <a:lstStyle/>
          <a:p>
            <a:pPr algn="ctr"/>
          </a:p>
        </p:txBody>
      </p:sp>
      <p:sp>
        <p:nvSpPr>
          <p:cNvPr id="19" name="TextBox 18"/>
          <p:cNvSpPr txBox="1"/>
          <p:nvPr/>
        </p:nvSpPr>
        <p:spPr>
          <a:xfrm>
            <a:off x="4648200" y="3009900"/>
            <a:ext cx="2971800" cy="295275"/>
          </a:xfrm>
          <a:prstGeom prst="rect">
            <a:avLst/>
          </a:prstGeom>
          <a:noFill/>
        </p:spPr>
        <p:txBody>
          <a:bodyPr wrap="square" lIns="0" rIns="0" tIns="0" bIns="0" anchor="t">
            <a:noAutofit/>
          </a:bodyPr>
          <a:lstStyle/>
          <a:p>
            <a:pPr algn="l">
              <a:lnSpc>
                <a:spcPts val="2325"/>
              </a:lnSpc>
              <a:spcBef>
                <a:spcPts val="0"/>
              </a:spcBef>
              <a:spcAft>
                <a:spcPts val="0"/>
              </a:spcAft>
            </a:pPr>
            <a:r>
              <a:rPr sz="1875" b="1" i="0">
                <a:solidFill>
                  <a:srgbClr val="0C0C0C"/>
                </a:solidFill>
                <a:latin typeface="Arial"/>
              </a:rPr>
              <a:t>Lightning</a:t>
            </a:r>
          </a:p>
        </p:txBody>
      </p:sp>
      <p:sp>
        <p:nvSpPr>
          <p:cNvPr id="20" name="Oval 19"/>
          <p:cNvSpPr/>
          <p:nvPr/>
        </p:nvSpPr>
        <p:spPr>
          <a:xfrm>
            <a:off x="4648200" y="3552825"/>
            <a:ext cx="95250" cy="95250"/>
          </a:xfrm>
          <a:prstGeom prst="ellipse">
            <a:avLst/>
          </a:prstGeom>
          <a:solidFill>
            <a:srgbClr val="FF8300"/>
          </a:solidFill>
          <a:ln>
            <a:noFill/>
          </a:ln>
        </p:spPr>
        <p:txBody>
          <a:bodyPr rtlCol="0" anchor="ctr"/>
          <a:lstStyle/>
          <a:p>
            <a:pPr algn="ctr"/>
          </a:p>
        </p:txBody>
      </p:sp>
      <p:sp>
        <p:nvSpPr>
          <p:cNvPr id="21" name="TextBox 20"/>
          <p:cNvSpPr txBox="1"/>
          <p:nvPr/>
        </p:nvSpPr>
        <p:spPr>
          <a:xfrm>
            <a:off x="4876800" y="3467100"/>
            <a:ext cx="2743200" cy="438150"/>
          </a:xfrm>
          <a:prstGeom prst="rect">
            <a:avLst/>
          </a:prstGeom>
          <a:noFill/>
        </p:spPr>
        <p:txBody>
          <a:bodyPr wrap="square" lIns="0" rIns="0" tIns="0" bIns="0" anchor="t">
            <a:noAutofit/>
          </a:bodyPr>
          <a:lstStyle/>
          <a:p>
            <a:pPr algn="l">
              <a:lnSpc>
                <a:spcPts val="1725"/>
              </a:lnSpc>
              <a:spcBef>
                <a:spcPts val="0"/>
              </a:spcBef>
              <a:spcAft>
                <a:spcPts val="0"/>
              </a:spcAft>
            </a:pPr>
            <a:r>
              <a:rPr sz="1200" b="0" i="0">
                <a:solidFill>
                  <a:srgbClr val="2B2B2B"/>
                </a:solidFill>
                <a:latin typeface="Arial"/>
              </a:rPr>
              <a:t>Alert state and alert distances, on a map.</a:t>
            </a:r>
          </a:p>
        </p:txBody>
      </p:sp>
      <p:sp>
        <p:nvSpPr>
          <p:cNvPr id="22" name="Oval 21"/>
          <p:cNvSpPr/>
          <p:nvPr/>
        </p:nvSpPr>
        <p:spPr>
          <a:xfrm>
            <a:off x="4648200" y="4105275"/>
            <a:ext cx="95250" cy="95250"/>
          </a:xfrm>
          <a:prstGeom prst="ellipse">
            <a:avLst/>
          </a:prstGeom>
          <a:solidFill>
            <a:srgbClr val="FF8300"/>
          </a:solidFill>
          <a:ln>
            <a:noFill/>
          </a:ln>
        </p:spPr>
        <p:txBody>
          <a:bodyPr rtlCol="0" anchor="ctr"/>
          <a:lstStyle/>
          <a:p>
            <a:pPr algn="ctr"/>
          </a:p>
        </p:txBody>
      </p:sp>
      <p:sp>
        <p:nvSpPr>
          <p:cNvPr id="23" name="TextBox 22"/>
          <p:cNvSpPr txBox="1"/>
          <p:nvPr/>
        </p:nvSpPr>
        <p:spPr>
          <a:xfrm>
            <a:off x="4876800" y="4019550"/>
            <a:ext cx="2743200" cy="438150"/>
          </a:xfrm>
          <a:prstGeom prst="rect">
            <a:avLst/>
          </a:prstGeom>
          <a:noFill/>
        </p:spPr>
        <p:txBody>
          <a:bodyPr wrap="square" lIns="0" rIns="0" tIns="0" bIns="0" anchor="t">
            <a:noAutofit/>
          </a:bodyPr>
          <a:lstStyle/>
          <a:p>
            <a:pPr algn="l">
              <a:lnSpc>
                <a:spcPts val="1725"/>
              </a:lnSpc>
              <a:spcBef>
                <a:spcPts val="0"/>
              </a:spcBef>
              <a:spcAft>
                <a:spcPts val="0"/>
              </a:spcAft>
            </a:pPr>
            <a:r>
              <a:rPr sz="1200" b="0" i="0">
                <a:solidFill>
                  <a:srgbClr val="2B2B2B"/>
                </a:solidFill>
                <a:latin typeface="Arial"/>
              </a:rPr>
              <a:t>Alarm history. A backup to the site's own cabinet lights and sounder.</a:t>
            </a:r>
          </a:p>
        </p:txBody>
      </p:sp>
      <p:sp>
        <p:nvSpPr>
          <p:cNvPr id="24" name="Rounded Rectangle 23"/>
          <p:cNvSpPr/>
          <p:nvPr/>
        </p:nvSpPr>
        <p:spPr>
          <a:xfrm>
            <a:off x="8234362" y="2767012"/>
            <a:ext cx="3343275" cy="2143125"/>
          </a:xfrm>
          <a:prstGeom prst="roundRect">
            <a:avLst>
              <a:gd name="adj" fmla="val 5111"/>
            </a:avLst>
          </a:prstGeom>
          <a:solidFill>
            <a:srgbClr val="FFFFFF"/>
          </a:solidFill>
          <a:ln w="9525">
            <a:solidFill>
              <a:srgbClr val="DCDCD7"/>
            </a:solidFill>
          </a:ln>
        </p:spPr>
        <p:txBody>
          <a:bodyPr rtlCol="0" anchor="ctr"/>
          <a:lstStyle/>
          <a:p>
            <a:pPr algn="ctr"/>
          </a:p>
        </p:txBody>
      </p:sp>
      <p:sp>
        <p:nvSpPr>
          <p:cNvPr id="25" name="Rounded Rectangle 24"/>
          <p:cNvSpPr/>
          <p:nvPr/>
        </p:nvSpPr>
        <p:spPr>
          <a:xfrm>
            <a:off x="8229600" y="2762250"/>
            <a:ext cx="3352800" cy="57150"/>
          </a:xfrm>
          <a:prstGeom prst="roundRect">
            <a:avLst>
              <a:gd name="adj" fmla="val 50000"/>
            </a:avLst>
          </a:prstGeom>
          <a:solidFill>
            <a:srgbClr val="FF8300"/>
          </a:solidFill>
          <a:ln>
            <a:noFill/>
          </a:ln>
        </p:spPr>
        <p:txBody>
          <a:bodyPr rtlCol="0" anchor="ctr"/>
          <a:lstStyle/>
          <a:p>
            <a:pPr algn="ctr"/>
          </a:p>
        </p:txBody>
      </p:sp>
      <p:sp>
        <p:nvSpPr>
          <p:cNvPr id="26" name="TextBox 25"/>
          <p:cNvSpPr txBox="1"/>
          <p:nvPr/>
        </p:nvSpPr>
        <p:spPr>
          <a:xfrm>
            <a:off x="8458200" y="3009900"/>
            <a:ext cx="2971800" cy="295275"/>
          </a:xfrm>
          <a:prstGeom prst="rect">
            <a:avLst/>
          </a:prstGeom>
          <a:noFill/>
        </p:spPr>
        <p:txBody>
          <a:bodyPr wrap="square" lIns="0" rIns="0" tIns="0" bIns="0" anchor="t">
            <a:noAutofit/>
          </a:bodyPr>
          <a:lstStyle/>
          <a:p>
            <a:pPr algn="l">
              <a:lnSpc>
                <a:spcPts val="2325"/>
              </a:lnSpc>
              <a:spcBef>
                <a:spcPts val="0"/>
              </a:spcBef>
              <a:spcAft>
                <a:spcPts val="0"/>
              </a:spcAft>
            </a:pPr>
            <a:r>
              <a:rPr sz="1875" b="1" i="0">
                <a:solidFill>
                  <a:srgbClr val="0C0C0C"/>
                </a:solidFill>
                <a:latin typeface="Arial"/>
              </a:rPr>
              <a:t>Gas</a:t>
            </a:r>
          </a:p>
        </p:txBody>
      </p:sp>
      <p:sp>
        <p:nvSpPr>
          <p:cNvPr id="27" name="Oval 26"/>
          <p:cNvSpPr/>
          <p:nvPr/>
        </p:nvSpPr>
        <p:spPr>
          <a:xfrm>
            <a:off x="8458200" y="3552825"/>
            <a:ext cx="95250" cy="95250"/>
          </a:xfrm>
          <a:prstGeom prst="ellipse">
            <a:avLst/>
          </a:prstGeom>
          <a:solidFill>
            <a:srgbClr val="FF8300"/>
          </a:solidFill>
          <a:ln>
            <a:noFill/>
          </a:ln>
        </p:spPr>
        <p:txBody>
          <a:bodyPr rtlCol="0" anchor="ctr"/>
          <a:lstStyle/>
          <a:p>
            <a:pPr algn="ctr"/>
          </a:p>
        </p:txBody>
      </p:sp>
      <p:sp>
        <p:nvSpPr>
          <p:cNvPr id="28" name="TextBox 27"/>
          <p:cNvSpPr txBox="1"/>
          <p:nvPr/>
        </p:nvSpPr>
        <p:spPr>
          <a:xfrm>
            <a:off x="8686800" y="3467100"/>
            <a:ext cx="2743200" cy="219075"/>
          </a:xfrm>
          <a:prstGeom prst="rect">
            <a:avLst/>
          </a:prstGeom>
          <a:noFill/>
        </p:spPr>
        <p:txBody>
          <a:bodyPr wrap="square" lIns="0" rIns="0" tIns="0" bIns="0" anchor="t">
            <a:noAutofit/>
          </a:bodyPr>
          <a:lstStyle/>
          <a:p>
            <a:pPr algn="l">
              <a:lnSpc>
                <a:spcPts val="1725"/>
              </a:lnSpc>
              <a:spcBef>
                <a:spcPts val="0"/>
              </a:spcBef>
              <a:spcAft>
                <a:spcPts val="0"/>
              </a:spcAft>
            </a:pPr>
            <a:r>
              <a:rPr sz="1200" b="0" i="0">
                <a:solidFill>
                  <a:srgbClr val="2B2B2B"/>
                </a:solidFill>
                <a:latin typeface="Arial"/>
              </a:rPr>
              <a:t>Overview and detectors.</a:t>
            </a:r>
          </a:p>
        </p:txBody>
      </p:sp>
      <p:sp>
        <p:nvSpPr>
          <p:cNvPr id="29" name="Oval 28"/>
          <p:cNvSpPr/>
          <p:nvPr/>
        </p:nvSpPr>
        <p:spPr>
          <a:xfrm>
            <a:off x="8458200" y="3886200"/>
            <a:ext cx="95250" cy="95250"/>
          </a:xfrm>
          <a:prstGeom prst="ellipse">
            <a:avLst/>
          </a:prstGeom>
          <a:solidFill>
            <a:srgbClr val="FF8300"/>
          </a:solidFill>
          <a:ln>
            <a:noFill/>
          </a:ln>
        </p:spPr>
        <p:txBody>
          <a:bodyPr rtlCol="0" anchor="ctr"/>
          <a:lstStyle/>
          <a:p>
            <a:pPr algn="ctr"/>
          </a:p>
        </p:txBody>
      </p:sp>
      <p:sp>
        <p:nvSpPr>
          <p:cNvPr id="30" name="TextBox 29"/>
          <p:cNvSpPr txBox="1"/>
          <p:nvPr/>
        </p:nvSpPr>
        <p:spPr>
          <a:xfrm>
            <a:off x="8686800" y="3800475"/>
            <a:ext cx="2743200" cy="438150"/>
          </a:xfrm>
          <a:prstGeom prst="rect">
            <a:avLst/>
          </a:prstGeom>
          <a:noFill/>
        </p:spPr>
        <p:txBody>
          <a:bodyPr wrap="square" lIns="0" rIns="0" tIns="0" bIns="0" anchor="t">
            <a:noAutofit/>
          </a:bodyPr>
          <a:lstStyle/>
          <a:p>
            <a:pPr algn="l">
              <a:lnSpc>
                <a:spcPts val="1725"/>
              </a:lnSpc>
              <a:spcBef>
                <a:spcPts val="0"/>
              </a:spcBef>
              <a:spcAft>
                <a:spcPts val="0"/>
              </a:spcAft>
            </a:pPr>
            <a:r>
              <a:rPr sz="1200" b="0" i="0">
                <a:solidFill>
                  <a:srgbClr val="2B2B2B"/>
                </a:solidFill>
                <a:latin typeface="Arial"/>
              </a:rPr>
              <a:t>Alerts you can acknowledge and close, and compliance limits.</a:t>
            </a:r>
          </a:p>
        </p:txBody>
      </p:sp>
      <p:sp>
        <p:nvSpPr>
          <p:cNvPr id="31" name="Rounded Rectangle 30"/>
          <p:cNvSpPr/>
          <p:nvPr/>
        </p:nvSpPr>
        <p:spPr>
          <a:xfrm>
            <a:off x="614362" y="5110162"/>
            <a:ext cx="10963275" cy="523875"/>
          </a:xfrm>
          <a:prstGeom prst="roundRect">
            <a:avLst>
              <a:gd name="adj" fmla="val 20909"/>
            </a:avLst>
          </a:prstGeom>
          <a:solidFill>
            <a:srgbClr val="FFF1E0"/>
          </a:solidFill>
          <a:ln w="9525">
            <a:solidFill>
              <a:srgbClr val="F3C894"/>
            </a:solidFill>
          </a:ln>
        </p:spPr>
        <p:txBody>
          <a:bodyPr rtlCol="0" anchor="ctr"/>
          <a:lstStyle/>
          <a:p>
            <a:pPr algn="ctr"/>
          </a:p>
        </p:txBody>
      </p:sp>
      <p:sp>
        <p:nvSpPr>
          <p:cNvPr id="32" name="TextBox 31"/>
          <p:cNvSpPr txBox="1"/>
          <p:nvPr/>
        </p:nvSpPr>
        <p:spPr>
          <a:xfrm>
            <a:off x="838200" y="5257800"/>
            <a:ext cx="10648950" cy="228600"/>
          </a:xfrm>
          <a:prstGeom prst="rect">
            <a:avLst/>
          </a:prstGeom>
          <a:noFill/>
        </p:spPr>
        <p:txBody>
          <a:bodyPr wrap="square" lIns="0" rIns="0" tIns="0" bIns="0" anchor="t">
            <a:noAutofit/>
          </a:bodyPr>
          <a:lstStyle/>
          <a:p>
            <a:pPr algn="l">
              <a:lnSpc>
                <a:spcPts val="1800"/>
              </a:lnSpc>
              <a:spcBef>
                <a:spcPts val="0"/>
              </a:spcBef>
              <a:spcAft>
                <a:spcPts val="0"/>
              </a:spcAft>
            </a:pPr>
            <a:r>
              <a:rPr sz="1200" b="1" i="0">
                <a:solidFill>
                  <a:srgbClr val="0C0C0C"/>
                </a:solidFill>
                <a:latin typeface="Arial"/>
              </a:rPr>
              <a:t>One platform behind them.</a:t>
            </a:r>
            <a:r>
              <a:rPr sz="1200" b="0" i="0">
                <a:solidFill>
                  <a:srgbClr val="2B2B2B"/>
                </a:solidFill>
                <a:latin typeface="Arial"/>
              </a:rPr>
              <a:t> Readings and status from all three sit in one place.</a:t>
            </a:r>
          </a:p>
        </p:txBody>
      </p:sp>
      <p:sp>
        <p:nvSpPr>
          <p:cNvPr id="33" name="Rounded Rectangle 32"/>
          <p:cNvSpPr/>
          <p:nvPr/>
        </p:nvSpPr>
        <p:spPr>
          <a:xfrm>
            <a:off x="614362" y="5815012"/>
            <a:ext cx="10963275" cy="447675"/>
          </a:xfrm>
          <a:prstGeom prst="roundRect">
            <a:avLst>
              <a:gd name="adj" fmla="val 24468"/>
            </a:avLst>
          </a:prstGeom>
          <a:noFill/>
          <a:ln w="9525">
            <a:solidFill>
              <a:srgbClr val="A9A9A4"/>
            </a:solidFill>
            <a:prstDash val="dash"/>
          </a:ln>
        </p:spPr>
        <p:txBody>
          <a:bodyPr rtlCol="0" anchor="ctr"/>
          <a:lstStyle/>
          <a:p>
            <a:pPr algn="ctr"/>
          </a:p>
        </p:txBody>
      </p:sp>
      <p:sp>
        <p:nvSpPr>
          <p:cNvPr id="34" name="Rounded Rectangle 33"/>
          <p:cNvSpPr/>
          <p:nvPr/>
        </p:nvSpPr>
        <p:spPr>
          <a:xfrm>
            <a:off x="747712" y="5881688"/>
            <a:ext cx="1038225" cy="314325"/>
          </a:xfrm>
          <a:prstGeom prst="roundRect">
            <a:avLst>
              <a:gd name="adj" fmla="val 50000"/>
            </a:avLst>
          </a:prstGeom>
          <a:solidFill>
            <a:srgbClr val="FFFFFF"/>
          </a:solidFill>
          <a:ln w="9525">
            <a:solidFill>
              <a:srgbClr val="B85C00"/>
            </a:solidFill>
          </a:ln>
        </p:spPr>
        <p:txBody>
          <a:bodyPr rtlCol="0" anchor="ctr"/>
          <a:lstStyle/>
          <a:p>
            <a:pPr algn="ctr"/>
          </a:p>
        </p:txBody>
      </p:sp>
      <p:sp>
        <p:nvSpPr>
          <p:cNvPr id="35" name="TextBox 34"/>
          <p:cNvSpPr txBox="1"/>
          <p:nvPr/>
        </p:nvSpPr>
        <p:spPr>
          <a:xfrm>
            <a:off x="714375" y="5886450"/>
            <a:ext cx="1104900" cy="304800"/>
          </a:xfrm>
          <a:prstGeom prst="rect">
            <a:avLst/>
          </a:prstGeom>
          <a:noFill/>
        </p:spPr>
        <p:txBody>
          <a:bodyPr wrap="none" lIns="0" rIns="0" tIns="0" bIns="0" anchor="t">
            <a:noAutofit/>
          </a:bodyPr>
          <a:lstStyle/>
          <a:p>
            <a:pPr algn="ctr">
              <a:lnSpc>
                <a:spcPts val="2550"/>
              </a:lnSpc>
              <a:spcBef>
                <a:spcPts val="0"/>
              </a:spcBef>
              <a:spcAft>
                <a:spcPts val="0"/>
              </a:spcAft>
            </a:pPr>
            <a:r>
              <a:rPr sz="900" b="1" i="0" spc="75">
                <a:solidFill>
                  <a:srgbClr val="B85C00"/>
                </a:solidFill>
                <a:latin typeface="Arial"/>
              </a:rPr>
              <a:t>DIRECTION</a:t>
            </a:r>
          </a:p>
        </p:txBody>
      </p:sp>
      <p:sp>
        <p:nvSpPr>
          <p:cNvPr id="36" name="TextBox 35"/>
          <p:cNvSpPr txBox="1"/>
          <p:nvPr/>
        </p:nvSpPr>
        <p:spPr>
          <a:xfrm>
            <a:off x="1943100" y="5934075"/>
            <a:ext cx="9505950" cy="209550"/>
          </a:xfrm>
          <a:prstGeom prst="rect">
            <a:avLst/>
          </a:prstGeom>
          <a:noFill/>
        </p:spPr>
        <p:txBody>
          <a:bodyPr wrap="square" lIns="0" rIns="0" tIns="0" bIns="0" anchor="t">
            <a:noAutofit/>
          </a:bodyPr>
          <a:lstStyle/>
          <a:p>
            <a:pPr algn="l">
              <a:lnSpc>
                <a:spcPts val="1650"/>
              </a:lnSpc>
              <a:spcBef>
                <a:spcPts val="0"/>
              </a:spcBef>
              <a:spcAft>
                <a:spcPts val="0"/>
              </a:spcAft>
            </a:pPr>
            <a:r>
              <a:rPr sz="1200" b="0" i="0">
                <a:solidFill>
                  <a:srgbClr val="2B2B2B"/>
                </a:solidFill>
                <a:latin typeface="Arial"/>
              </a:rPr>
              <a:t>Going forward, new environment products go under Connected Environment.</a:t>
            </a:r>
          </a:p>
        </p:txBody>
      </p:sp>
      <p:sp>
        <p:nvSpPr>
          <p:cNvPr id="37" name="TextBox 36"/>
          <p:cNvSpPr txBox="1"/>
          <p:nvPr/>
        </p:nvSpPr>
        <p:spPr>
          <a:xfrm>
            <a:off x="609600" y="6496050"/>
            <a:ext cx="5791200" cy="152400"/>
          </a:xfrm>
          <a:prstGeom prst="rect">
            <a:avLst/>
          </a:prstGeom>
          <a:noFill/>
        </p:spPr>
        <p:txBody>
          <a:bodyPr wrap="square" lIns="0" rIns="0" tIns="0" bIns="0" anchor="t">
            <a:noAutofit/>
          </a:bodyPr>
          <a:lstStyle/>
          <a:p>
            <a:pPr algn="l">
              <a:lnSpc>
                <a:spcPts val="1200"/>
              </a:lnSpc>
              <a:spcBef>
                <a:spcPts val="0"/>
              </a:spcBef>
              <a:spcAft>
                <a:spcPts val="0"/>
              </a:spcAft>
            </a:pPr>
            <a:r>
              <a:rPr sz="900" b="0" i="0">
                <a:solidFill>
                  <a:srgbClr val="6B6B6B"/>
                </a:solidFill>
                <a:latin typeface="Arial"/>
              </a:rPr>
              <a:t>Connected Environment 1.0 · Internal</a:t>
            </a:r>
          </a:p>
        </p:txBody>
      </p:sp>
      <p:sp>
        <p:nvSpPr>
          <p:cNvPr id="38" name="TextBox 37"/>
          <p:cNvSpPr txBox="1"/>
          <p:nvPr/>
        </p:nvSpPr>
        <p:spPr>
          <a:xfrm>
            <a:off x="10553700" y="6496050"/>
            <a:ext cx="1028700" cy="152400"/>
          </a:xfrm>
          <a:prstGeom prst="rect">
            <a:avLst/>
          </a:prstGeom>
          <a:noFill/>
        </p:spPr>
        <p:txBody>
          <a:bodyPr wrap="square" lIns="0" rIns="0" tIns="0" bIns="0" anchor="t">
            <a:noAutofit/>
          </a:bodyPr>
          <a:lstStyle/>
          <a:p>
            <a:pPr algn="r">
              <a:lnSpc>
                <a:spcPts val="1200"/>
              </a:lnSpc>
              <a:spcBef>
                <a:spcPts val="0"/>
              </a:spcBef>
              <a:spcAft>
                <a:spcPts val="0"/>
              </a:spcAft>
            </a:pPr>
            <a:r>
              <a:rPr sz="900" b="0" i="0">
                <a:solidFill>
                  <a:srgbClr val="6B6B6B"/>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itle 1"/>
          <p:cNvSpPr>
            <a:spLocks noGrp="1"/>
          </p:cNvSpPr>
          <p:nvPr>
            <p:ph type="title"/>
          </p:nvPr>
        </p:nvSpPr>
        <p:spPr>
          <a:xfrm>
            <a:off x="609600" y="876300"/>
            <a:ext cx="11049000" cy="419100"/>
          </a:xfrm>
        </p:spPr>
        <p:txBody>
          <a:bodyPr wrap="square" lIns="0" rIns="0" tIns="0" bIns="0" anchor="t">
            <a:noAutofit/>
          </a:bodyPr>
          <a:lstStyle/>
          <a:p>
            <a:pPr algn="l">
              <a:lnSpc>
                <a:spcPts val="3300"/>
              </a:lnSpc>
              <a:spcBef>
                <a:spcPts val="0"/>
              </a:spcBef>
              <a:spcAft>
                <a:spcPts val="0"/>
              </a:spcAft>
            </a:pPr>
            <a:r>
              <a:rPr sz="2850" b="1" i="0">
                <a:solidFill>
                  <a:srgbClr val="0C0C0C"/>
                </a:solidFill>
                <a:latin typeface="Arial"/>
              </a:rPr>
              <a:t>A heat number is not an answer</a:t>
            </a:r>
          </a:p>
        </p:txBody>
      </p:sp>
      <p:sp>
        <p:nvSpPr>
          <p:cNvPr id="3" name="Rectangle 2"/>
          <p:cNvSpPr/>
          <p:nvPr/>
        </p:nvSpPr>
        <p:spPr>
          <a:xfrm>
            <a:off x="609600" y="495300"/>
            <a:ext cx="381000" cy="47625"/>
          </a:xfrm>
          <a:prstGeom prst="rect">
            <a:avLst/>
          </a:prstGeom>
          <a:solidFill>
            <a:srgbClr val="FF8300"/>
          </a:solidFill>
          <a:ln>
            <a:noFill/>
          </a:ln>
        </p:spPr>
        <p:txBody>
          <a:bodyPr rtlCol="0" anchor="ctr"/>
          <a:lstStyle/>
          <a:p>
            <a:pPr algn="ctr"/>
          </a:p>
        </p:txBody>
      </p:sp>
      <p:sp>
        <p:nvSpPr>
          <p:cNvPr id="4" name="TextBox 3"/>
          <p:cNvSpPr txBox="1"/>
          <p:nvPr/>
        </p:nvSpPr>
        <p:spPr>
          <a:xfrm>
            <a:off x="609600" y="647700"/>
            <a:ext cx="96012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WEATHER STATION</a:t>
            </a:r>
          </a:p>
        </p:txBody>
      </p:sp>
      <p:sp>
        <p:nvSpPr>
          <p:cNvPr id="5" name="Oval 4"/>
          <p:cNvSpPr/>
          <p:nvPr/>
        </p:nvSpPr>
        <p:spPr>
          <a:xfrm>
            <a:off x="609600" y="1790700"/>
            <a:ext cx="266700" cy="266700"/>
          </a:xfrm>
          <a:prstGeom prst="ellipse">
            <a:avLst/>
          </a:prstGeom>
          <a:solidFill>
            <a:srgbClr val="FF8300"/>
          </a:solidFill>
          <a:ln>
            <a:noFill/>
          </a:ln>
        </p:spPr>
        <p:txBody>
          <a:bodyPr rtlCol="0" anchor="ctr"/>
          <a:lstStyle/>
          <a:p>
            <a:pPr algn="ctr"/>
          </a:p>
        </p:txBody>
      </p:sp>
      <p:sp>
        <p:nvSpPr>
          <p:cNvPr id="6" name="TextBox 5"/>
          <p:cNvSpPr txBox="1"/>
          <p:nvPr/>
        </p:nvSpPr>
        <p:spPr>
          <a:xfrm>
            <a:off x="571500" y="179070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1</a:t>
            </a:r>
          </a:p>
        </p:txBody>
      </p:sp>
      <p:sp>
        <p:nvSpPr>
          <p:cNvPr id="7" name="TextBox 6"/>
          <p:cNvSpPr txBox="1"/>
          <p:nvPr/>
        </p:nvSpPr>
        <p:spPr>
          <a:xfrm>
            <a:off x="1009650" y="1790700"/>
            <a:ext cx="3486150" cy="771525"/>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A verdict, in words.</a:t>
            </a:r>
            <a:r>
              <a:rPr sz="1425" b="0" i="0">
                <a:solidFill>
                  <a:srgbClr val="2B2B2B"/>
                </a:solidFill>
                <a:latin typeface="Arial"/>
              </a:rPr>
              <a:t> The strip says Danger and the steps to take, in priority order.</a:t>
            </a:r>
          </a:p>
        </p:txBody>
      </p:sp>
      <p:sp>
        <p:nvSpPr>
          <p:cNvPr id="8" name="Oval 7"/>
          <p:cNvSpPr/>
          <p:nvPr/>
        </p:nvSpPr>
        <p:spPr>
          <a:xfrm>
            <a:off x="609600" y="2771775"/>
            <a:ext cx="266700" cy="266700"/>
          </a:xfrm>
          <a:prstGeom prst="ellipse">
            <a:avLst/>
          </a:prstGeom>
          <a:solidFill>
            <a:srgbClr val="FF8300"/>
          </a:solidFill>
          <a:ln>
            <a:noFill/>
          </a:ln>
        </p:spPr>
        <p:txBody>
          <a:bodyPr rtlCol="0" anchor="ctr"/>
          <a:lstStyle/>
          <a:p>
            <a:pPr algn="ctr"/>
          </a:p>
        </p:txBody>
      </p:sp>
      <p:sp>
        <p:nvSpPr>
          <p:cNvPr id="9" name="TextBox 8"/>
          <p:cNvSpPr txBox="1"/>
          <p:nvPr/>
        </p:nvSpPr>
        <p:spPr>
          <a:xfrm>
            <a:off x="571500" y="2771775"/>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2</a:t>
            </a:r>
          </a:p>
        </p:txBody>
      </p:sp>
      <p:sp>
        <p:nvSpPr>
          <p:cNvPr id="10" name="TextBox 9"/>
          <p:cNvSpPr txBox="1"/>
          <p:nvPr/>
        </p:nvSpPr>
        <p:spPr>
          <a:xfrm>
            <a:off x="1009650" y="2771775"/>
            <a:ext cx="3486150" cy="514350"/>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The cycle in force.</a:t>
            </a:r>
            <a:r>
              <a:rPr sz="1425" b="0" i="0">
                <a:solidFill>
                  <a:srgbClr val="2B2B2B"/>
                </a:solidFill>
                <a:latin typeface="Arial"/>
              </a:rPr>
              <a:t> The heat card shows work, rest and water for the crew.</a:t>
            </a:r>
          </a:p>
        </p:txBody>
      </p:sp>
      <p:sp>
        <p:nvSpPr>
          <p:cNvPr id="11" name="Oval 10"/>
          <p:cNvSpPr/>
          <p:nvPr/>
        </p:nvSpPr>
        <p:spPr>
          <a:xfrm>
            <a:off x="609600" y="3495675"/>
            <a:ext cx="266700" cy="266700"/>
          </a:xfrm>
          <a:prstGeom prst="ellipse">
            <a:avLst/>
          </a:prstGeom>
          <a:solidFill>
            <a:srgbClr val="FF8300"/>
          </a:solidFill>
          <a:ln>
            <a:noFill/>
          </a:ln>
        </p:spPr>
        <p:txBody>
          <a:bodyPr rtlCol="0" anchor="ctr"/>
          <a:lstStyle/>
          <a:p>
            <a:pPr algn="ctr"/>
          </a:p>
        </p:txBody>
      </p:sp>
      <p:sp>
        <p:nvSpPr>
          <p:cNvPr id="12" name="TextBox 11"/>
          <p:cNvSpPr txBox="1"/>
          <p:nvPr/>
        </p:nvSpPr>
        <p:spPr>
          <a:xfrm>
            <a:off x="571500" y="3495675"/>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3</a:t>
            </a:r>
          </a:p>
        </p:txBody>
      </p:sp>
      <p:sp>
        <p:nvSpPr>
          <p:cNvPr id="13" name="TextBox 12"/>
          <p:cNvSpPr txBox="1"/>
          <p:nvPr/>
        </p:nvSpPr>
        <p:spPr>
          <a:xfrm>
            <a:off x="1009650" y="3495675"/>
            <a:ext cx="3486150" cy="514350"/>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Station health.</a:t>
            </a:r>
            <a:r>
              <a:rPr sz="1425" b="0" i="0">
                <a:solidFill>
                  <a:srgbClr val="2B2B2B"/>
                </a:solidFill>
                <a:latin typeface="Arial"/>
              </a:rPr>
              <a:t> An offline station is named, and readiness reads Not ready.</a:t>
            </a:r>
          </a:p>
        </p:txBody>
      </p:sp>
      <p:sp>
        <p:nvSpPr>
          <p:cNvPr id="14" name="Oval 13"/>
          <p:cNvSpPr/>
          <p:nvPr/>
        </p:nvSpPr>
        <p:spPr>
          <a:xfrm>
            <a:off x="609600" y="4219575"/>
            <a:ext cx="266700" cy="266700"/>
          </a:xfrm>
          <a:prstGeom prst="ellipse">
            <a:avLst/>
          </a:prstGeom>
          <a:solidFill>
            <a:srgbClr val="FF8300"/>
          </a:solidFill>
          <a:ln>
            <a:noFill/>
          </a:ln>
        </p:spPr>
        <p:txBody>
          <a:bodyPr rtlCol="0" anchor="ctr"/>
          <a:lstStyle/>
          <a:p>
            <a:pPr algn="ctr"/>
          </a:p>
        </p:txBody>
      </p:sp>
      <p:sp>
        <p:nvSpPr>
          <p:cNvPr id="15" name="TextBox 14"/>
          <p:cNvSpPr txBox="1"/>
          <p:nvPr/>
        </p:nvSpPr>
        <p:spPr>
          <a:xfrm>
            <a:off x="571500" y="4219575"/>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4</a:t>
            </a:r>
          </a:p>
        </p:txBody>
      </p:sp>
      <p:sp>
        <p:nvSpPr>
          <p:cNvPr id="16" name="TextBox 15"/>
          <p:cNvSpPr txBox="1"/>
          <p:nvPr/>
        </p:nvSpPr>
        <p:spPr>
          <a:xfrm>
            <a:off x="1009650" y="4219575"/>
            <a:ext cx="3486150" cy="771525"/>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Your readings.</a:t>
            </a:r>
            <a:r>
              <a:rPr sz="1425" b="0" i="0">
                <a:solidFill>
                  <a:srgbClr val="2B2B2B"/>
                </a:solidFill>
                <a:latin typeface="Arial"/>
              </a:rPr>
              <a:t> The gear, Select parameters, chooses which readings are featured.</a:t>
            </a:r>
          </a:p>
        </p:txBody>
      </p:sp>
      <p:pic>
        <p:nvPicPr>
          <p:cNvPr id="17" name="Picture 16" descr="ws-top.png"/>
          <p:cNvPicPr>
            <a:picLocks noChangeAspect="1"/>
          </p:cNvPicPr>
          <p:nvPr/>
        </p:nvPicPr>
        <p:blipFill>
          <a:blip r:embed="rId2"/>
          <a:stretch>
            <a:fillRect/>
          </a:stretch>
        </p:blipFill>
        <p:spPr>
          <a:xfrm>
            <a:off x="4962525" y="1800225"/>
            <a:ext cx="6610350" cy="3057525"/>
          </a:xfrm>
          <a:prstGeom prst="rect">
            <a:avLst/>
          </a:prstGeom>
        </p:spPr>
      </p:pic>
      <p:sp>
        <p:nvSpPr>
          <p:cNvPr id="18" name="Rectangle 17"/>
          <p:cNvSpPr/>
          <p:nvPr/>
        </p:nvSpPr>
        <p:spPr>
          <a:xfrm>
            <a:off x="4957762" y="1795462"/>
            <a:ext cx="6619875" cy="3067050"/>
          </a:xfrm>
          <a:prstGeom prst="rect">
            <a:avLst/>
          </a:prstGeom>
          <a:noFill/>
          <a:ln w="9525">
            <a:solidFill>
              <a:srgbClr val="C9C9C4"/>
            </a:solidFill>
          </a:ln>
        </p:spPr>
        <p:txBody>
          <a:bodyPr rtlCol="0" anchor="ctr"/>
          <a:lstStyle/>
          <a:p>
            <a:pPr algn="ctr"/>
          </a:p>
        </p:txBody>
      </p:sp>
      <p:sp>
        <p:nvSpPr>
          <p:cNvPr id="19" name="Oval 18"/>
          <p:cNvSpPr/>
          <p:nvPr/>
        </p:nvSpPr>
        <p:spPr>
          <a:xfrm>
            <a:off x="8622209" y="1850082"/>
            <a:ext cx="228600" cy="228600"/>
          </a:xfrm>
          <a:prstGeom prst="ellipse">
            <a:avLst/>
          </a:prstGeom>
          <a:solidFill>
            <a:srgbClr val="FF8300"/>
          </a:solidFill>
          <a:ln w="19050">
            <a:solidFill>
              <a:srgbClr val="FFFFFF"/>
            </a:solidFill>
          </a:ln>
        </p:spPr>
        <p:txBody>
          <a:bodyPr rtlCol="0" anchor="ctr"/>
          <a:lstStyle/>
          <a:p>
            <a:pPr algn="ctr"/>
          </a:p>
        </p:txBody>
      </p:sp>
      <p:sp>
        <p:nvSpPr>
          <p:cNvPr id="20" name="TextBox 19"/>
          <p:cNvSpPr txBox="1"/>
          <p:nvPr/>
        </p:nvSpPr>
        <p:spPr>
          <a:xfrm>
            <a:off x="8593634" y="1859607"/>
            <a:ext cx="285750" cy="209550"/>
          </a:xfrm>
          <a:prstGeom prst="rect">
            <a:avLst/>
          </a:prstGeom>
          <a:noFill/>
        </p:spPr>
        <p:txBody>
          <a:bodyPr wrap="square" lIns="0" rIns="0" tIns="0" bIns="0" anchor="t">
            <a:noAutofit/>
          </a:bodyPr>
          <a:lstStyle/>
          <a:p>
            <a:pPr algn="ctr">
              <a:lnSpc>
                <a:spcPts val="1650"/>
              </a:lnSpc>
              <a:spcBef>
                <a:spcPts val="0"/>
              </a:spcBef>
              <a:spcAft>
                <a:spcPts val="0"/>
              </a:spcAft>
            </a:pPr>
            <a:r>
              <a:rPr sz="975" b="1" i="0">
                <a:solidFill>
                  <a:srgbClr val="FFFFFF"/>
                </a:solidFill>
                <a:latin typeface="Arial"/>
              </a:rPr>
              <a:t>1</a:t>
            </a:r>
          </a:p>
        </p:txBody>
      </p:sp>
      <p:sp>
        <p:nvSpPr>
          <p:cNvPr id="21" name="Oval 20"/>
          <p:cNvSpPr/>
          <p:nvPr/>
        </p:nvSpPr>
        <p:spPr>
          <a:xfrm>
            <a:off x="6132165" y="2767757"/>
            <a:ext cx="228600" cy="228600"/>
          </a:xfrm>
          <a:prstGeom prst="ellipse">
            <a:avLst/>
          </a:prstGeom>
          <a:solidFill>
            <a:srgbClr val="FF8300"/>
          </a:solidFill>
          <a:ln w="19050">
            <a:solidFill>
              <a:srgbClr val="FFFFFF"/>
            </a:solidFill>
          </a:ln>
        </p:spPr>
        <p:txBody>
          <a:bodyPr rtlCol="0" anchor="ctr"/>
          <a:lstStyle/>
          <a:p>
            <a:pPr algn="ctr"/>
          </a:p>
        </p:txBody>
      </p:sp>
      <p:sp>
        <p:nvSpPr>
          <p:cNvPr id="22" name="TextBox 21"/>
          <p:cNvSpPr txBox="1"/>
          <p:nvPr/>
        </p:nvSpPr>
        <p:spPr>
          <a:xfrm>
            <a:off x="6103590" y="2777282"/>
            <a:ext cx="285750" cy="209550"/>
          </a:xfrm>
          <a:prstGeom prst="rect">
            <a:avLst/>
          </a:prstGeom>
          <a:noFill/>
        </p:spPr>
        <p:txBody>
          <a:bodyPr wrap="square" lIns="0" rIns="0" tIns="0" bIns="0" anchor="t">
            <a:noAutofit/>
          </a:bodyPr>
          <a:lstStyle/>
          <a:p>
            <a:pPr algn="ctr">
              <a:lnSpc>
                <a:spcPts val="1650"/>
              </a:lnSpc>
              <a:spcBef>
                <a:spcPts val="0"/>
              </a:spcBef>
              <a:spcAft>
                <a:spcPts val="0"/>
              </a:spcAft>
            </a:pPr>
            <a:r>
              <a:rPr sz="975" b="1" i="0">
                <a:solidFill>
                  <a:srgbClr val="FFFFFF"/>
                </a:solidFill>
                <a:latin typeface="Arial"/>
              </a:rPr>
              <a:t>2</a:t>
            </a:r>
          </a:p>
        </p:txBody>
      </p:sp>
      <p:sp>
        <p:nvSpPr>
          <p:cNvPr id="23" name="Oval 22"/>
          <p:cNvSpPr/>
          <p:nvPr/>
        </p:nvSpPr>
        <p:spPr>
          <a:xfrm>
            <a:off x="9762232" y="3273028"/>
            <a:ext cx="228600" cy="228600"/>
          </a:xfrm>
          <a:prstGeom prst="ellipse">
            <a:avLst/>
          </a:prstGeom>
          <a:solidFill>
            <a:srgbClr val="FF8300"/>
          </a:solidFill>
          <a:ln w="19050">
            <a:solidFill>
              <a:srgbClr val="FFFFFF"/>
            </a:solidFill>
          </a:ln>
        </p:spPr>
        <p:txBody>
          <a:bodyPr rtlCol="0" anchor="ctr"/>
          <a:lstStyle/>
          <a:p>
            <a:pPr algn="ctr"/>
          </a:p>
        </p:txBody>
      </p:sp>
      <p:sp>
        <p:nvSpPr>
          <p:cNvPr id="24" name="TextBox 23"/>
          <p:cNvSpPr txBox="1"/>
          <p:nvPr/>
        </p:nvSpPr>
        <p:spPr>
          <a:xfrm>
            <a:off x="9733657" y="3282553"/>
            <a:ext cx="285750" cy="209550"/>
          </a:xfrm>
          <a:prstGeom prst="rect">
            <a:avLst/>
          </a:prstGeom>
          <a:noFill/>
        </p:spPr>
        <p:txBody>
          <a:bodyPr wrap="square" lIns="0" rIns="0" tIns="0" bIns="0" anchor="t">
            <a:noAutofit/>
          </a:bodyPr>
          <a:lstStyle/>
          <a:p>
            <a:pPr algn="ctr">
              <a:lnSpc>
                <a:spcPts val="1650"/>
              </a:lnSpc>
              <a:spcBef>
                <a:spcPts val="0"/>
              </a:spcBef>
              <a:spcAft>
                <a:spcPts val="0"/>
              </a:spcAft>
            </a:pPr>
            <a:r>
              <a:rPr sz="975" b="1" i="0">
                <a:solidFill>
                  <a:srgbClr val="FFFFFF"/>
                </a:solidFill>
                <a:latin typeface="Arial"/>
              </a:rPr>
              <a:t>3</a:t>
            </a:r>
          </a:p>
        </p:txBody>
      </p:sp>
      <p:sp>
        <p:nvSpPr>
          <p:cNvPr id="25" name="Oval 24"/>
          <p:cNvSpPr/>
          <p:nvPr/>
        </p:nvSpPr>
        <p:spPr>
          <a:xfrm>
            <a:off x="9624715" y="2335262"/>
            <a:ext cx="228600" cy="228600"/>
          </a:xfrm>
          <a:prstGeom prst="ellipse">
            <a:avLst/>
          </a:prstGeom>
          <a:solidFill>
            <a:srgbClr val="FF8300"/>
          </a:solidFill>
          <a:ln w="19050">
            <a:solidFill>
              <a:srgbClr val="FFFFFF"/>
            </a:solidFill>
          </a:ln>
        </p:spPr>
        <p:txBody>
          <a:bodyPr rtlCol="0" anchor="ctr"/>
          <a:lstStyle/>
          <a:p>
            <a:pPr algn="ctr"/>
          </a:p>
        </p:txBody>
      </p:sp>
      <p:sp>
        <p:nvSpPr>
          <p:cNvPr id="26" name="TextBox 25"/>
          <p:cNvSpPr txBox="1"/>
          <p:nvPr/>
        </p:nvSpPr>
        <p:spPr>
          <a:xfrm>
            <a:off x="9596140" y="2344787"/>
            <a:ext cx="285750" cy="209550"/>
          </a:xfrm>
          <a:prstGeom prst="rect">
            <a:avLst/>
          </a:prstGeom>
          <a:noFill/>
        </p:spPr>
        <p:txBody>
          <a:bodyPr wrap="square" lIns="0" rIns="0" tIns="0" bIns="0" anchor="t">
            <a:noAutofit/>
          </a:bodyPr>
          <a:lstStyle/>
          <a:p>
            <a:pPr algn="ctr">
              <a:lnSpc>
                <a:spcPts val="1650"/>
              </a:lnSpc>
              <a:spcBef>
                <a:spcPts val="0"/>
              </a:spcBef>
              <a:spcAft>
                <a:spcPts val="0"/>
              </a:spcAft>
            </a:pPr>
            <a:r>
              <a:rPr sz="975" b="1" i="0">
                <a:solidFill>
                  <a:srgbClr val="FFFFFF"/>
                </a:solidFill>
                <a:latin typeface="Arial"/>
              </a:rPr>
              <a:t>4</a:t>
            </a:r>
          </a:p>
        </p:txBody>
      </p:sp>
      <p:pic>
        <p:nvPicPr>
          <p:cNvPr id="27" name="Picture 26" descr="ws-steps.png"/>
          <p:cNvPicPr>
            <a:picLocks noChangeAspect="1"/>
          </p:cNvPicPr>
          <p:nvPr/>
        </p:nvPicPr>
        <p:blipFill>
          <a:blip r:embed="rId3"/>
          <a:stretch>
            <a:fillRect/>
          </a:stretch>
        </p:blipFill>
        <p:spPr>
          <a:xfrm>
            <a:off x="8486775" y="4095750"/>
            <a:ext cx="2990850" cy="1943100"/>
          </a:xfrm>
          <a:prstGeom prst="rect">
            <a:avLst/>
          </a:prstGeom>
        </p:spPr>
      </p:pic>
      <p:sp>
        <p:nvSpPr>
          <p:cNvPr id="28" name="Rectangle 27"/>
          <p:cNvSpPr/>
          <p:nvPr/>
        </p:nvSpPr>
        <p:spPr>
          <a:xfrm>
            <a:off x="8472488" y="4081462"/>
            <a:ext cx="3019425" cy="1971675"/>
          </a:xfrm>
          <a:prstGeom prst="rect">
            <a:avLst/>
          </a:prstGeom>
          <a:noFill/>
          <a:ln w="28575">
            <a:solidFill>
              <a:srgbClr val="FFFFFF"/>
            </a:solidFill>
          </a:ln>
        </p:spPr>
        <p:txBody>
          <a:bodyPr rtlCol="0" anchor="ctr"/>
          <a:lstStyle/>
          <a:p>
            <a:pPr algn="ctr"/>
          </a:p>
        </p:txBody>
      </p:sp>
      <p:sp>
        <p:nvSpPr>
          <p:cNvPr id="29" name="Rectangle 28"/>
          <p:cNvSpPr/>
          <p:nvPr/>
        </p:nvSpPr>
        <p:spPr>
          <a:xfrm>
            <a:off x="8453438" y="4062412"/>
            <a:ext cx="3057525" cy="2009775"/>
          </a:xfrm>
          <a:prstGeom prst="rect">
            <a:avLst/>
          </a:prstGeom>
          <a:noFill/>
          <a:ln w="9525">
            <a:solidFill>
              <a:srgbClr val="C9C9C4"/>
            </a:solidFill>
          </a:ln>
        </p:spPr>
        <p:txBody>
          <a:bodyPr rtlCol="0" anchor="ctr"/>
          <a:lstStyle/>
          <a:p>
            <a:pPr algn="ctr"/>
          </a:p>
        </p:txBody>
      </p:sp>
      <p:sp>
        <p:nvSpPr>
          <p:cNvPr id="30" name="TextBox 29"/>
          <p:cNvSpPr txBox="1"/>
          <p:nvPr/>
        </p:nvSpPr>
        <p:spPr>
          <a:xfrm>
            <a:off x="4953000" y="5000625"/>
            <a:ext cx="3409950" cy="361950"/>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Live production screens, 4 October 2026. Station names blurred.</a:t>
            </a:r>
          </a:p>
        </p:txBody>
      </p:sp>
      <p:sp>
        <p:nvSpPr>
          <p:cNvPr id="31" name="TextBox 30"/>
          <p:cNvSpPr txBox="1"/>
          <p:nvPr/>
        </p:nvSpPr>
        <p:spPr>
          <a:xfrm>
            <a:off x="4953000" y="5362575"/>
            <a:ext cx="3409950" cy="361950"/>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2B2B2B"/>
                </a:solidFill>
                <a:latin typeface="Arial"/>
              </a:rPr>
              <a:t>Inset: View Recommended Steps. The first action is marked Do first.</a:t>
            </a:r>
          </a:p>
        </p:txBody>
      </p:sp>
      <p:sp>
        <p:nvSpPr>
          <p:cNvPr id="32" name="TextBox 31"/>
          <p:cNvSpPr txBox="1"/>
          <p:nvPr/>
        </p:nvSpPr>
        <p:spPr>
          <a:xfrm>
            <a:off x="609600" y="6496050"/>
            <a:ext cx="5791200" cy="152400"/>
          </a:xfrm>
          <a:prstGeom prst="rect">
            <a:avLst/>
          </a:prstGeom>
          <a:noFill/>
        </p:spPr>
        <p:txBody>
          <a:bodyPr wrap="square" lIns="0" rIns="0" tIns="0" bIns="0" anchor="t">
            <a:noAutofit/>
          </a:bodyPr>
          <a:lstStyle/>
          <a:p>
            <a:pPr algn="l">
              <a:lnSpc>
                <a:spcPts val="1200"/>
              </a:lnSpc>
              <a:spcBef>
                <a:spcPts val="0"/>
              </a:spcBef>
              <a:spcAft>
                <a:spcPts val="0"/>
              </a:spcAft>
            </a:pPr>
            <a:r>
              <a:rPr sz="900" b="0" i="0">
                <a:solidFill>
                  <a:srgbClr val="6B6B6B"/>
                </a:solidFill>
                <a:latin typeface="Arial"/>
              </a:rPr>
              <a:t>Connected Environment 1.0 · Internal</a:t>
            </a:r>
          </a:p>
        </p:txBody>
      </p:sp>
      <p:sp>
        <p:nvSpPr>
          <p:cNvPr id="33" name="TextBox 32"/>
          <p:cNvSpPr txBox="1"/>
          <p:nvPr/>
        </p:nvSpPr>
        <p:spPr>
          <a:xfrm>
            <a:off x="10553700" y="6496050"/>
            <a:ext cx="1028700" cy="152400"/>
          </a:xfrm>
          <a:prstGeom prst="rect">
            <a:avLst/>
          </a:prstGeom>
          <a:noFill/>
        </p:spPr>
        <p:txBody>
          <a:bodyPr wrap="square" lIns="0" rIns="0" tIns="0" bIns="0" anchor="t">
            <a:noAutofit/>
          </a:bodyPr>
          <a:lstStyle/>
          <a:p>
            <a:pPr algn="r">
              <a:lnSpc>
                <a:spcPts val="1200"/>
              </a:lnSpc>
              <a:spcBef>
                <a:spcPts val="0"/>
              </a:spcBef>
              <a:spcAft>
                <a:spcPts val="0"/>
              </a:spcAft>
            </a:pPr>
            <a:r>
              <a:rPr sz="900" b="0" i="0">
                <a:solidFill>
                  <a:srgbClr val="6B6B6B"/>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itle 1"/>
          <p:cNvSpPr>
            <a:spLocks noGrp="1"/>
          </p:cNvSpPr>
          <p:nvPr>
            <p:ph type="title"/>
          </p:nvPr>
        </p:nvSpPr>
        <p:spPr>
          <a:xfrm>
            <a:off x="609600" y="876300"/>
            <a:ext cx="11049000" cy="419100"/>
          </a:xfrm>
        </p:spPr>
        <p:txBody>
          <a:bodyPr wrap="square" lIns="0" rIns="0" tIns="0" bIns="0" anchor="t">
            <a:noAutofit/>
          </a:bodyPr>
          <a:lstStyle/>
          <a:p>
            <a:pPr algn="l">
              <a:lnSpc>
                <a:spcPts val="3300"/>
              </a:lnSpc>
              <a:spcBef>
                <a:spcPts val="0"/>
              </a:spcBef>
              <a:spcAft>
                <a:spcPts val="0"/>
              </a:spcAft>
            </a:pPr>
            <a:r>
              <a:rPr sz="2850" b="1" i="0">
                <a:solidFill>
                  <a:srgbClr val="0C0C0C"/>
                </a:solidFill>
                <a:latin typeface="Arial"/>
              </a:rPr>
              <a:t>Look back at the heat. Check what stops work.</a:t>
            </a:r>
          </a:p>
        </p:txBody>
      </p:sp>
      <p:sp>
        <p:nvSpPr>
          <p:cNvPr id="3" name="Rectangle 2"/>
          <p:cNvSpPr/>
          <p:nvPr/>
        </p:nvSpPr>
        <p:spPr>
          <a:xfrm>
            <a:off x="609600" y="495300"/>
            <a:ext cx="381000" cy="47625"/>
          </a:xfrm>
          <a:prstGeom prst="rect">
            <a:avLst/>
          </a:prstGeom>
          <a:solidFill>
            <a:srgbClr val="FF8300"/>
          </a:solidFill>
          <a:ln>
            <a:noFill/>
          </a:ln>
        </p:spPr>
        <p:txBody>
          <a:bodyPr rtlCol="0" anchor="ctr"/>
          <a:lstStyle/>
          <a:p>
            <a:pPr algn="ctr"/>
          </a:p>
        </p:txBody>
      </p:sp>
      <p:sp>
        <p:nvSpPr>
          <p:cNvPr id="4" name="TextBox 3"/>
          <p:cNvSpPr txBox="1"/>
          <p:nvPr/>
        </p:nvSpPr>
        <p:spPr>
          <a:xfrm>
            <a:off x="609600" y="647700"/>
            <a:ext cx="96012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WEATHER STATION · REPORTS AND SAFETY POLICY</a:t>
            </a:r>
          </a:p>
        </p:txBody>
      </p:sp>
      <p:sp>
        <p:nvSpPr>
          <p:cNvPr id="5" name="TextBox 4"/>
          <p:cNvSpPr txBox="1"/>
          <p:nvPr/>
        </p:nvSpPr>
        <p:spPr>
          <a:xfrm>
            <a:off x="609600" y="1638300"/>
            <a:ext cx="53340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REPORTS</a:t>
            </a:r>
          </a:p>
        </p:txBody>
      </p:sp>
      <p:sp>
        <p:nvSpPr>
          <p:cNvPr id="6" name="TextBox 5"/>
          <p:cNvSpPr txBox="1"/>
          <p:nvPr/>
        </p:nvSpPr>
        <p:spPr>
          <a:xfrm>
            <a:off x="609600" y="1828800"/>
            <a:ext cx="5334000" cy="295275"/>
          </a:xfrm>
          <a:prstGeom prst="rect">
            <a:avLst/>
          </a:prstGeom>
          <a:noFill/>
        </p:spPr>
        <p:txBody>
          <a:bodyPr wrap="square" lIns="0" rIns="0" tIns="0" bIns="0" anchor="t">
            <a:noAutofit/>
          </a:bodyPr>
          <a:lstStyle/>
          <a:p>
            <a:pPr algn="l">
              <a:lnSpc>
                <a:spcPts val="2325"/>
              </a:lnSpc>
              <a:spcBef>
                <a:spcPts val="0"/>
              </a:spcBef>
              <a:spcAft>
                <a:spcPts val="0"/>
              </a:spcAft>
            </a:pPr>
            <a:r>
              <a:rPr sz="1875" b="1" i="0">
                <a:solidFill>
                  <a:srgbClr val="0C0C0C"/>
                </a:solidFill>
                <a:latin typeface="Arial"/>
              </a:rPr>
              <a:t>Maximum Values Report</a:t>
            </a:r>
          </a:p>
        </p:txBody>
      </p:sp>
      <p:pic>
        <p:nvPicPr>
          <p:cNvPr id="7" name="Picture 6" descr="ws-reports.png"/>
          <p:cNvPicPr>
            <a:picLocks noChangeAspect="1"/>
          </p:cNvPicPr>
          <p:nvPr/>
        </p:nvPicPr>
        <p:blipFill>
          <a:blip r:embed="rId2"/>
          <a:stretch>
            <a:fillRect/>
          </a:stretch>
        </p:blipFill>
        <p:spPr>
          <a:xfrm>
            <a:off x="619125" y="2257425"/>
            <a:ext cx="5238750" cy="2219325"/>
          </a:xfrm>
          <a:prstGeom prst="rect">
            <a:avLst/>
          </a:prstGeom>
        </p:spPr>
      </p:pic>
      <p:sp>
        <p:nvSpPr>
          <p:cNvPr id="8" name="Rectangle 7"/>
          <p:cNvSpPr/>
          <p:nvPr/>
        </p:nvSpPr>
        <p:spPr>
          <a:xfrm>
            <a:off x="614362" y="2252662"/>
            <a:ext cx="5248275" cy="2228850"/>
          </a:xfrm>
          <a:prstGeom prst="rect">
            <a:avLst/>
          </a:prstGeom>
          <a:noFill/>
          <a:ln w="9525">
            <a:solidFill>
              <a:srgbClr val="C9C9C4"/>
            </a:solidFill>
          </a:ln>
        </p:spPr>
        <p:txBody>
          <a:bodyPr rtlCol="0" anchor="ctr"/>
          <a:lstStyle/>
          <a:p>
            <a:pPr algn="ctr"/>
          </a:p>
        </p:txBody>
      </p:sp>
      <p:sp>
        <p:nvSpPr>
          <p:cNvPr id="9" name="TextBox 8"/>
          <p:cNvSpPr txBox="1"/>
          <p:nvPr/>
        </p:nvSpPr>
        <p:spPr>
          <a:xfrm>
            <a:off x="6324600" y="1638300"/>
            <a:ext cx="53340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SETTINGS, WEATHER STATION</a:t>
            </a:r>
          </a:p>
        </p:txBody>
      </p:sp>
      <p:sp>
        <p:nvSpPr>
          <p:cNvPr id="10" name="TextBox 9"/>
          <p:cNvSpPr txBox="1"/>
          <p:nvPr/>
        </p:nvSpPr>
        <p:spPr>
          <a:xfrm>
            <a:off x="6324600" y="1828800"/>
            <a:ext cx="5334000" cy="295275"/>
          </a:xfrm>
          <a:prstGeom prst="rect">
            <a:avLst/>
          </a:prstGeom>
          <a:noFill/>
        </p:spPr>
        <p:txBody>
          <a:bodyPr wrap="square" lIns="0" rIns="0" tIns="0" bIns="0" anchor="t">
            <a:noAutofit/>
          </a:bodyPr>
          <a:lstStyle/>
          <a:p>
            <a:pPr algn="l">
              <a:lnSpc>
                <a:spcPts val="2325"/>
              </a:lnSpc>
              <a:spcBef>
                <a:spcPts val="0"/>
              </a:spcBef>
              <a:spcAft>
                <a:spcPts val="0"/>
              </a:spcAft>
            </a:pPr>
            <a:r>
              <a:rPr sz="1875" b="1" i="0">
                <a:solidFill>
                  <a:srgbClr val="0C0C0C"/>
                </a:solidFill>
                <a:latin typeface="Arial"/>
              </a:rPr>
              <a:t>Site Safety Policy</a:t>
            </a:r>
          </a:p>
        </p:txBody>
      </p:sp>
      <p:pic>
        <p:nvPicPr>
          <p:cNvPr id="11" name="Picture 10" descr="ws-limits.png"/>
          <p:cNvPicPr>
            <a:picLocks noChangeAspect="1"/>
          </p:cNvPicPr>
          <p:nvPr/>
        </p:nvPicPr>
        <p:blipFill>
          <a:blip r:embed="rId3"/>
          <a:stretch>
            <a:fillRect/>
          </a:stretch>
        </p:blipFill>
        <p:spPr>
          <a:xfrm>
            <a:off x="6334125" y="2257425"/>
            <a:ext cx="5238750" cy="2219325"/>
          </a:xfrm>
          <a:prstGeom prst="rect">
            <a:avLst/>
          </a:prstGeom>
        </p:spPr>
      </p:pic>
      <p:sp>
        <p:nvSpPr>
          <p:cNvPr id="12" name="Rectangle 11"/>
          <p:cNvSpPr/>
          <p:nvPr/>
        </p:nvSpPr>
        <p:spPr>
          <a:xfrm>
            <a:off x="6329362" y="2252662"/>
            <a:ext cx="5248275" cy="2228850"/>
          </a:xfrm>
          <a:prstGeom prst="rect">
            <a:avLst/>
          </a:prstGeom>
          <a:noFill/>
          <a:ln w="9525">
            <a:solidFill>
              <a:srgbClr val="C9C9C4"/>
            </a:solidFill>
          </a:ln>
        </p:spPr>
        <p:txBody>
          <a:bodyPr rtlCol="0" anchor="ctr"/>
          <a:lstStyle/>
          <a:p>
            <a:pPr algn="ctr"/>
          </a:p>
        </p:txBody>
      </p:sp>
      <p:sp>
        <p:nvSpPr>
          <p:cNvPr id="13" name="Oval 12"/>
          <p:cNvSpPr/>
          <p:nvPr/>
        </p:nvSpPr>
        <p:spPr>
          <a:xfrm>
            <a:off x="609600" y="4781550"/>
            <a:ext cx="95250" cy="95250"/>
          </a:xfrm>
          <a:prstGeom prst="ellipse">
            <a:avLst/>
          </a:prstGeom>
          <a:solidFill>
            <a:srgbClr val="FF8300"/>
          </a:solidFill>
          <a:ln>
            <a:noFill/>
          </a:ln>
        </p:spPr>
        <p:txBody>
          <a:bodyPr rtlCol="0" anchor="ctr"/>
          <a:lstStyle/>
          <a:p>
            <a:pPr algn="ctr"/>
          </a:p>
        </p:txBody>
      </p:sp>
      <p:sp>
        <p:nvSpPr>
          <p:cNvPr id="14" name="TextBox 13"/>
          <p:cNvSpPr txBox="1"/>
          <p:nvPr/>
        </p:nvSpPr>
        <p:spPr>
          <a:xfrm>
            <a:off x="838200" y="4695825"/>
            <a:ext cx="5105400" cy="219075"/>
          </a:xfrm>
          <a:prstGeom prst="rect">
            <a:avLst/>
          </a:prstGeom>
          <a:noFill/>
        </p:spPr>
        <p:txBody>
          <a:bodyPr wrap="square" lIns="0" rIns="0" tIns="0" bIns="0" anchor="t">
            <a:noAutofit/>
          </a:bodyPr>
          <a:lstStyle/>
          <a:p>
            <a:pPr algn="l">
              <a:lnSpc>
                <a:spcPts val="1725"/>
              </a:lnSpc>
              <a:spcBef>
                <a:spcPts val="0"/>
              </a:spcBef>
              <a:spcAft>
                <a:spcPts val="0"/>
              </a:spcAft>
            </a:pPr>
            <a:r>
              <a:rPr sz="1200" b="0" i="0">
                <a:solidFill>
                  <a:srgbClr val="2B2B2B"/>
                </a:solidFill>
                <a:latin typeface="Arial"/>
              </a:rPr>
              <a:t>Pick a period, today to the last 30 days, or a custom range.</a:t>
            </a:r>
          </a:p>
        </p:txBody>
      </p:sp>
      <p:sp>
        <p:nvSpPr>
          <p:cNvPr id="15" name="Oval 14"/>
          <p:cNvSpPr/>
          <p:nvPr/>
        </p:nvSpPr>
        <p:spPr>
          <a:xfrm>
            <a:off x="609600" y="5095875"/>
            <a:ext cx="95250" cy="95250"/>
          </a:xfrm>
          <a:prstGeom prst="ellipse">
            <a:avLst/>
          </a:prstGeom>
          <a:solidFill>
            <a:srgbClr val="FF8300"/>
          </a:solidFill>
          <a:ln>
            <a:noFill/>
          </a:ln>
        </p:spPr>
        <p:txBody>
          <a:bodyPr rtlCol="0" anchor="ctr"/>
          <a:lstStyle/>
          <a:p>
            <a:pPr algn="ctr"/>
          </a:p>
        </p:txBody>
      </p:sp>
      <p:sp>
        <p:nvSpPr>
          <p:cNvPr id="16" name="TextBox 15"/>
          <p:cNvSpPr txBox="1"/>
          <p:nvPr/>
        </p:nvSpPr>
        <p:spPr>
          <a:xfrm>
            <a:off x="838200" y="5010150"/>
            <a:ext cx="5105400" cy="438150"/>
          </a:xfrm>
          <a:prstGeom prst="rect">
            <a:avLst/>
          </a:prstGeom>
          <a:noFill/>
        </p:spPr>
        <p:txBody>
          <a:bodyPr wrap="square" lIns="0" rIns="0" tIns="0" bIns="0" anchor="t">
            <a:noAutofit/>
          </a:bodyPr>
          <a:lstStyle/>
          <a:p>
            <a:pPr algn="l">
              <a:lnSpc>
                <a:spcPts val="1725"/>
              </a:lnSpc>
              <a:spcBef>
                <a:spcPts val="0"/>
              </a:spcBef>
              <a:spcAft>
                <a:spcPts val="0"/>
              </a:spcAft>
            </a:pPr>
            <a:r>
              <a:rPr sz="1200" b="0" i="0">
                <a:solidFill>
                  <a:srgbClr val="2B2B2B"/>
                </a:solidFill>
                <a:latin typeface="Arial"/>
              </a:rPr>
              <a:t>Peak heat index and peak wind speed, a daily breakdown, and an Excel export.</a:t>
            </a:r>
          </a:p>
        </p:txBody>
      </p:sp>
      <p:sp>
        <p:nvSpPr>
          <p:cNvPr id="17" name="Oval 16"/>
          <p:cNvSpPr/>
          <p:nvPr/>
        </p:nvSpPr>
        <p:spPr>
          <a:xfrm>
            <a:off x="6324600" y="4781550"/>
            <a:ext cx="95250" cy="95250"/>
          </a:xfrm>
          <a:prstGeom prst="ellipse">
            <a:avLst/>
          </a:prstGeom>
          <a:solidFill>
            <a:srgbClr val="FF8300"/>
          </a:solidFill>
          <a:ln>
            <a:noFill/>
          </a:ln>
        </p:spPr>
        <p:txBody>
          <a:bodyPr rtlCol="0" anchor="ctr"/>
          <a:lstStyle/>
          <a:p>
            <a:pPr algn="ctr"/>
          </a:p>
        </p:txBody>
      </p:sp>
      <p:sp>
        <p:nvSpPr>
          <p:cNvPr id="18" name="TextBox 17"/>
          <p:cNvSpPr txBox="1"/>
          <p:nvPr/>
        </p:nvSpPr>
        <p:spPr>
          <a:xfrm>
            <a:off x="6553200" y="4695825"/>
            <a:ext cx="5105400" cy="438150"/>
          </a:xfrm>
          <a:prstGeom prst="rect">
            <a:avLst/>
          </a:prstGeom>
          <a:noFill/>
        </p:spPr>
        <p:txBody>
          <a:bodyPr wrap="square" lIns="0" rIns="0" tIns="0" bIns="0" anchor="t">
            <a:noAutofit/>
          </a:bodyPr>
          <a:lstStyle/>
          <a:p>
            <a:pPr algn="l">
              <a:lnSpc>
                <a:spcPts val="1725"/>
              </a:lnSpc>
              <a:spcBef>
                <a:spcPts val="0"/>
              </a:spcBef>
              <a:spcAft>
                <a:spcPts val="0"/>
              </a:spcAft>
            </a:pPr>
            <a:r>
              <a:rPr sz="1200" b="0" i="0">
                <a:solidFill>
                  <a:srgbClr val="2B2B2B"/>
                </a:solidFill>
                <a:latin typeface="Arial"/>
              </a:rPr>
              <a:t>Temperature and wind limits show what they would have done in the last 30 days.</a:t>
            </a:r>
          </a:p>
        </p:txBody>
      </p:sp>
      <p:sp>
        <p:nvSpPr>
          <p:cNvPr id="19" name="Oval 18"/>
          <p:cNvSpPr/>
          <p:nvPr/>
        </p:nvSpPr>
        <p:spPr>
          <a:xfrm>
            <a:off x="6324600" y="5314950"/>
            <a:ext cx="95250" cy="95250"/>
          </a:xfrm>
          <a:prstGeom prst="ellipse">
            <a:avLst/>
          </a:prstGeom>
          <a:solidFill>
            <a:srgbClr val="FF8300"/>
          </a:solidFill>
          <a:ln>
            <a:noFill/>
          </a:ln>
        </p:spPr>
        <p:txBody>
          <a:bodyPr rtlCol="0" anchor="ctr"/>
          <a:lstStyle/>
          <a:p>
            <a:pPr algn="ctr"/>
          </a:p>
        </p:txBody>
      </p:sp>
      <p:sp>
        <p:nvSpPr>
          <p:cNvPr id="20" name="TextBox 19"/>
          <p:cNvSpPr txBox="1"/>
          <p:nvPr/>
        </p:nvSpPr>
        <p:spPr>
          <a:xfrm>
            <a:off x="6553200" y="5229225"/>
            <a:ext cx="5105400" cy="438150"/>
          </a:xfrm>
          <a:prstGeom prst="rect">
            <a:avLst/>
          </a:prstGeom>
          <a:noFill/>
        </p:spPr>
        <p:txBody>
          <a:bodyPr wrap="square" lIns="0" rIns="0" tIns="0" bIns="0" anchor="t">
            <a:noAutofit/>
          </a:bodyPr>
          <a:lstStyle/>
          <a:p>
            <a:pPr algn="l">
              <a:lnSpc>
                <a:spcPts val="1725"/>
              </a:lnSpc>
              <a:spcBef>
                <a:spcPts val="0"/>
              </a:spcBef>
              <a:spcAft>
                <a:spcPts val="0"/>
              </a:spcAft>
            </a:pPr>
            <a:r>
              <a:rPr sz="1200" b="0" i="0">
                <a:solidFill>
                  <a:srgbClr val="2B2B2B"/>
                </a:solidFill>
                <a:latin typeface="Arial"/>
              </a:rPr>
              <a:t>Heat index bands, each with its own work, rest and water settings. A Change history tab lists changes.</a:t>
            </a:r>
          </a:p>
        </p:txBody>
      </p:sp>
      <p:sp>
        <p:nvSpPr>
          <p:cNvPr id="21" name="Rounded Rectangle 20"/>
          <p:cNvSpPr/>
          <p:nvPr/>
        </p:nvSpPr>
        <p:spPr>
          <a:xfrm>
            <a:off x="614362" y="5738812"/>
            <a:ext cx="10963275" cy="485775"/>
          </a:xfrm>
          <a:prstGeom prst="roundRect">
            <a:avLst>
              <a:gd name="adj" fmla="val 22549"/>
            </a:avLst>
          </a:prstGeom>
          <a:solidFill>
            <a:srgbClr val="FFF1E0"/>
          </a:solidFill>
          <a:ln w="9525">
            <a:solidFill>
              <a:srgbClr val="F3C894"/>
            </a:solidFill>
          </a:ln>
        </p:spPr>
        <p:txBody>
          <a:bodyPr rtlCol="0" anchor="ctr"/>
          <a:lstStyle/>
          <a:p>
            <a:pPr algn="ctr"/>
          </a:p>
        </p:txBody>
      </p:sp>
      <p:sp>
        <p:nvSpPr>
          <p:cNvPr id="22" name="Rounded Rectangle 21"/>
          <p:cNvSpPr/>
          <p:nvPr/>
        </p:nvSpPr>
        <p:spPr>
          <a:xfrm>
            <a:off x="766762" y="5843588"/>
            <a:ext cx="981075" cy="276225"/>
          </a:xfrm>
          <a:prstGeom prst="roundRect">
            <a:avLst>
              <a:gd name="adj" fmla="val 50000"/>
            </a:avLst>
          </a:prstGeom>
          <a:solidFill>
            <a:srgbClr val="FFFFFF"/>
          </a:solidFill>
          <a:ln w="9525">
            <a:solidFill>
              <a:srgbClr val="B85C00"/>
            </a:solidFill>
          </a:ln>
        </p:spPr>
        <p:txBody>
          <a:bodyPr rtlCol="0" anchor="ctr"/>
          <a:lstStyle/>
          <a:p>
            <a:pPr algn="ctr"/>
          </a:p>
        </p:txBody>
      </p:sp>
      <p:sp>
        <p:nvSpPr>
          <p:cNvPr id="23" name="TextBox 22"/>
          <p:cNvSpPr txBox="1"/>
          <p:nvPr/>
        </p:nvSpPr>
        <p:spPr>
          <a:xfrm>
            <a:off x="733425" y="5848350"/>
            <a:ext cx="1047750" cy="266700"/>
          </a:xfrm>
          <a:prstGeom prst="rect">
            <a:avLst/>
          </a:prstGeom>
          <a:noFill/>
        </p:spPr>
        <p:txBody>
          <a:bodyPr wrap="none" lIns="0" rIns="0" tIns="0" bIns="0" anchor="t">
            <a:noAutofit/>
          </a:bodyPr>
          <a:lstStyle/>
          <a:p>
            <a:pPr algn="ctr">
              <a:lnSpc>
                <a:spcPts val="2100"/>
              </a:lnSpc>
              <a:spcBef>
                <a:spcPts val="0"/>
              </a:spcBef>
              <a:spcAft>
                <a:spcPts val="0"/>
              </a:spcAft>
            </a:pPr>
            <a:r>
              <a:rPr sz="825" b="1" i="0" spc="75">
                <a:solidFill>
                  <a:srgbClr val="B85C00"/>
                </a:solidFill>
                <a:latin typeface="Arial"/>
              </a:rPr>
              <a:t>CAREFUL</a:t>
            </a:r>
          </a:p>
        </p:txBody>
      </p:sp>
      <p:sp>
        <p:nvSpPr>
          <p:cNvPr id="24" name="TextBox 23"/>
          <p:cNvSpPr txBox="1"/>
          <p:nvPr/>
        </p:nvSpPr>
        <p:spPr>
          <a:xfrm>
            <a:off x="1905000" y="5867400"/>
            <a:ext cx="9601200" cy="228600"/>
          </a:xfrm>
          <a:prstGeom prst="rect">
            <a:avLst/>
          </a:prstGeom>
          <a:noFill/>
        </p:spPr>
        <p:txBody>
          <a:bodyPr wrap="square" lIns="0" rIns="0" tIns="0" bIns="0" anchor="t">
            <a:noAutofit/>
          </a:bodyPr>
          <a:lstStyle/>
          <a:p>
            <a:pPr algn="l">
              <a:lnSpc>
                <a:spcPts val="1800"/>
              </a:lnSpc>
              <a:spcBef>
                <a:spcPts val="0"/>
              </a:spcBef>
              <a:spcAft>
                <a:spcPts val="0"/>
              </a:spcAft>
            </a:pPr>
            <a:r>
              <a:rPr sz="1200" b="0" i="0">
                <a:solidFill>
                  <a:srgbClr val="2B2B2B"/>
                </a:solidFill>
                <a:latin typeface="Arial"/>
              </a:rPr>
              <a:t>The page warns: changing anything here changes when work stops, for everyone on the project.</a:t>
            </a:r>
          </a:p>
        </p:txBody>
      </p:sp>
      <p:sp>
        <p:nvSpPr>
          <p:cNvPr id="25" name="TextBox 24"/>
          <p:cNvSpPr txBox="1"/>
          <p:nvPr/>
        </p:nvSpPr>
        <p:spPr>
          <a:xfrm>
            <a:off x="609600" y="6496050"/>
            <a:ext cx="5791200" cy="152400"/>
          </a:xfrm>
          <a:prstGeom prst="rect">
            <a:avLst/>
          </a:prstGeom>
          <a:noFill/>
        </p:spPr>
        <p:txBody>
          <a:bodyPr wrap="square" lIns="0" rIns="0" tIns="0" bIns="0" anchor="t">
            <a:noAutofit/>
          </a:bodyPr>
          <a:lstStyle/>
          <a:p>
            <a:pPr algn="l">
              <a:lnSpc>
                <a:spcPts val="1200"/>
              </a:lnSpc>
              <a:spcBef>
                <a:spcPts val="0"/>
              </a:spcBef>
              <a:spcAft>
                <a:spcPts val="0"/>
              </a:spcAft>
            </a:pPr>
            <a:r>
              <a:rPr sz="900" b="0" i="0">
                <a:solidFill>
                  <a:srgbClr val="6B6B6B"/>
                </a:solidFill>
                <a:latin typeface="Arial"/>
              </a:rPr>
              <a:t>Connected Environment 1.0 · Internal</a:t>
            </a:r>
          </a:p>
        </p:txBody>
      </p:sp>
      <p:sp>
        <p:nvSpPr>
          <p:cNvPr id="26" name="TextBox 25"/>
          <p:cNvSpPr txBox="1"/>
          <p:nvPr/>
        </p:nvSpPr>
        <p:spPr>
          <a:xfrm>
            <a:off x="10553700" y="6496050"/>
            <a:ext cx="1028700" cy="152400"/>
          </a:xfrm>
          <a:prstGeom prst="rect">
            <a:avLst/>
          </a:prstGeom>
          <a:noFill/>
        </p:spPr>
        <p:txBody>
          <a:bodyPr wrap="square" lIns="0" rIns="0" tIns="0" bIns="0" anchor="t">
            <a:noAutofit/>
          </a:bodyPr>
          <a:lstStyle/>
          <a:p>
            <a:pPr algn="r">
              <a:lnSpc>
                <a:spcPts val="1200"/>
              </a:lnSpc>
              <a:spcBef>
                <a:spcPts val="0"/>
              </a:spcBef>
              <a:spcAft>
                <a:spcPts val="0"/>
              </a:spcAft>
            </a:pPr>
            <a:r>
              <a:rPr sz="900" b="0" i="0">
                <a:solidFill>
                  <a:srgbClr val="6B6B6B"/>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itle 1"/>
          <p:cNvSpPr>
            <a:spLocks noGrp="1"/>
          </p:cNvSpPr>
          <p:nvPr>
            <p:ph type="title"/>
          </p:nvPr>
        </p:nvSpPr>
        <p:spPr>
          <a:xfrm>
            <a:off x="609600" y="876300"/>
            <a:ext cx="11049000" cy="419100"/>
          </a:xfrm>
        </p:spPr>
        <p:txBody>
          <a:bodyPr wrap="square" lIns="0" rIns="0" tIns="0" bIns="0" anchor="t">
            <a:noAutofit/>
          </a:bodyPr>
          <a:lstStyle/>
          <a:p>
            <a:pPr algn="l">
              <a:lnSpc>
                <a:spcPts val="3300"/>
              </a:lnSpc>
              <a:spcBef>
                <a:spcPts val="0"/>
              </a:spcBef>
              <a:spcAft>
                <a:spcPts val="0"/>
              </a:spcAft>
            </a:pPr>
            <a:r>
              <a:rPr sz="2850" b="1" i="0">
                <a:solidFill>
                  <a:srgbClr val="0C0C0C"/>
                </a:solidFill>
                <a:latin typeface="Arial"/>
              </a:rPr>
              <a:t>A backup, not the alarm</a:t>
            </a:r>
          </a:p>
        </p:txBody>
      </p:sp>
      <p:sp>
        <p:nvSpPr>
          <p:cNvPr id="3" name="Rectangle 2"/>
          <p:cNvSpPr/>
          <p:nvPr/>
        </p:nvSpPr>
        <p:spPr>
          <a:xfrm>
            <a:off x="609600" y="495300"/>
            <a:ext cx="381000" cy="47625"/>
          </a:xfrm>
          <a:prstGeom prst="rect">
            <a:avLst/>
          </a:prstGeom>
          <a:solidFill>
            <a:srgbClr val="FF8300"/>
          </a:solidFill>
          <a:ln>
            <a:noFill/>
          </a:ln>
        </p:spPr>
        <p:txBody>
          <a:bodyPr rtlCol="0" anchor="ctr"/>
          <a:lstStyle/>
          <a:p>
            <a:pPr algn="ctr"/>
          </a:p>
        </p:txBody>
      </p:sp>
      <p:sp>
        <p:nvSpPr>
          <p:cNvPr id="4" name="TextBox 3"/>
          <p:cNvSpPr txBox="1"/>
          <p:nvPr/>
        </p:nvSpPr>
        <p:spPr>
          <a:xfrm>
            <a:off x="609600" y="647700"/>
            <a:ext cx="96012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LIGHTNING</a:t>
            </a:r>
          </a:p>
        </p:txBody>
      </p:sp>
      <p:sp>
        <p:nvSpPr>
          <p:cNvPr id="5" name="Oval 4"/>
          <p:cNvSpPr/>
          <p:nvPr/>
        </p:nvSpPr>
        <p:spPr>
          <a:xfrm>
            <a:off x="609600" y="1790700"/>
            <a:ext cx="266700" cy="266700"/>
          </a:xfrm>
          <a:prstGeom prst="ellipse">
            <a:avLst/>
          </a:prstGeom>
          <a:solidFill>
            <a:srgbClr val="FF8300"/>
          </a:solidFill>
          <a:ln>
            <a:noFill/>
          </a:ln>
        </p:spPr>
        <p:txBody>
          <a:bodyPr rtlCol="0" anchor="ctr"/>
          <a:lstStyle/>
          <a:p>
            <a:pPr algn="ctr"/>
          </a:p>
        </p:txBody>
      </p:sp>
      <p:sp>
        <p:nvSpPr>
          <p:cNvPr id="6" name="TextBox 5"/>
          <p:cNvSpPr txBox="1"/>
          <p:nvPr/>
        </p:nvSpPr>
        <p:spPr>
          <a:xfrm>
            <a:off x="571500" y="179070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1</a:t>
            </a:r>
          </a:p>
        </p:txBody>
      </p:sp>
      <p:sp>
        <p:nvSpPr>
          <p:cNvPr id="7" name="TextBox 6"/>
          <p:cNvSpPr txBox="1"/>
          <p:nvPr/>
        </p:nvSpPr>
        <p:spPr>
          <a:xfrm>
            <a:off x="1009650" y="1790700"/>
            <a:ext cx="3486150" cy="514350"/>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Cabinet lights and sounder first.</a:t>
            </a:r>
            <a:r>
              <a:rPr sz="1425" b="0" i="0">
                <a:solidFill>
                  <a:srgbClr val="2B2B2B"/>
                </a:solidFill>
                <a:latin typeface="Arial"/>
              </a:rPr>
              <a:t> The page's top line says so.</a:t>
            </a:r>
          </a:p>
        </p:txBody>
      </p:sp>
      <p:sp>
        <p:nvSpPr>
          <p:cNvPr id="8" name="Oval 7"/>
          <p:cNvSpPr/>
          <p:nvPr/>
        </p:nvSpPr>
        <p:spPr>
          <a:xfrm>
            <a:off x="609600" y="2514600"/>
            <a:ext cx="266700" cy="266700"/>
          </a:xfrm>
          <a:prstGeom prst="ellipse">
            <a:avLst/>
          </a:prstGeom>
          <a:solidFill>
            <a:srgbClr val="FF8300"/>
          </a:solidFill>
          <a:ln>
            <a:noFill/>
          </a:ln>
        </p:spPr>
        <p:txBody>
          <a:bodyPr rtlCol="0" anchor="ctr"/>
          <a:lstStyle/>
          <a:p>
            <a:pPr algn="ctr"/>
          </a:p>
        </p:txBody>
      </p:sp>
      <p:sp>
        <p:nvSpPr>
          <p:cNvPr id="9" name="TextBox 8"/>
          <p:cNvSpPr txBox="1"/>
          <p:nvPr/>
        </p:nvSpPr>
        <p:spPr>
          <a:xfrm>
            <a:off x="571500" y="251460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2</a:t>
            </a:r>
          </a:p>
        </p:txBody>
      </p:sp>
      <p:sp>
        <p:nvSpPr>
          <p:cNvPr id="10" name="TextBox 9"/>
          <p:cNvSpPr txBox="1"/>
          <p:nvPr/>
        </p:nvSpPr>
        <p:spPr>
          <a:xfrm>
            <a:off x="1009650" y="2514600"/>
            <a:ext cx="3486150" cy="514350"/>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Only green is safe to work.</a:t>
            </a:r>
            <a:r>
              <a:rPr sz="1425" b="0" i="0">
                <a:solidFill>
                  <a:srgbClr val="2B2B2B"/>
                </a:solidFill>
                <a:latin typeface="Arial"/>
              </a:rPr>
              <a:t> The tile reads All Clear, with a held-for timer.</a:t>
            </a:r>
          </a:p>
        </p:txBody>
      </p:sp>
      <p:sp>
        <p:nvSpPr>
          <p:cNvPr id="11" name="Oval 10"/>
          <p:cNvSpPr/>
          <p:nvPr/>
        </p:nvSpPr>
        <p:spPr>
          <a:xfrm>
            <a:off x="609600" y="3238500"/>
            <a:ext cx="266700" cy="266700"/>
          </a:xfrm>
          <a:prstGeom prst="ellipse">
            <a:avLst/>
          </a:prstGeom>
          <a:solidFill>
            <a:srgbClr val="FF8300"/>
          </a:solidFill>
          <a:ln>
            <a:noFill/>
          </a:ln>
        </p:spPr>
        <p:txBody>
          <a:bodyPr rtlCol="0" anchor="ctr"/>
          <a:lstStyle/>
          <a:p>
            <a:pPr algn="ctr"/>
          </a:p>
        </p:txBody>
      </p:sp>
      <p:sp>
        <p:nvSpPr>
          <p:cNvPr id="12" name="TextBox 11"/>
          <p:cNvSpPr txBox="1"/>
          <p:nvPr/>
        </p:nvSpPr>
        <p:spPr>
          <a:xfrm>
            <a:off x="571500" y="323850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3</a:t>
            </a:r>
          </a:p>
        </p:txBody>
      </p:sp>
      <p:sp>
        <p:nvSpPr>
          <p:cNvPr id="13" name="TextBox 12"/>
          <p:cNvSpPr txBox="1"/>
          <p:nvPr/>
        </p:nvSpPr>
        <p:spPr>
          <a:xfrm>
            <a:off x="1009650" y="3238500"/>
            <a:ext cx="3486150" cy="771525"/>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Alert distances, on a map.</a:t>
            </a:r>
            <a:r>
              <a:rPr sz="1425" b="0" i="0">
                <a:solidFill>
                  <a:srgbClr val="2B2B2B"/>
                </a:solidFill>
                <a:latin typeface="Arial"/>
              </a:rPr>
              <a:t> Red and yellow rings and a dot for the sensor. A zone reference, not a live strike position.</a:t>
            </a:r>
          </a:p>
        </p:txBody>
      </p:sp>
      <p:sp>
        <p:nvSpPr>
          <p:cNvPr id="14" name="Oval 13"/>
          <p:cNvSpPr/>
          <p:nvPr/>
        </p:nvSpPr>
        <p:spPr>
          <a:xfrm>
            <a:off x="609600" y="4219575"/>
            <a:ext cx="266700" cy="266700"/>
          </a:xfrm>
          <a:prstGeom prst="ellipse">
            <a:avLst/>
          </a:prstGeom>
          <a:solidFill>
            <a:srgbClr val="FF8300"/>
          </a:solidFill>
          <a:ln>
            <a:noFill/>
          </a:ln>
        </p:spPr>
        <p:txBody>
          <a:bodyPr rtlCol="0" anchor="ctr"/>
          <a:lstStyle/>
          <a:p>
            <a:pPr algn="ctr"/>
          </a:p>
        </p:txBody>
      </p:sp>
      <p:sp>
        <p:nvSpPr>
          <p:cNvPr id="15" name="TextBox 14"/>
          <p:cNvSpPr txBox="1"/>
          <p:nvPr/>
        </p:nvSpPr>
        <p:spPr>
          <a:xfrm>
            <a:off x="571500" y="4219575"/>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4</a:t>
            </a:r>
          </a:p>
        </p:txBody>
      </p:sp>
      <p:sp>
        <p:nvSpPr>
          <p:cNvPr id="16" name="TextBox 15"/>
          <p:cNvSpPr txBox="1"/>
          <p:nvPr/>
        </p:nvSpPr>
        <p:spPr>
          <a:xfrm>
            <a:off x="1009650" y="4219575"/>
            <a:ext cx="3486150" cy="771525"/>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History you can export.</a:t>
            </a:r>
            <a:r>
              <a:rPr sz="1425" b="0" i="0">
                <a:solidFill>
                  <a:srgbClr val="2B2B2B"/>
                </a:solidFill>
                <a:latin typeface="Arial"/>
              </a:rPr>
              <a:t> An alarm activity chart, and an alarm history with CSV export.</a:t>
            </a:r>
          </a:p>
        </p:txBody>
      </p:sp>
      <p:pic>
        <p:nvPicPr>
          <p:cNvPr id="17" name="Picture 16" descr="lt-top.png"/>
          <p:cNvPicPr>
            <a:picLocks noChangeAspect="1"/>
          </p:cNvPicPr>
          <p:nvPr/>
        </p:nvPicPr>
        <p:blipFill>
          <a:blip r:embed="rId2"/>
          <a:stretch>
            <a:fillRect/>
          </a:stretch>
        </p:blipFill>
        <p:spPr>
          <a:xfrm>
            <a:off x="4962525" y="1800225"/>
            <a:ext cx="6610350" cy="2476500"/>
          </a:xfrm>
          <a:prstGeom prst="rect">
            <a:avLst/>
          </a:prstGeom>
        </p:spPr>
      </p:pic>
      <p:sp>
        <p:nvSpPr>
          <p:cNvPr id="18" name="Rectangle 17"/>
          <p:cNvSpPr/>
          <p:nvPr/>
        </p:nvSpPr>
        <p:spPr>
          <a:xfrm>
            <a:off x="4957762" y="1795462"/>
            <a:ext cx="6619875" cy="2486025"/>
          </a:xfrm>
          <a:prstGeom prst="rect">
            <a:avLst/>
          </a:prstGeom>
          <a:noFill/>
          <a:ln w="9525">
            <a:solidFill>
              <a:srgbClr val="C9C9C4"/>
            </a:solidFill>
          </a:ln>
        </p:spPr>
        <p:txBody>
          <a:bodyPr rtlCol="0" anchor="ctr"/>
          <a:lstStyle/>
          <a:p>
            <a:pPr algn="ctr"/>
          </a:p>
        </p:txBody>
      </p:sp>
      <p:pic>
        <p:nvPicPr>
          <p:cNvPr id="19" name="Picture 18" descr="lt-wall.png"/>
          <p:cNvPicPr>
            <a:picLocks noChangeAspect="1"/>
          </p:cNvPicPr>
          <p:nvPr/>
        </p:nvPicPr>
        <p:blipFill>
          <a:blip r:embed="rId3"/>
          <a:stretch>
            <a:fillRect/>
          </a:stretch>
        </p:blipFill>
        <p:spPr>
          <a:xfrm>
            <a:off x="8486775" y="3933825"/>
            <a:ext cx="2990850" cy="1524000"/>
          </a:xfrm>
          <a:prstGeom prst="rect">
            <a:avLst/>
          </a:prstGeom>
        </p:spPr>
      </p:pic>
      <p:sp>
        <p:nvSpPr>
          <p:cNvPr id="20" name="Rectangle 19"/>
          <p:cNvSpPr/>
          <p:nvPr/>
        </p:nvSpPr>
        <p:spPr>
          <a:xfrm>
            <a:off x="8472488" y="3919538"/>
            <a:ext cx="3019425" cy="1552575"/>
          </a:xfrm>
          <a:prstGeom prst="rect">
            <a:avLst/>
          </a:prstGeom>
          <a:noFill/>
          <a:ln w="28575">
            <a:solidFill>
              <a:srgbClr val="FFFFFF"/>
            </a:solidFill>
          </a:ln>
        </p:spPr>
        <p:txBody>
          <a:bodyPr rtlCol="0" anchor="ctr"/>
          <a:lstStyle/>
          <a:p>
            <a:pPr algn="ctr"/>
          </a:p>
        </p:txBody>
      </p:sp>
      <p:sp>
        <p:nvSpPr>
          <p:cNvPr id="21" name="Rectangle 20"/>
          <p:cNvSpPr/>
          <p:nvPr/>
        </p:nvSpPr>
        <p:spPr>
          <a:xfrm>
            <a:off x="8453438" y="3900488"/>
            <a:ext cx="3057525" cy="1590675"/>
          </a:xfrm>
          <a:prstGeom prst="rect">
            <a:avLst/>
          </a:prstGeom>
          <a:noFill/>
          <a:ln w="9525">
            <a:solidFill>
              <a:srgbClr val="C9C9C4"/>
            </a:solidFill>
          </a:ln>
        </p:spPr>
        <p:txBody>
          <a:bodyPr rtlCol="0" anchor="ctr"/>
          <a:lstStyle/>
          <a:p>
            <a:pPr algn="ctr"/>
          </a:p>
        </p:txBody>
      </p:sp>
      <p:sp>
        <p:nvSpPr>
          <p:cNvPr id="22" name="TextBox 21"/>
          <p:cNvSpPr txBox="1"/>
          <p:nvPr/>
        </p:nvSpPr>
        <p:spPr>
          <a:xfrm>
            <a:off x="4953000" y="4419600"/>
            <a:ext cx="331470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Live production screens, 4 October 2026. Map blurred.</a:t>
            </a:r>
          </a:p>
        </p:txBody>
      </p:sp>
      <p:sp>
        <p:nvSpPr>
          <p:cNvPr id="23" name="TextBox 22"/>
          <p:cNvSpPr txBox="1"/>
          <p:nvPr/>
        </p:nvSpPr>
        <p:spPr>
          <a:xfrm>
            <a:off x="4953000" y="4781550"/>
            <a:ext cx="3314700" cy="361950"/>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2B2B2B"/>
                </a:solidFill>
                <a:latin typeface="Arial"/>
              </a:rPr>
              <a:t>Inset: the wallboard view. Wallboard and phone views open by web address, not from the menu.</a:t>
            </a:r>
          </a:p>
        </p:txBody>
      </p:sp>
      <p:sp>
        <p:nvSpPr>
          <p:cNvPr id="24" name="Rounded Rectangle 23"/>
          <p:cNvSpPr/>
          <p:nvPr/>
        </p:nvSpPr>
        <p:spPr>
          <a:xfrm>
            <a:off x="614362" y="5757862"/>
            <a:ext cx="10963275" cy="485775"/>
          </a:xfrm>
          <a:prstGeom prst="roundRect">
            <a:avLst>
              <a:gd name="adj" fmla="val 22549"/>
            </a:avLst>
          </a:prstGeom>
          <a:solidFill>
            <a:srgbClr val="EAF6EF"/>
          </a:solidFill>
          <a:ln w="9525">
            <a:solidFill>
              <a:srgbClr val="BFE3CE"/>
            </a:solidFill>
          </a:ln>
        </p:spPr>
        <p:txBody>
          <a:bodyPr rtlCol="0" anchor="ctr"/>
          <a:lstStyle/>
          <a:p>
            <a:pPr algn="ctr"/>
          </a:p>
        </p:txBody>
      </p:sp>
      <p:sp>
        <p:nvSpPr>
          <p:cNvPr id="25" name="Rounded Rectangle 24"/>
          <p:cNvSpPr/>
          <p:nvPr/>
        </p:nvSpPr>
        <p:spPr>
          <a:xfrm>
            <a:off x="766762" y="5862638"/>
            <a:ext cx="981075" cy="276225"/>
          </a:xfrm>
          <a:prstGeom prst="roundRect">
            <a:avLst>
              <a:gd name="adj" fmla="val 50000"/>
            </a:avLst>
          </a:prstGeom>
          <a:solidFill>
            <a:srgbClr val="FFFFFF"/>
          </a:solidFill>
          <a:ln w="9525">
            <a:solidFill>
              <a:srgbClr val="B85C00"/>
            </a:solidFill>
          </a:ln>
        </p:spPr>
        <p:txBody>
          <a:bodyPr rtlCol="0" anchor="ctr"/>
          <a:lstStyle/>
          <a:p>
            <a:pPr algn="ctr"/>
          </a:p>
        </p:txBody>
      </p:sp>
      <p:sp>
        <p:nvSpPr>
          <p:cNvPr id="26" name="TextBox 25"/>
          <p:cNvSpPr txBox="1"/>
          <p:nvPr/>
        </p:nvSpPr>
        <p:spPr>
          <a:xfrm>
            <a:off x="733425" y="5867400"/>
            <a:ext cx="1047750" cy="266700"/>
          </a:xfrm>
          <a:prstGeom prst="rect">
            <a:avLst/>
          </a:prstGeom>
          <a:noFill/>
        </p:spPr>
        <p:txBody>
          <a:bodyPr wrap="none" lIns="0" rIns="0" tIns="0" bIns="0" anchor="t">
            <a:noAutofit/>
          </a:bodyPr>
          <a:lstStyle/>
          <a:p>
            <a:pPr algn="ctr">
              <a:lnSpc>
                <a:spcPts val="2100"/>
              </a:lnSpc>
              <a:spcBef>
                <a:spcPts val="0"/>
              </a:spcBef>
              <a:spcAft>
                <a:spcPts val="0"/>
              </a:spcAft>
            </a:pPr>
            <a:r>
              <a:rPr sz="825" b="1" i="0" spc="75">
                <a:solidFill>
                  <a:srgbClr val="B85C00"/>
                </a:solidFill>
                <a:latin typeface="Arial"/>
              </a:rPr>
              <a:t>ON THE PAGE</a:t>
            </a:r>
          </a:p>
        </p:txBody>
      </p:sp>
      <p:sp>
        <p:nvSpPr>
          <p:cNvPr id="27" name="TextBox 26"/>
          <p:cNvSpPr txBox="1"/>
          <p:nvPr/>
        </p:nvSpPr>
        <p:spPr>
          <a:xfrm>
            <a:off x="1905000" y="5886450"/>
            <a:ext cx="9601200" cy="228600"/>
          </a:xfrm>
          <a:prstGeom prst="rect">
            <a:avLst/>
          </a:prstGeom>
          <a:noFill/>
        </p:spPr>
        <p:txBody>
          <a:bodyPr wrap="square" lIns="0" rIns="0" tIns="0" bIns="0" anchor="t">
            <a:noAutofit/>
          </a:bodyPr>
          <a:lstStyle/>
          <a:p>
            <a:pPr algn="l">
              <a:lnSpc>
                <a:spcPts val="1800"/>
              </a:lnSpc>
              <a:spcBef>
                <a:spcPts val="0"/>
              </a:spcBef>
              <a:spcAft>
                <a:spcPts val="0"/>
              </a:spcAft>
            </a:pPr>
            <a:r>
              <a:rPr sz="1200" b="0" i="0">
                <a:solidFill>
                  <a:srgbClr val="2B2B2B"/>
                </a:solidFill>
                <a:latin typeface="Arial"/>
              </a:rPr>
              <a:t>WakeCap lightning alerts are a backup. Always follow the site's cabinet lights and sounder first.</a:t>
            </a:r>
          </a:p>
        </p:txBody>
      </p:sp>
      <p:sp>
        <p:nvSpPr>
          <p:cNvPr id="28" name="TextBox 27"/>
          <p:cNvSpPr txBox="1"/>
          <p:nvPr/>
        </p:nvSpPr>
        <p:spPr>
          <a:xfrm>
            <a:off x="609600" y="6496050"/>
            <a:ext cx="5791200" cy="152400"/>
          </a:xfrm>
          <a:prstGeom prst="rect">
            <a:avLst/>
          </a:prstGeom>
          <a:noFill/>
        </p:spPr>
        <p:txBody>
          <a:bodyPr wrap="square" lIns="0" rIns="0" tIns="0" bIns="0" anchor="t">
            <a:noAutofit/>
          </a:bodyPr>
          <a:lstStyle/>
          <a:p>
            <a:pPr algn="l">
              <a:lnSpc>
                <a:spcPts val="1200"/>
              </a:lnSpc>
              <a:spcBef>
                <a:spcPts val="0"/>
              </a:spcBef>
              <a:spcAft>
                <a:spcPts val="0"/>
              </a:spcAft>
            </a:pPr>
            <a:r>
              <a:rPr sz="900" b="0" i="0">
                <a:solidFill>
                  <a:srgbClr val="6B6B6B"/>
                </a:solidFill>
                <a:latin typeface="Arial"/>
              </a:rPr>
              <a:t>Connected Environment 1.0 · Internal</a:t>
            </a:r>
          </a:p>
        </p:txBody>
      </p:sp>
      <p:sp>
        <p:nvSpPr>
          <p:cNvPr id="29" name="TextBox 28"/>
          <p:cNvSpPr txBox="1"/>
          <p:nvPr/>
        </p:nvSpPr>
        <p:spPr>
          <a:xfrm>
            <a:off x="10553700" y="6496050"/>
            <a:ext cx="1028700" cy="152400"/>
          </a:xfrm>
          <a:prstGeom prst="rect">
            <a:avLst/>
          </a:prstGeom>
          <a:noFill/>
        </p:spPr>
        <p:txBody>
          <a:bodyPr wrap="square" lIns="0" rIns="0" tIns="0" bIns="0" anchor="t">
            <a:noAutofit/>
          </a:bodyPr>
          <a:lstStyle/>
          <a:p>
            <a:pPr algn="r">
              <a:lnSpc>
                <a:spcPts val="1200"/>
              </a:lnSpc>
              <a:spcBef>
                <a:spcPts val="0"/>
              </a:spcBef>
              <a:spcAft>
                <a:spcPts val="0"/>
              </a:spcAft>
            </a:pPr>
            <a:r>
              <a:rPr sz="900" b="0" i="0">
                <a:solidFill>
                  <a:srgbClr val="6B6B6B"/>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itle 1"/>
          <p:cNvSpPr>
            <a:spLocks noGrp="1"/>
          </p:cNvSpPr>
          <p:nvPr>
            <p:ph type="title"/>
          </p:nvPr>
        </p:nvSpPr>
        <p:spPr>
          <a:xfrm>
            <a:off x="609600" y="876300"/>
            <a:ext cx="11049000" cy="419100"/>
          </a:xfrm>
        </p:spPr>
        <p:txBody>
          <a:bodyPr wrap="square" lIns="0" rIns="0" tIns="0" bIns="0" anchor="t">
            <a:noAutofit/>
          </a:bodyPr>
          <a:lstStyle/>
          <a:p>
            <a:pPr algn="l">
              <a:lnSpc>
                <a:spcPts val="3300"/>
              </a:lnSpc>
              <a:spcBef>
                <a:spcPts val="0"/>
              </a:spcBef>
              <a:spcAft>
                <a:spcPts val="0"/>
              </a:spcAft>
            </a:pPr>
            <a:r>
              <a:rPr sz="2850" b="1" i="0">
                <a:solidFill>
                  <a:srgbClr val="0C0C0C"/>
                </a:solidFill>
                <a:latin typeface="Arial"/>
              </a:rPr>
              <a:t>A quiet screen is not a safe screen</a:t>
            </a:r>
          </a:p>
        </p:txBody>
      </p:sp>
      <p:sp>
        <p:nvSpPr>
          <p:cNvPr id="3" name="Rectangle 2"/>
          <p:cNvSpPr/>
          <p:nvPr/>
        </p:nvSpPr>
        <p:spPr>
          <a:xfrm>
            <a:off x="609600" y="495300"/>
            <a:ext cx="381000" cy="47625"/>
          </a:xfrm>
          <a:prstGeom prst="rect">
            <a:avLst/>
          </a:prstGeom>
          <a:solidFill>
            <a:srgbClr val="FF8300"/>
          </a:solidFill>
          <a:ln>
            <a:noFill/>
          </a:ln>
        </p:spPr>
        <p:txBody>
          <a:bodyPr rtlCol="0" anchor="ctr"/>
          <a:lstStyle/>
          <a:p>
            <a:pPr algn="ctr"/>
          </a:p>
        </p:txBody>
      </p:sp>
      <p:sp>
        <p:nvSpPr>
          <p:cNvPr id="4" name="TextBox 3"/>
          <p:cNvSpPr txBox="1"/>
          <p:nvPr/>
        </p:nvSpPr>
        <p:spPr>
          <a:xfrm>
            <a:off x="609600" y="647700"/>
            <a:ext cx="96012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GAS</a:t>
            </a:r>
          </a:p>
        </p:txBody>
      </p:sp>
      <p:sp>
        <p:nvSpPr>
          <p:cNvPr id="5" name="Oval 4"/>
          <p:cNvSpPr/>
          <p:nvPr/>
        </p:nvSpPr>
        <p:spPr>
          <a:xfrm>
            <a:off x="609600" y="1790700"/>
            <a:ext cx="266700" cy="266700"/>
          </a:xfrm>
          <a:prstGeom prst="ellipse">
            <a:avLst/>
          </a:prstGeom>
          <a:solidFill>
            <a:srgbClr val="FF8300"/>
          </a:solidFill>
          <a:ln>
            <a:noFill/>
          </a:ln>
        </p:spPr>
        <p:txBody>
          <a:bodyPr rtlCol="0" anchor="ctr"/>
          <a:lstStyle/>
          <a:p>
            <a:pPr algn="ctr"/>
          </a:p>
        </p:txBody>
      </p:sp>
      <p:sp>
        <p:nvSpPr>
          <p:cNvPr id="6" name="TextBox 5"/>
          <p:cNvSpPr txBox="1"/>
          <p:nvPr/>
        </p:nvSpPr>
        <p:spPr>
          <a:xfrm>
            <a:off x="571500" y="179070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1</a:t>
            </a:r>
          </a:p>
        </p:txBody>
      </p:sp>
      <p:sp>
        <p:nvSpPr>
          <p:cNvPr id="7" name="TextBox 6"/>
          <p:cNvSpPr txBox="1"/>
          <p:nvPr/>
        </p:nvSpPr>
        <p:spPr>
          <a:xfrm>
            <a:off x="1009650" y="1790700"/>
            <a:ext cx="3486150" cy="657225"/>
          </a:xfrm>
          <a:prstGeom prst="rect">
            <a:avLst/>
          </a:prstGeom>
          <a:noFill/>
        </p:spPr>
        <p:txBody>
          <a:bodyPr wrap="square" lIns="0" rIns="0" tIns="0" bIns="0" anchor="t">
            <a:noAutofit/>
          </a:bodyPr>
          <a:lstStyle/>
          <a:p>
            <a:pPr algn="l">
              <a:lnSpc>
                <a:spcPts val="1725"/>
              </a:lnSpc>
              <a:spcBef>
                <a:spcPts val="0"/>
              </a:spcBef>
              <a:spcAft>
                <a:spcPts val="0"/>
              </a:spcAft>
            </a:pPr>
            <a:r>
              <a:rPr sz="1200" b="1" i="0">
                <a:solidFill>
                  <a:srgbClr val="0C0C0C"/>
                </a:solidFill>
                <a:latin typeface="Arial"/>
              </a:rPr>
              <a:t>Overview.</a:t>
            </a:r>
            <a:r>
              <a:rPr sz="1200" b="0" i="0">
                <a:solidFill>
                  <a:srgbClr val="2B2B2B"/>
                </a:solidFill>
                <a:latin typeface="Arial"/>
              </a:rPr>
              <a:t> Detectors, how many are online, live alarms, and the worst current reading per gas, each with its limits.</a:t>
            </a:r>
          </a:p>
        </p:txBody>
      </p:sp>
      <p:sp>
        <p:nvSpPr>
          <p:cNvPr id="8" name="Oval 7"/>
          <p:cNvSpPr/>
          <p:nvPr/>
        </p:nvSpPr>
        <p:spPr>
          <a:xfrm>
            <a:off x="609600" y="2638425"/>
            <a:ext cx="266700" cy="266700"/>
          </a:xfrm>
          <a:prstGeom prst="ellipse">
            <a:avLst/>
          </a:prstGeom>
          <a:solidFill>
            <a:srgbClr val="FF8300"/>
          </a:solidFill>
          <a:ln>
            <a:noFill/>
          </a:ln>
        </p:spPr>
        <p:txBody>
          <a:bodyPr rtlCol="0" anchor="ctr"/>
          <a:lstStyle/>
          <a:p>
            <a:pPr algn="ctr"/>
          </a:p>
        </p:txBody>
      </p:sp>
      <p:sp>
        <p:nvSpPr>
          <p:cNvPr id="9" name="TextBox 8"/>
          <p:cNvSpPr txBox="1"/>
          <p:nvPr/>
        </p:nvSpPr>
        <p:spPr>
          <a:xfrm>
            <a:off x="571500" y="2638425"/>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2</a:t>
            </a:r>
          </a:p>
        </p:txBody>
      </p:sp>
      <p:sp>
        <p:nvSpPr>
          <p:cNvPr id="10" name="TextBox 9"/>
          <p:cNvSpPr txBox="1"/>
          <p:nvPr/>
        </p:nvSpPr>
        <p:spPr>
          <a:xfrm>
            <a:off x="1009650" y="2638425"/>
            <a:ext cx="3486150" cy="657225"/>
          </a:xfrm>
          <a:prstGeom prst="rect">
            <a:avLst/>
          </a:prstGeom>
          <a:noFill/>
        </p:spPr>
        <p:txBody>
          <a:bodyPr wrap="square" lIns="0" rIns="0" tIns="0" bIns="0" anchor="t">
            <a:noAutofit/>
          </a:bodyPr>
          <a:lstStyle/>
          <a:p>
            <a:pPr algn="l">
              <a:lnSpc>
                <a:spcPts val="1725"/>
              </a:lnSpc>
              <a:spcBef>
                <a:spcPts val="0"/>
              </a:spcBef>
              <a:spcAft>
                <a:spcPts val="0"/>
              </a:spcAft>
            </a:pPr>
            <a:r>
              <a:rPr sz="1200" b="1" i="0">
                <a:solidFill>
                  <a:srgbClr val="0C0C0C"/>
                </a:solidFill>
                <a:latin typeface="Arial"/>
              </a:rPr>
              <a:t>Gaps are named.</a:t>
            </a:r>
            <a:r>
              <a:rPr sz="1200" b="0" i="0">
                <a:solidFill>
                  <a:srgbClr val="2B2B2B"/>
                </a:solidFill>
                <a:latin typeface="Arial"/>
              </a:rPr>
              <a:t> A detector that stops reporting shows as offline. The status reads Check: not confirmed safe.</a:t>
            </a:r>
          </a:p>
        </p:txBody>
      </p:sp>
      <p:sp>
        <p:nvSpPr>
          <p:cNvPr id="11" name="Oval 10"/>
          <p:cNvSpPr/>
          <p:nvPr/>
        </p:nvSpPr>
        <p:spPr>
          <a:xfrm>
            <a:off x="609600" y="3486150"/>
            <a:ext cx="266700" cy="266700"/>
          </a:xfrm>
          <a:prstGeom prst="ellipse">
            <a:avLst/>
          </a:prstGeom>
          <a:solidFill>
            <a:srgbClr val="FF8300"/>
          </a:solidFill>
          <a:ln>
            <a:noFill/>
          </a:ln>
        </p:spPr>
        <p:txBody>
          <a:bodyPr rtlCol="0" anchor="ctr"/>
          <a:lstStyle/>
          <a:p>
            <a:pPr algn="ctr"/>
          </a:p>
        </p:txBody>
      </p:sp>
      <p:sp>
        <p:nvSpPr>
          <p:cNvPr id="12" name="TextBox 11"/>
          <p:cNvSpPr txBox="1"/>
          <p:nvPr/>
        </p:nvSpPr>
        <p:spPr>
          <a:xfrm>
            <a:off x="571500" y="348615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3</a:t>
            </a:r>
          </a:p>
        </p:txBody>
      </p:sp>
      <p:sp>
        <p:nvSpPr>
          <p:cNvPr id="13" name="TextBox 12"/>
          <p:cNvSpPr txBox="1"/>
          <p:nvPr/>
        </p:nvSpPr>
        <p:spPr>
          <a:xfrm>
            <a:off x="1009650" y="3486150"/>
            <a:ext cx="3486150" cy="657225"/>
          </a:xfrm>
          <a:prstGeom prst="rect">
            <a:avLst/>
          </a:prstGeom>
          <a:noFill/>
        </p:spPr>
        <p:txBody>
          <a:bodyPr wrap="square" lIns="0" rIns="0" tIns="0" bIns="0" anchor="t">
            <a:noAutofit/>
          </a:bodyPr>
          <a:lstStyle/>
          <a:p>
            <a:pPr algn="l">
              <a:lnSpc>
                <a:spcPts val="1725"/>
              </a:lnSpc>
              <a:spcBef>
                <a:spcPts val="0"/>
              </a:spcBef>
              <a:spcAft>
                <a:spcPts val="0"/>
              </a:spcAft>
            </a:pPr>
            <a:r>
              <a:rPr sz="1200" b="1" i="0">
                <a:solidFill>
                  <a:srgbClr val="0C0C0C"/>
                </a:solidFill>
                <a:latin typeface="Arial"/>
              </a:rPr>
              <a:t>Alerts.</a:t>
            </a:r>
            <a:r>
              <a:rPr sz="1200" b="0" i="0">
                <a:solidFill>
                  <a:srgbClr val="2B2B2B"/>
                </a:solidFill>
                <a:latin typeface="Arial"/>
              </a:rPr>
              <a:t> Acknowledge and close, with edit access. Recorded in WakeCap only, not sent to the gas vendor.</a:t>
            </a:r>
          </a:p>
        </p:txBody>
      </p:sp>
      <p:sp>
        <p:nvSpPr>
          <p:cNvPr id="14" name="Oval 13"/>
          <p:cNvSpPr/>
          <p:nvPr/>
        </p:nvSpPr>
        <p:spPr>
          <a:xfrm>
            <a:off x="609600" y="4333875"/>
            <a:ext cx="266700" cy="266700"/>
          </a:xfrm>
          <a:prstGeom prst="ellipse">
            <a:avLst/>
          </a:prstGeom>
          <a:solidFill>
            <a:srgbClr val="FF8300"/>
          </a:solidFill>
          <a:ln>
            <a:noFill/>
          </a:ln>
        </p:spPr>
        <p:txBody>
          <a:bodyPr rtlCol="0" anchor="ctr"/>
          <a:lstStyle/>
          <a:p>
            <a:pPr algn="ctr"/>
          </a:p>
        </p:txBody>
      </p:sp>
      <p:sp>
        <p:nvSpPr>
          <p:cNvPr id="15" name="TextBox 14"/>
          <p:cNvSpPr txBox="1"/>
          <p:nvPr/>
        </p:nvSpPr>
        <p:spPr>
          <a:xfrm>
            <a:off x="571500" y="4333875"/>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4</a:t>
            </a:r>
          </a:p>
        </p:txBody>
      </p:sp>
      <p:sp>
        <p:nvSpPr>
          <p:cNvPr id="16" name="TextBox 15"/>
          <p:cNvSpPr txBox="1"/>
          <p:nvPr/>
        </p:nvSpPr>
        <p:spPr>
          <a:xfrm>
            <a:off x="1009650" y="4333875"/>
            <a:ext cx="3486150" cy="438150"/>
          </a:xfrm>
          <a:prstGeom prst="rect">
            <a:avLst/>
          </a:prstGeom>
          <a:noFill/>
        </p:spPr>
        <p:txBody>
          <a:bodyPr wrap="square" lIns="0" rIns="0" tIns="0" bIns="0" anchor="t">
            <a:noAutofit/>
          </a:bodyPr>
          <a:lstStyle/>
          <a:p>
            <a:pPr algn="l">
              <a:lnSpc>
                <a:spcPts val="1725"/>
              </a:lnSpc>
              <a:spcBef>
                <a:spcPts val="0"/>
              </a:spcBef>
              <a:spcAft>
                <a:spcPts val="0"/>
              </a:spcAft>
            </a:pPr>
            <a:r>
              <a:rPr sz="1200" b="1" i="0">
                <a:solidFill>
                  <a:srgbClr val="0C0C0C"/>
                </a:solidFill>
                <a:latin typeface="Arial"/>
              </a:rPr>
              <a:t>Compliance.</a:t>
            </a:r>
            <a:r>
              <a:rPr sz="1200" b="0" i="0">
                <a:solidFill>
                  <a:srgbClr val="2B2B2B"/>
                </a:solidFill>
                <a:latin typeface="Arial"/>
              </a:rPr>
              <a:t> Limits in force. Exposure and exceedance figures say Not available yet.</a:t>
            </a:r>
          </a:p>
        </p:txBody>
      </p:sp>
      <p:pic>
        <p:nvPicPr>
          <p:cNvPr id="17" name="Picture 16" descr="gas-dash.png"/>
          <p:cNvPicPr>
            <a:picLocks noChangeAspect="1"/>
          </p:cNvPicPr>
          <p:nvPr/>
        </p:nvPicPr>
        <p:blipFill>
          <a:blip r:embed="rId2"/>
          <a:stretch>
            <a:fillRect/>
          </a:stretch>
        </p:blipFill>
        <p:spPr>
          <a:xfrm>
            <a:off x="4962525" y="1800225"/>
            <a:ext cx="6610350" cy="2886075"/>
          </a:xfrm>
          <a:prstGeom prst="rect">
            <a:avLst/>
          </a:prstGeom>
        </p:spPr>
      </p:pic>
      <p:sp>
        <p:nvSpPr>
          <p:cNvPr id="18" name="Rectangle 17"/>
          <p:cNvSpPr/>
          <p:nvPr/>
        </p:nvSpPr>
        <p:spPr>
          <a:xfrm>
            <a:off x="4957762" y="1795462"/>
            <a:ext cx="6619875" cy="2895600"/>
          </a:xfrm>
          <a:prstGeom prst="rect">
            <a:avLst/>
          </a:prstGeom>
          <a:noFill/>
          <a:ln w="9525">
            <a:solidFill>
              <a:srgbClr val="C9C9C4"/>
            </a:solidFill>
          </a:ln>
        </p:spPr>
        <p:txBody>
          <a:bodyPr rtlCol="0" anchor="ctr"/>
          <a:lstStyle/>
          <a:p>
            <a:pPr algn="ctr"/>
          </a:p>
        </p:txBody>
      </p:sp>
      <p:pic>
        <p:nvPicPr>
          <p:cNvPr id="19" name="Picture 18" descr="tile-gas.png"/>
          <p:cNvPicPr>
            <a:picLocks noChangeAspect="1"/>
          </p:cNvPicPr>
          <p:nvPr/>
        </p:nvPicPr>
        <p:blipFill>
          <a:blip r:embed="rId3"/>
          <a:stretch>
            <a:fillRect/>
          </a:stretch>
        </p:blipFill>
        <p:spPr>
          <a:xfrm>
            <a:off x="8296275" y="4343400"/>
            <a:ext cx="3181350" cy="1190625"/>
          </a:xfrm>
          <a:prstGeom prst="rect">
            <a:avLst/>
          </a:prstGeom>
        </p:spPr>
      </p:pic>
      <p:sp>
        <p:nvSpPr>
          <p:cNvPr id="20" name="Rectangle 19"/>
          <p:cNvSpPr/>
          <p:nvPr/>
        </p:nvSpPr>
        <p:spPr>
          <a:xfrm>
            <a:off x="8281988" y="4329112"/>
            <a:ext cx="3209925" cy="1219200"/>
          </a:xfrm>
          <a:prstGeom prst="rect">
            <a:avLst/>
          </a:prstGeom>
          <a:noFill/>
          <a:ln w="28575">
            <a:solidFill>
              <a:srgbClr val="FFFFFF"/>
            </a:solidFill>
          </a:ln>
        </p:spPr>
        <p:txBody>
          <a:bodyPr rtlCol="0" anchor="ctr"/>
          <a:lstStyle/>
          <a:p>
            <a:pPr algn="ctr"/>
          </a:p>
        </p:txBody>
      </p:sp>
      <p:sp>
        <p:nvSpPr>
          <p:cNvPr id="21" name="Rectangle 20"/>
          <p:cNvSpPr/>
          <p:nvPr/>
        </p:nvSpPr>
        <p:spPr>
          <a:xfrm>
            <a:off x="8262938" y="4310062"/>
            <a:ext cx="3248025" cy="1257300"/>
          </a:xfrm>
          <a:prstGeom prst="rect">
            <a:avLst/>
          </a:prstGeom>
          <a:noFill/>
          <a:ln w="9525">
            <a:solidFill>
              <a:srgbClr val="C9C9C4"/>
            </a:solidFill>
          </a:ln>
        </p:spPr>
        <p:txBody>
          <a:bodyPr rtlCol="0" anchor="ctr"/>
          <a:lstStyle/>
          <a:p>
            <a:pPr algn="ctr"/>
          </a:p>
        </p:txBody>
      </p:sp>
      <p:sp>
        <p:nvSpPr>
          <p:cNvPr id="22" name="TextBox 21"/>
          <p:cNvSpPr txBox="1"/>
          <p:nvPr/>
        </p:nvSpPr>
        <p:spPr>
          <a:xfrm>
            <a:off x="4953000" y="4829175"/>
            <a:ext cx="321945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Live production screens, 4 October 2026.</a:t>
            </a:r>
          </a:p>
        </p:txBody>
      </p:sp>
      <p:sp>
        <p:nvSpPr>
          <p:cNvPr id="23" name="TextBox 22"/>
          <p:cNvSpPr txBox="1"/>
          <p:nvPr/>
        </p:nvSpPr>
        <p:spPr>
          <a:xfrm>
            <a:off x="4953000" y="5057775"/>
            <a:ext cx="321945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2B2B2B"/>
                </a:solidFill>
                <a:latin typeface="Arial"/>
              </a:rPr>
              <a:t>Inset: the wallboard view, by web address.</a:t>
            </a:r>
          </a:p>
        </p:txBody>
      </p:sp>
      <p:sp>
        <p:nvSpPr>
          <p:cNvPr id="24" name="Rounded Rectangle 23"/>
          <p:cNvSpPr/>
          <p:nvPr/>
        </p:nvSpPr>
        <p:spPr>
          <a:xfrm>
            <a:off x="614362" y="5757862"/>
            <a:ext cx="10963275" cy="485775"/>
          </a:xfrm>
          <a:prstGeom prst="roundRect">
            <a:avLst>
              <a:gd name="adj" fmla="val 22549"/>
            </a:avLst>
          </a:prstGeom>
          <a:solidFill>
            <a:srgbClr val="FFF1E0"/>
          </a:solidFill>
          <a:ln w="9525">
            <a:solidFill>
              <a:srgbClr val="F3C894"/>
            </a:solidFill>
          </a:ln>
        </p:spPr>
        <p:txBody>
          <a:bodyPr rtlCol="0" anchor="ctr"/>
          <a:lstStyle/>
          <a:p>
            <a:pPr algn="ctr"/>
          </a:p>
        </p:txBody>
      </p:sp>
      <p:sp>
        <p:nvSpPr>
          <p:cNvPr id="25" name="Rounded Rectangle 24"/>
          <p:cNvSpPr/>
          <p:nvPr/>
        </p:nvSpPr>
        <p:spPr>
          <a:xfrm>
            <a:off x="766762" y="5862638"/>
            <a:ext cx="981075" cy="276225"/>
          </a:xfrm>
          <a:prstGeom prst="roundRect">
            <a:avLst>
              <a:gd name="adj" fmla="val 50000"/>
            </a:avLst>
          </a:prstGeom>
          <a:solidFill>
            <a:srgbClr val="FFFFFF"/>
          </a:solidFill>
          <a:ln w="9525">
            <a:solidFill>
              <a:srgbClr val="B85C00"/>
            </a:solidFill>
          </a:ln>
        </p:spPr>
        <p:txBody>
          <a:bodyPr rtlCol="0" anchor="ctr"/>
          <a:lstStyle/>
          <a:p>
            <a:pPr algn="ctr"/>
          </a:p>
        </p:txBody>
      </p:sp>
      <p:sp>
        <p:nvSpPr>
          <p:cNvPr id="26" name="TextBox 25"/>
          <p:cNvSpPr txBox="1"/>
          <p:nvPr/>
        </p:nvSpPr>
        <p:spPr>
          <a:xfrm>
            <a:off x="733425" y="5867400"/>
            <a:ext cx="1047750" cy="266700"/>
          </a:xfrm>
          <a:prstGeom prst="rect">
            <a:avLst/>
          </a:prstGeom>
          <a:noFill/>
        </p:spPr>
        <p:txBody>
          <a:bodyPr wrap="none" lIns="0" rIns="0" tIns="0" bIns="0" anchor="t">
            <a:noAutofit/>
          </a:bodyPr>
          <a:lstStyle/>
          <a:p>
            <a:pPr algn="ctr">
              <a:lnSpc>
                <a:spcPts val="2100"/>
              </a:lnSpc>
              <a:spcBef>
                <a:spcPts val="0"/>
              </a:spcBef>
              <a:spcAft>
                <a:spcPts val="0"/>
              </a:spcAft>
            </a:pPr>
            <a:r>
              <a:rPr sz="825" b="1" i="0" spc="75">
                <a:solidFill>
                  <a:srgbClr val="B85C00"/>
                </a:solidFill>
                <a:latin typeface="Arial"/>
              </a:rPr>
              <a:t>NOTE</a:t>
            </a:r>
          </a:p>
        </p:txBody>
      </p:sp>
      <p:sp>
        <p:nvSpPr>
          <p:cNvPr id="27" name="TextBox 26"/>
          <p:cNvSpPr txBox="1"/>
          <p:nvPr/>
        </p:nvSpPr>
        <p:spPr>
          <a:xfrm>
            <a:off x="1905000" y="5886450"/>
            <a:ext cx="9601200" cy="228600"/>
          </a:xfrm>
          <a:prstGeom prst="rect">
            <a:avLst/>
          </a:prstGeom>
          <a:noFill/>
        </p:spPr>
        <p:txBody>
          <a:bodyPr wrap="square" lIns="0" rIns="0" tIns="0" bIns="0" anchor="t">
            <a:noAutofit/>
          </a:bodyPr>
          <a:lstStyle/>
          <a:p>
            <a:pPr algn="l">
              <a:lnSpc>
                <a:spcPts val="1800"/>
              </a:lnSpc>
              <a:spcBef>
                <a:spcPts val="0"/>
              </a:spcBef>
              <a:spcAft>
                <a:spcPts val="0"/>
              </a:spcAft>
            </a:pPr>
            <a:r>
              <a:rPr sz="1200" b="0" i="0">
                <a:solidFill>
                  <a:srgbClr val="2B2B2B"/>
                </a:solidFill>
                <a:latin typeface="Arial"/>
              </a:rPr>
              <a:t>Acknowledge and close are recorded in WakeCap only. They are not sent to the gas vendor.</a:t>
            </a:r>
          </a:p>
        </p:txBody>
      </p:sp>
      <p:sp>
        <p:nvSpPr>
          <p:cNvPr id="28" name="TextBox 27"/>
          <p:cNvSpPr txBox="1"/>
          <p:nvPr/>
        </p:nvSpPr>
        <p:spPr>
          <a:xfrm>
            <a:off x="609600" y="6496050"/>
            <a:ext cx="5791200" cy="152400"/>
          </a:xfrm>
          <a:prstGeom prst="rect">
            <a:avLst/>
          </a:prstGeom>
          <a:noFill/>
        </p:spPr>
        <p:txBody>
          <a:bodyPr wrap="square" lIns="0" rIns="0" tIns="0" bIns="0" anchor="t">
            <a:noAutofit/>
          </a:bodyPr>
          <a:lstStyle/>
          <a:p>
            <a:pPr algn="l">
              <a:lnSpc>
                <a:spcPts val="1200"/>
              </a:lnSpc>
              <a:spcBef>
                <a:spcPts val="0"/>
              </a:spcBef>
              <a:spcAft>
                <a:spcPts val="0"/>
              </a:spcAft>
            </a:pPr>
            <a:r>
              <a:rPr sz="900" b="0" i="0">
                <a:solidFill>
                  <a:srgbClr val="6B6B6B"/>
                </a:solidFill>
                <a:latin typeface="Arial"/>
              </a:rPr>
              <a:t>Connected Environment 1.0 · Internal</a:t>
            </a:r>
          </a:p>
        </p:txBody>
      </p:sp>
      <p:sp>
        <p:nvSpPr>
          <p:cNvPr id="29" name="TextBox 28"/>
          <p:cNvSpPr txBox="1"/>
          <p:nvPr/>
        </p:nvSpPr>
        <p:spPr>
          <a:xfrm>
            <a:off x="10553700" y="6496050"/>
            <a:ext cx="1028700" cy="152400"/>
          </a:xfrm>
          <a:prstGeom prst="rect">
            <a:avLst/>
          </a:prstGeom>
          <a:noFill/>
        </p:spPr>
        <p:txBody>
          <a:bodyPr wrap="square" lIns="0" rIns="0" tIns="0" bIns="0" anchor="t">
            <a:noAutofit/>
          </a:bodyPr>
          <a:lstStyle/>
          <a:p>
            <a:pPr algn="r">
              <a:lnSpc>
                <a:spcPts val="1200"/>
              </a:lnSpc>
              <a:spcBef>
                <a:spcPts val="0"/>
              </a:spcBef>
              <a:spcAft>
                <a:spcPts val="0"/>
              </a:spcAft>
            </a:pPr>
            <a:r>
              <a:rPr sz="900" b="0" i="0">
                <a:solidFill>
                  <a:srgbClr val="6B6B6B"/>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itle 1"/>
          <p:cNvSpPr>
            <a:spLocks noGrp="1"/>
          </p:cNvSpPr>
          <p:nvPr>
            <p:ph type="title"/>
          </p:nvPr>
        </p:nvSpPr>
        <p:spPr>
          <a:xfrm>
            <a:off x="609600" y="876300"/>
            <a:ext cx="11049000" cy="419100"/>
          </a:xfrm>
        </p:spPr>
        <p:txBody>
          <a:bodyPr wrap="square" lIns="0" rIns="0" tIns="0" bIns="0" anchor="t">
            <a:noAutofit/>
          </a:bodyPr>
          <a:lstStyle/>
          <a:p>
            <a:pPr algn="l">
              <a:lnSpc>
                <a:spcPts val="3300"/>
              </a:lnSpc>
              <a:spcBef>
                <a:spcPts val="0"/>
              </a:spcBef>
              <a:spcAft>
                <a:spcPts val="0"/>
              </a:spcAft>
            </a:pPr>
            <a:r>
              <a:rPr sz="2850" b="1" i="0">
                <a:solidFill>
                  <a:srgbClr val="0C0C0C"/>
                </a:solidFill>
                <a:latin typeface="Arial"/>
              </a:rPr>
              <a:t>Each project switches on only what it uses</a:t>
            </a:r>
          </a:p>
        </p:txBody>
      </p:sp>
      <p:sp>
        <p:nvSpPr>
          <p:cNvPr id="3" name="Rectangle 2"/>
          <p:cNvSpPr/>
          <p:nvPr/>
        </p:nvSpPr>
        <p:spPr>
          <a:xfrm>
            <a:off x="609600" y="495300"/>
            <a:ext cx="381000" cy="47625"/>
          </a:xfrm>
          <a:prstGeom prst="rect">
            <a:avLst/>
          </a:prstGeom>
          <a:solidFill>
            <a:srgbClr val="FF8300"/>
          </a:solidFill>
          <a:ln>
            <a:noFill/>
          </a:ln>
        </p:spPr>
        <p:txBody>
          <a:bodyPr rtlCol="0" anchor="ctr"/>
          <a:lstStyle/>
          <a:p>
            <a:pPr algn="ctr"/>
          </a:p>
        </p:txBody>
      </p:sp>
      <p:sp>
        <p:nvSpPr>
          <p:cNvPr id="4" name="TextBox 3"/>
          <p:cNvSpPr txBox="1"/>
          <p:nvPr/>
        </p:nvSpPr>
        <p:spPr>
          <a:xfrm>
            <a:off x="609600" y="647700"/>
            <a:ext cx="96012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THE PLATFORM</a:t>
            </a:r>
          </a:p>
        </p:txBody>
      </p:sp>
      <p:sp>
        <p:nvSpPr>
          <p:cNvPr id="5" name="Rounded Rectangle 4"/>
          <p:cNvSpPr/>
          <p:nvPr/>
        </p:nvSpPr>
        <p:spPr>
          <a:xfrm>
            <a:off x="614362" y="1719262"/>
            <a:ext cx="6657975" cy="2847975"/>
          </a:xfrm>
          <a:prstGeom prst="roundRect">
            <a:avLst>
              <a:gd name="adj" fmla="val 3846"/>
            </a:avLst>
          </a:prstGeom>
          <a:solidFill>
            <a:srgbClr val="FFFFFF"/>
          </a:solidFill>
          <a:ln w="9525">
            <a:solidFill>
              <a:srgbClr val="DCDCD7"/>
            </a:solidFill>
          </a:ln>
        </p:spPr>
        <p:txBody>
          <a:bodyPr rtlCol="0" anchor="ctr"/>
          <a:lstStyle/>
          <a:p>
            <a:pPr algn="ctr"/>
          </a:p>
        </p:txBody>
      </p:sp>
      <p:sp>
        <p:nvSpPr>
          <p:cNvPr id="6" name="TextBox 5"/>
          <p:cNvSpPr txBox="1"/>
          <p:nvPr/>
        </p:nvSpPr>
        <p:spPr>
          <a:xfrm>
            <a:off x="838200" y="1905000"/>
            <a:ext cx="21717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6B6B6B"/>
                </a:solidFill>
                <a:latin typeface="Arial"/>
              </a:rPr>
              <a:t>PROJECT</a:t>
            </a:r>
          </a:p>
        </p:txBody>
      </p:sp>
      <p:sp>
        <p:nvSpPr>
          <p:cNvPr id="7" name="TextBox 6"/>
          <p:cNvSpPr txBox="1"/>
          <p:nvPr/>
        </p:nvSpPr>
        <p:spPr>
          <a:xfrm>
            <a:off x="2914650" y="1905000"/>
            <a:ext cx="1409700" cy="161925"/>
          </a:xfrm>
          <a:prstGeom prst="rect">
            <a:avLst/>
          </a:prstGeom>
          <a:noFill/>
        </p:spPr>
        <p:txBody>
          <a:bodyPr wrap="square" lIns="0" rIns="0" tIns="0" bIns="0" anchor="t">
            <a:noAutofit/>
          </a:bodyPr>
          <a:lstStyle/>
          <a:p>
            <a:pPr algn="ctr">
              <a:lnSpc>
                <a:spcPts val="1275"/>
              </a:lnSpc>
              <a:spcBef>
                <a:spcPts val="0"/>
              </a:spcBef>
              <a:spcAft>
                <a:spcPts val="0"/>
              </a:spcAft>
            </a:pPr>
            <a:r>
              <a:rPr sz="900" b="1" i="0" spc="38">
                <a:solidFill>
                  <a:srgbClr val="6B6B6B"/>
                </a:solidFill>
                <a:latin typeface="Arial"/>
              </a:rPr>
              <a:t>WEATHER STATION</a:t>
            </a:r>
          </a:p>
        </p:txBody>
      </p:sp>
      <p:sp>
        <p:nvSpPr>
          <p:cNvPr id="8" name="TextBox 7"/>
          <p:cNvSpPr txBox="1"/>
          <p:nvPr/>
        </p:nvSpPr>
        <p:spPr>
          <a:xfrm>
            <a:off x="4248150" y="1905000"/>
            <a:ext cx="1409700" cy="161925"/>
          </a:xfrm>
          <a:prstGeom prst="rect">
            <a:avLst/>
          </a:prstGeom>
          <a:noFill/>
        </p:spPr>
        <p:txBody>
          <a:bodyPr wrap="square" lIns="0" rIns="0" tIns="0" bIns="0" anchor="t">
            <a:noAutofit/>
          </a:bodyPr>
          <a:lstStyle/>
          <a:p>
            <a:pPr algn="ctr">
              <a:lnSpc>
                <a:spcPts val="1275"/>
              </a:lnSpc>
              <a:spcBef>
                <a:spcPts val="0"/>
              </a:spcBef>
              <a:spcAft>
                <a:spcPts val="0"/>
              </a:spcAft>
            </a:pPr>
            <a:r>
              <a:rPr sz="900" b="1" i="0" spc="38">
                <a:solidFill>
                  <a:srgbClr val="6B6B6B"/>
                </a:solidFill>
                <a:latin typeface="Arial"/>
              </a:rPr>
              <a:t>LIGHTNING</a:t>
            </a:r>
          </a:p>
        </p:txBody>
      </p:sp>
      <p:sp>
        <p:nvSpPr>
          <p:cNvPr id="9" name="TextBox 8"/>
          <p:cNvSpPr txBox="1"/>
          <p:nvPr/>
        </p:nvSpPr>
        <p:spPr>
          <a:xfrm>
            <a:off x="5581650" y="1905000"/>
            <a:ext cx="1409700" cy="161925"/>
          </a:xfrm>
          <a:prstGeom prst="rect">
            <a:avLst/>
          </a:prstGeom>
          <a:noFill/>
        </p:spPr>
        <p:txBody>
          <a:bodyPr wrap="square" lIns="0" rIns="0" tIns="0" bIns="0" anchor="t">
            <a:noAutofit/>
          </a:bodyPr>
          <a:lstStyle/>
          <a:p>
            <a:pPr algn="ctr">
              <a:lnSpc>
                <a:spcPts val="1275"/>
              </a:lnSpc>
              <a:spcBef>
                <a:spcPts val="0"/>
              </a:spcBef>
              <a:spcAft>
                <a:spcPts val="0"/>
              </a:spcAft>
            </a:pPr>
            <a:r>
              <a:rPr sz="900" b="1" i="0" spc="38">
                <a:solidFill>
                  <a:srgbClr val="6B6B6B"/>
                </a:solidFill>
                <a:latin typeface="Arial"/>
              </a:rPr>
              <a:t>GAS</a:t>
            </a:r>
          </a:p>
        </p:txBody>
      </p:sp>
      <p:sp>
        <p:nvSpPr>
          <p:cNvPr id="10" name="Rectangle 9"/>
          <p:cNvSpPr/>
          <p:nvPr/>
        </p:nvSpPr>
        <p:spPr>
          <a:xfrm>
            <a:off x="838200" y="2209800"/>
            <a:ext cx="6210300" cy="9525"/>
          </a:xfrm>
          <a:prstGeom prst="rect">
            <a:avLst/>
          </a:prstGeom>
          <a:solidFill>
            <a:srgbClr val="DCDCD7"/>
          </a:solidFill>
          <a:ln>
            <a:noFill/>
          </a:ln>
        </p:spPr>
        <p:txBody>
          <a:bodyPr rtlCol="0" anchor="ctr"/>
          <a:lstStyle/>
          <a:p>
            <a:pPr algn="ctr"/>
          </a:p>
        </p:txBody>
      </p:sp>
      <p:sp>
        <p:nvSpPr>
          <p:cNvPr id="11" name="TextBox 10"/>
          <p:cNvSpPr txBox="1"/>
          <p:nvPr/>
        </p:nvSpPr>
        <p:spPr>
          <a:xfrm>
            <a:off x="838200" y="2400300"/>
            <a:ext cx="2171700" cy="257175"/>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Weather alone</a:t>
            </a:r>
          </a:p>
        </p:txBody>
      </p:sp>
      <p:sp>
        <p:nvSpPr>
          <p:cNvPr id="12" name="Rounded Rectangle 11"/>
          <p:cNvSpPr/>
          <p:nvPr/>
        </p:nvSpPr>
        <p:spPr>
          <a:xfrm>
            <a:off x="3400425" y="2400300"/>
            <a:ext cx="438150" cy="247650"/>
          </a:xfrm>
          <a:prstGeom prst="roundRect">
            <a:avLst>
              <a:gd name="adj" fmla="val 50000"/>
            </a:avLst>
          </a:prstGeom>
          <a:solidFill>
            <a:srgbClr val="1F3A8A"/>
          </a:solidFill>
          <a:ln>
            <a:noFill/>
          </a:ln>
        </p:spPr>
        <p:txBody>
          <a:bodyPr rtlCol="0" anchor="ctr"/>
          <a:lstStyle/>
          <a:p>
            <a:pPr algn="ctr"/>
          </a:p>
        </p:txBody>
      </p:sp>
      <p:sp>
        <p:nvSpPr>
          <p:cNvPr id="13" name="Oval 12"/>
          <p:cNvSpPr/>
          <p:nvPr/>
        </p:nvSpPr>
        <p:spPr>
          <a:xfrm>
            <a:off x="3619500" y="2428875"/>
            <a:ext cx="190500" cy="190500"/>
          </a:xfrm>
          <a:prstGeom prst="ellipse">
            <a:avLst/>
          </a:prstGeom>
          <a:solidFill>
            <a:srgbClr val="FFFFFF"/>
          </a:solidFill>
          <a:ln>
            <a:noFill/>
          </a:ln>
        </p:spPr>
        <p:txBody>
          <a:bodyPr rtlCol="0" anchor="ctr"/>
          <a:lstStyle/>
          <a:p>
            <a:pPr algn="ctr"/>
          </a:p>
        </p:txBody>
      </p:sp>
      <p:sp>
        <p:nvSpPr>
          <p:cNvPr id="14" name="Rounded Rectangle 13"/>
          <p:cNvSpPr/>
          <p:nvPr/>
        </p:nvSpPr>
        <p:spPr>
          <a:xfrm>
            <a:off x="4733925" y="2400300"/>
            <a:ext cx="438150" cy="247650"/>
          </a:xfrm>
          <a:prstGeom prst="roundRect">
            <a:avLst>
              <a:gd name="adj" fmla="val 50000"/>
            </a:avLst>
          </a:prstGeom>
          <a:solidFill>
            <a:srgbClr val="C9C9C4"/>
          </a:solidFill>
          <a:ln>
            <a:noFill/>
          </a:ln>
        </p:spPr>
        <p:txBody>
          <a:bodyPr rtlCol="0" anchor="ctr"/>
          <a:lstStyle/>
          <a:p>
            <a:pPr algn="ctr"/>
          </a:p>
        </p:txBody>
      </p:sp>
      <p:sp>
        <p:nvSpPr>
          <p:cNvPr id="15" name="Oval 14"/>
          <p:cNvSpPr/>
          <p:nvPr/>
        </p:nvSpPr>
        <p:spPr>
          <a:xfrm>
            <a:off x="4762500" y="2428875"/>
            <a:ext cx="190500" cy="190500"/>
          </a:xfrm>
          <a:prstGeom prst="ellipse">
            <a:avLst/>
          </a:prstGeom>
          <a:solidFill>
            <a:srgbClr val="FFFFFF"/>
          </a:solidFill>
          <a:ln>
            <a:noFill/>
          </a:ln>
        </p:spPr>
        <p:txBody>
          <a:bodyPr rtlCol="0" anchor="ctr"/>
          <a:lstStyle/>
          <a:p>
            <a:pPr algn="ctr"/>
          </a:p>
        </p:txBody>
      </p:sp>
      <p:sp>
        <p:nvSpPr>
          <p:cNvPr id="16" name="Rounded Rectangle 15"/>
          <p:cNvSpPr/>
          <p:nvPr/>
        </p:nvSpPr>
        <p:spPr>
          <a:xfrm>
            <a:off x="6067425" y="2400300"/>
            <a:ext cx="438150" cy="247650"/>
          </a:xfrm>
          <a:prstGeom prst="roundRect">
            <a:avLst>
              <a:gd name="adj" fmla="val 50000"/>
            </a:avLst>
          </a:prstGeom>
          <a:solidFill>
            <a:srgbClr val="C9C9C4"/>
          </a:solidFill>
          <a:ln>
            <a:noFill/>
          </a:ln>
        </p:spPr>
        <p:txBody>
          <a:bodyPr rtlCol="0" anchor="ctr"/>
          <a:lstStyle/>
          <a:p>
            <a:pPr algn="ctr"/>
          </a:p>
        </p:txBody>
      </p:sp>
      <p:sp>
        <p:nvSpPr>
          <p:cNvPr id="17" name="Oval 16"/>
          <p:cNvSpPr/>
          <p:nvPr/>
        </p:nvSpPr>
        <p:spPr>
          <a:xfrm>
            <a:off x="6096000" y="2428875"/>
            <a:ext cx="190500" cy="190500"/>
          </a:xfrm>
          <a:prstGeom prst="ellipse">
            <a:avLst/>
          </a:prstGeom>
          <a:solidFill>
            <a:srgbClr val="FFFFFF"/>
          </a:solidFill>
          <a:ln>
            <a:noFill/>
          </a:ln>
        </p:spPr>
        <p:txBody>
          <a:bodyPr rtlCol="0" anchor="ctr"/>
          <a:lstStyle/>
          <a:p>
            <a:pPr algn="ctr"/>
          </a:p>
        </p:txBody>
      </p:sp>
      <p:sp>
        <p:nvSpPr>
          <p:cNvPr id="18" name="Rectangle 17"/>
          <p:cNvSpPr/>
          <p:nvPr/>
        </p:nvSpPr>
        <p:spPr>
          <a:xfrm>
            <a:off x="838200" y="2933700"/>
            <a:ext cx="6210300" cy="9525"/>
          </a:xfrm>
          <a:prstGeom prst="rect">
            <a:avLst/>
          </a:prstGeom>
          <a:solidFill>
            <a:srgbClr val="DCDCD7"/>
          </a:solidFill>
          <a:ln>
            <a:noFill/>
          </a:ln>
        </p:spPr>
        <p:txBody>
          <a:bodyPr rtlCol="0" anchor="ctr"/>
          <a:lstStyle/>
          <a:p>
            <a:pPr algn="ctr"/>
          </a:p>
        </p:txBody>
      </p:sp>
      <p:sp>
        <p:nvSpPr>
          <p:cNvPr id="19" name="TextBox 18"/>
          <p:cNvSpPr txBox="1"/>
          <p:nvPr/>
        </p:nvSpPr>
        <p:spPr>
          <a:xfrm>
            <a:off x="838200" y="3124200"/>
            <a:ext cx="2171700" cy="257175"/>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Lightning alone</a:t>
            </a:r>
          </a:p>
        </p:txBody>
      </p:sp>
      <p:sp>
        <p:nvSpPr>
          <p:cNvPr id="20" name="Rounded Rectangle 19"/>
          <p:cNvSpPr/>
          <p:nvPr/>
        </p:nvSpPr>
        <p:spPr>
          <a:xfrm>
            <a:off x="3400425" y="3124200"/>
            <a:ext cx="438150" cy="247650"/>
          </a:xfrm>
          <a:prstGeom prst="roundRect">
            <a:avLst>
              <a:gd name="adj" fmla="val 50000"/>
            </a:avLst>
          </a:prstGeom>
          <a:solidFill>
            <a:srgbClr val="C9C9C4"/>
          </a:solidFill>
          <a:ln>
            <a:noFill/>
          </a:ln>
        </p:spPr>
        <p:txBody>
          <a:bodyPr rtlCol="0" anchor="ctr"/>
          <a:lstStyle/>
          <a:p>
            <a:pPr algn="ctr"/>
          </a:p>
        </p:txBody>
      </p:sp>
      <p:sp>
        <p:nvSpPr>
          <p:cNvPr id="21" name="Oval 20"/>
          <p:cNvSpPr/>
          <p:nvPr/>
        </p:nvSpPr>
        <p:spPr>
          <a:xfrm>
            <a:off x="3429000" y="3152775"/>
            <a:ext cx="190500" cy="190500"/>
          </a:xfrm>
          <a:prstGeom prst="ellipse">
            <a:avLst/>
          </a:prstGeom>
          <a:solidFill>
            <a:srgbClr val="FFFFFF"/>
          </a:solidFill>
          <a:ln>
            <a:noFill/>
          </a:ln>
        </p:spPr>
        <p:txBody>
          <a:bodyPr rtlCol="0" anchor="ctr"/>
          <a:lstStyle/>
          <a:p>
            <a:pPr algn="ctr"/>
          </a:p>
        </p:txBody>
      </p:sp>
      <p:sp>
        <p:nvSpPr>
          <p:cNvPr id="22" name="Rounded Rectangle 21"/>
          <p:cNvSpPr/>
          <p:nvPr/>
        </p:nvSpPr>
        <p:spPr>
          <a:xfrm>
            <a:off x="4733925" y="3124200"/>
            <a:ext cx="438150" cy="247650"/>
          </a:xfrm>
          <a:prstGeom prst="roundRect">
            <a:avLst>
              <a:gd name="adj" fmla="val 50000"/>
            </a:avLst>
          </a:prstGeom>
          <a:solidFill>
            <a:srgbClr val="1F3A8A"/>
          </a:solidFill>
          <a:ln>
            <a:noFill/>
          </a:ln>
        </p:spPr>
        <p:txBody>
          <a:bodyPr rtlCol="0" anchor="ctr"/>
          <a:lstStyle/>
          <a:p>
            <a:pPr algn="ctr"/>
          </a:p>
        </p:txBody>
      </p:sp>
      <p:sp>
        <p:nvSpPr>
          <p:cNvPr id="23" name="Oval 22"/>
          <p:cNvSpPr/>
          <p:nvPr/>
        </p:nvSpPr>
        <p:spPr>
          <a:xfrm>
            <a:off x="4953000" y="3152775"/>
            <a:ext cx="190500" cy="190500"/>
          </a:xfrm>
          <a:prstGeom prst="ellipse">
            <a:avLst/>
          </a:prstGeom>
          <a:solidFill>
            <a:srgbClr val="FFFFFF"/>
          </a:solidFill>
          <a:ln>
            <a:noFill/>
          </a:ln>
        </p:spPr>
        <p:txBody>
          <a:bodyPr rtlCol="0" anchor="ctr"/>
          <a:lstStyle/>
          <a:p>
            <a:pPr algn="ctr"/>
          </a:p>
        </p:txBody>
      </p:sp>
      <p:sp>
        <p:nvSpPr>
          <p:cNvPr id="24" name="Rounded Rectangle 23"/>
          <p:cNvSpPr/>
          <p:nvPr/>
        </p:nvSpPr>
        <p:spPr>
          <a:xfrm>
            <a:off x="6067425" y="3124200"/>
            <a:ext cx="438150" cy="247650"/>
          </a:xfrm>
          <a:prstGeom prst="roundRect">
            <a:avLst>
              <a:gd name="adj" fmla="val 50000"/>
            </a:avLst>
          </a:prstGeom>
          <a:solidFill>
            <a:srgbClr val="C9C9C4"/>
          </a:solidFill>
          <a:ln>
            <a:noFill/>
          </a:ln>
        </p:spPr>
        <p:txBody>
          <a:bodyPr rtlCol="0" anchor="ctr"/>
          <a:lstStyle/>
          <a:p>
            <a:pPr algn="ctr"/>
          </a:p>
        </p:txBody>
      </p:sp>
      <p:sp>
        <p:nvSpPr>
          <p:cNvPr id="25" name="Oval 24"/>
          <p:cNvSpPr/>
          <p:nvPr/>
        </p:nvSpPr>
        <p:spPr>
          <a:xfrm>
            <a:off x="6096000" y="3152775"/>
            <a:ext cx="190500" cy="190500"/>
          </a:xfrm>
          <a:prstGeom prst="ellipse">
            <a:avLst/>
          </a:prstGeom>
          <a:solidFill>
            <a:srgbClr val="FFFFFF"/>
          </a:solidFill>
          <a:ln>
            <a:noFill/>
          </a:ln>
        </p:spPr>
        <p:txBody>
          <a:bodyPr rtlCol="0" anchor="ctr"/>
          <a:lstStyle/>
          <a:p>
            <a:pPr algn="ctr"/>
          </a:p>
        </p:txBody>
      </p:sp>
      <p:sp>
        <p:nvSpPr>
          <p:cNvPr id="26" name="Rectangle 25"/>
          <p:cNvSpPr/>
          <p:nvPr/>
        </p:nvSpPr>
        <p:spPr>
          <a:xfrm>
            <a:off x="838200" y="3657600"/>
            <a:ext cx="6210300" cy="9525"/>
          </a:xfrm>
          <a:prstGeom prst="rect">
            <a:avLst/>
          </a:prstGeom>
          <a:solidFill>
            <a:srgbClr val="DCDCD7"/>
          </a:solidFill>
          <a:ln>
            <a:noFill/>
          </a:ln>
        </p:spPr>
        <p:txBody>
          <a:bodyPr rtlCol="0" anchor="ctr"/>
          <a:lstStyle/>
          <a:p>
            <a:pPr algn="ctr"/>
          </a:p>
        </p:txBody>
      </p:sp>
      <p:sp>
        <p:nvSpPr>
          <p:cNvPr id="27" name="TextBox 26"/>
          <p:cNvSpPr txBox="1"/>
          <p:nvPr/>
        </p:nvSpPr>
        <p:spPr>
          <a:xfrm>
            <a:off x="838200" y="3848100"/>
            <a:ext cx="2171700" cy="257175"/>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Weather with Gas</a:t>
            </a:r>
          </a:p>
        </p:txBody>
      </p:sp>
      <p:sp>
        <p:nvSpPr>
          <p:cNvPr id="28" name="Rounded Rectangle 27"/>
          <p:cNvSpPr/>
          <p:nvPr/>
        </p:nvSpPr>
        <p:spPr>
          <a:xfrm>
            <a:off x="3400425" y="3848100"/>
            <a:ext cx="438150" cy="247650"/>
          </a:xfrm>
          <a:prstGeom prst="roundRect">
            <a:avLst>
              <a:gd name="adj" fmla="val 50000"/>
            </a:avLst>
          </a:prstGeom>
          <a:solidFill>
            <a:srgbClr val="1F3A8A"/>
          </a:solidFill>
          <a:ln>
            <a:noFill/>
          </a:ln>
        </p:spPr>
        <p:txBody>
          <a:bodyPr rtlCol="0" anchor="ctr"/>
          <a:lstStyle/>
          <a:p>
            <a:pPr algn="ctr"/>
          </a:p>
        </p:txBody>
      </p:sp>
      <p:sp>
        <p:nvSpPr>
          <p:cNvPr id="29" name="Oval 28"/>
          <p:cNvSpPr/>
          <p:nvPr/>
        </p:nvSpPr>
        <p:spPr>
          <a:xfrm>
            <a:off x="3619500" y="3876675"/>
            <a:ext cx="190500" cy="190500"/>
          </a:xfrm>
          <a:prstGeom prst="ellipse">
            <a:avLst/>
          </a:prstGeom>
          <a:solidFill>
            <a:srgbClr val="FFFFFF"/>
          </a:solidFill>
          <a:ln>
            <a:noFill/>
          </a:ln>
        </p:spPr>
        <p:txBody>
          <a:bodyPr rtlCol="0" anchor="ctr"/>
          <a:lstStyle/>
          <a:p>
            <a:pPr algn="ctr"/>
          </a:p>
        </p:txBody>
      </p:sp>
      <p:sp>
        <p:nvSpPr>
          <p:cNvPr id="30" name="Rounded Rectangle 29"/>
          <p:cNvSpPr/>
          <p:nvPr/>
        </p:nvSpPr>
        <p:spPr>
          <a:xfrm>
            <a:off x="4733925" y="3848100"/>
            <a:ext cx="438150" cy="247650"/>
          </a:xfrm>
          <a:prstGeom prst="roundRect">
            <a:avLst>
              <a:gd name="adj" fmla="val 50000"/>
            </a:avLst>
          </a:prstGeom>
          <a:solidFill>
            <a:srgbClr val="C9C9C4"/>
          </a:solidFill>
          <a:ln>
            <a:noFill/>
          </a:ln>
        </p:spPr>
        <p:txBody>
          <a:bodyPr rtlCol="0" anchor="ctr"/>
          <a:lstStyle/>
          <a:p>
            <a:pPr algn="ctr"/>
          </a:p>
        </p:txBody>
      </p:sp>
      <p:sp>
        <p:nvSpPr>
          <p:cNvPr id="31" name="Oval 30"/>
          <p:cNvSpPr/>
          <p:nvPr/>
        </p:nvSpPr>
        <p:spPr>
          <a:xfrm>
            <a:off x="4762500" y="3876675"/>
            <a:ext cx="190500" cy="190500"/>
          </a:xfrm>
          <a:prstGeom prst="ellipse">
            <a:avLst/>
          </a:prstGeom>
          <a:solidFill>
            <a:srgbClr val="FFFFFF"/>
          </a:solidFill>
          <a:ln>
            <a:noFill/>
          </a:ln>
        </p:spPr>
        <p:txBody>
          <a:bodyPr rtlCol="0" anchor="ctr"/>
          <a:lstStyle/>
          <a:p>
            <a:pPr algn="ctr"/>
          </a:p>
        </p:txBody>
      </p:sp>
      <p:sp>
        <p:nvSpPr>
          <p:cNvPr id="32" name="Rounded Rectangle 31"/>
          <p:cNvSpPr/>
          <p:nvPr/>
        </p:nvSpPr>
        <p:spPr>
          <a:xfrm>
            <a:off x="6067425" y="3848100"/>
            <a:ext cx="438150" cy="247650"/>
          </a:xfrm>
          <a:prstGeom prst="roundRect">
            <a:avLst>
              <a:gd name="adj" fmla="val 50000"/>
            </a:avLst>
          </a:prstGeom>
          <a:solidFill>
            <a:srgbClr val="1F3A8A"/>
          </a:solidFill>
          <a:ln>
            <a:noFill/>
          </a:ln>
        </p:spPr>
        <p:txBody>
          <a:bodyPr rtlCol="0" anchor="ctr"/>
          <a:lstStyle/>
          <a:p>
            <a:pPr algn="ctr"/>
          </a:p>
        </p:txBody>
      </p:sp>
      <p:sp>
        <p:nvSpPr>
          <p:cNvPr id="33" name="Oval 32"/>
          <p:cNvSpPr/>
          <p:nvPr/>
        </p:nvSpPr>
        <p:spPr>
          <a:xfrm>
            <a:off x="6286500" y="3876675"/>
            <a:ext cx="190500" cy="190500"/>
          </a:xfrm>
          <a:prstGeom prst="ellipse">
            <a:avLst/>
          </a:prstGeom>
          <a:solidFill>
            <a:srgbClr val="FFFFFF"/>
          </a:solidFill>
          <a:ln>
            <a:noFill/>
          </a:ln>
        </p:spPr>
        <p:txBody>
          <a:bodyPr rtlCol="0" anchor="ctr"/>
          <a:lstStyle/>
          <a:p>
            <a:pPr algn="ctr"/>
          </a:p>
        </p:txBody>
      </p:sp>
      <p:sp>
        <p:nvSpPr>
          <p:cNvPr id="34" name="TextBox 33"/>
          <p:cNvSpPr txBox="1"/>
          <p:nvPr/>
        </p:nvSpPr>
        <p:spPr>
          <a:xfrm>
            <a:off x="838200" y="4191000"/>
            <a:ext cx="636270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Active or Inactive, one switch per product. Three real projects.</a:t>
            </a:r>
          </a:p>
        </p:txBody>
      </p:sp>
      <p:sp>
        <p:nvSpPr>
          <p:cNvPr id="35" name="Oval 34"/>
          <p:cNvSpPr/>
          <p:nvPr/>
        </p:nvSpPr>
        <p:spPr>
          <a:xfrm>
            <a:off x="7696200" y="1876425"/>
            <a:ext cx="95250" cy="95250"/>
          </a:xfrm>
          <a:prstGeom prst="ellipse">
            <a:avLst/>
          </a:prstGeom>
          <a:solidFill>
            <a:srgbClr val="FF8300"/>
          </a:solidFill>
          <a:ln>
            <a:noFill/>
          </a:ln>
        </p:spPr>
        <p:txBody>
          <a:bodyPr rtlCol="0" anchor="ctr"/>
          <a:lstStyle/>
          <a:p>
            <a:pPr algn="ctr"/>
          </a:p>
        </p:txBody>
      </p:sp>
      <p:sp>
        <p:nvSpPr>
          <p:cNvPr id="36" name="TextBox 35"/>
          <p:cNvSpPr txBox="1"/>
          <p:nvPr/>
        </p:nvSpPr>
        <p:spPr>
          <a:xfrm>
            <a:off x="7924800" y="1790700"/>
            <a:ext cx="3733800" cy="514350"/>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Settings, then Connected Products.</a:t>
            </a:r>
            <a:r>
              <a:rPr sz="1425" b="0" i="0">
                <a:solidFill>
                  <a:srgbClr val="2B2B2B"/>
                </a:solidFill>
                <a:latin typeface="Arial"/>
              </a:rPr>
              <a:t> One switch per product on a project.</a:t>
            </a:r>
          </a:p>
        </p:txBody>
      </p:sp>
      <p:sp>
        <p:nvSpPr>
          <p:cNvPr id="37" name="Oval 36"/>
          <p:cNvSpPr/>
          <p:nvPr/>
        </p:nvSpPr>
        <p:spPr>
          <a:xfrm>
            <a:off x="7696200" y="2600325"/>
            <a:ext cx="95250" cy="95250"/>
          </a:xfrm>
          <a:prstGeom prst="ellipse">
            <a:avLst/>
          </a:prstGeom>
          <a:solidFill>
            <a:srgbClr val="FF8300"/>
          </a:solidFill>
          <a:ln>
            <a:noFill/>
          </a:ln>
        </p:spPr>
        <p:txBody>
          <a:bodyPr rtlCol="0" anchor="ctr"/>
          <a:lstStyle/>
          <a:p>
            <a:pPr algn="ctr"/>
          </a:p>
        </p:txBody>
      </p:sp>
      <p:sp>
        <p:nvSpPr>
          <p:cNvPr id="38" name="TextBox 37"/>
          <p:cNvSpPr txBox="1"/>
          <p:nvPr/>
        </p:nvSpPr>
        <p:spPr>
          <a:xfrm>
            <a:off x="7924800" y="2514600"/>
            <a:ext cx="3733800" cy="514350"/>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The menu follows.</a:t>
            </a:r>
            <a:r>
              <a:rPr sz="1425" b="0" i="0">
                <a:solidFill>
                  <a:srgbClr val="2B2B2B"/>
                </a:solidFill>
                <a:latin typeface="Arial"/>
              </a:rPr>
              <a:t> A project's menu shows only what it has switched on.</a:t>
            </a:r>
          </a:p>
        </p:txBody>
      </p:sp>
      <p:sp>
        <p:nvSpPr>
          <p:cNvPr id="39" name="Oval 38"/>
          <p:cNvSpPr/>
          <p:nvPr/>
        </p:nvSpPr>
        <p:spPr>
          <a:xfrm>
            <a:off x="7696200" y="3324225"/>
            <a:ext cx="95250" cy="95250"/>
          </a:xfrm>
          <a:prstGeom prst="ellipse">
            <a:avLst/>
          </a:prstGeom>
          <a:solidFill>
            <a:srgbClr val="FF8300"/>
          </a:solidFill>
          <a:ln>
            <a:noFill/>
          </a:ln>
        </p:spPr>
        <p:txBody>
          <a:bodyPr rtlCol="0" anchor="ctr"/>
          <a:lstStyle/>
          <a:p>
            <a:pPr algn="ctr"/>
          </a:p>
        </p:txBody>
      </p:sp>
      <p:sp>
        <p:nvSpPr>
          <p:cNvPr id="40" name="TextBox 39"/>
          <p:cNvSpPr txBox="1"/>
          <p:nvPr/>
        </p:nvSpPr>
        <p:spPr>
          <a:xfrm>
            <a:off x="7924800" y="3238500"/>
            <a:ext cx="3733800" cy="514350"/>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One shell.</a:t>
            </a:r>
            <a:r>
              <a:rPr sz="1425" b="0" i="0">
                <a:solidFill>
                  <a:srgbClr val="2B2B2B"/>
                </a:solidFill>
                <a:latin typeface="Arial"/>
              </a:rPr>
              <a:t> One menu and header across all three products.</a:t>
            </a:r>
          </a:p>
        </p:txBody>
      </p:sp>
      <p:pic>
        <p:nvPicPr>
          <p:cNvPr id="41" name="Picture 40" descr="prod-c.png"/>
          <p:cNvPicPr>
            <a:picLocks noChangeAspect="1"/>
          </p:cNvPicPr>
          <p:nvPr/>
        </p:nvPicPr>
        <p:blipFill>
          <a:blip r:embed="rId2"/>
          <a:stretch>
            <a:fillRect/>
          </a:stretch>
        </p:blipFill>
        <p:spPr>
          <a:xfrm>
            <a:off x="619125" y="4810125"/>
            <a:ext cx="7410450" cy="952500"/>
          </a:xfrm>
          <a:prstGeom prst="rect">
            <a:avLst/>
          </a:prstGeom>
        </p:spPr>
      </p:pic>
      <p:sp>
        <p:nvSpPr>
          <p:cNvPr id="42" name="Rectangle 41"/>
          <p:cNvSpPr/>
          <p:nvPr/>
        </p:nvSpPr>
        <p:spPr>
          <a:xfrm>
            <a:off x="614362" y="4805362"/>
            <a:ext cx="7419975" cy="962025"/>
          </a:xfrm>
          <a:prstGeom prst="rect">
            <a:avLst/>
          </a:prstGeom>
          <a:noFill/>
          <a:ln w="9525">
            <a:solidFill>
              <a:srgbClr val="C9C9C4"/>
            </a:solidFill>
          </a:ln>
        </p:spPr>
        <p:txBody>
          <a:bodyPr rtlCol="0" anchor="ctr"/>
          <a:lstStyle/>
          <a:p>
            <a:pPr algn="ctr"/>
          </a:p>
        </p:txBody>
      </p:sp>
      <p:sp>
        <p:nvSpPr>
          <p:cNvPr id="43" name="TextBox 42"/>
          <p:cNvSpPr txBox="1"/>
          <p:nvPr/>
        </p:nvSpPr>
        <p:spPr>
          <a:xfrm>
            <a:off x="8267700" y="4838700"/>
            <a:ext cx="3390900" cy="54292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Live screen: Connected Products on a project with Weather Station and Gas on. Nothing was switched for this deck.</a:t>
            </a:r>
          </a:p>
        </p:txBody>
      </p:sp>
      <p:sp>
        <p:nvSpPr>
          <p:cNvPr id="44" name="TextBox 43"/>
          <p:cNvSpPr txBox="1"/>
          <p:nvPr/>
        </p:nvSpPr>
        <p:spPr>
          <a:xfrm>
            <a:off x="609600" y="6496050"/>
            <a:ext cx="5791200" cy="152400"/>
          </a:xfrm>
          <a:prstGeom prst="rect">
            <a:avLst/>
          </a:prstGeom>
          <a:noFill/>
        </p:spPr>
        <p:txBody>
          <a:bodyPr wrap="square" lIns="0" rIns="0" tIns="0" bIns="0" anchor="t">
            <a:noAutofit/>
          </a:bodyPr>
          <a:lstStyle/>
          <a:p>
            <a:pPr algn="l">
              <a:lnSpc>
                <a:spcPts val="1200"/>
              </a:lnSpc>
              <a:spcBef>
                <a:spcPts val="0"/>
              </a:spcBef>
              <a:spcAft>
                <a:spcPts val="0"/>
              </a:spcAft>
            </a:pPr>
            <a:r>
              <a:rPr sz="900" b="0" i="0">
                <a:solidFill>
                  <a:srgbClr val="6B6B6B"/>
                </a:solidFill>
                <a:latin typeface="Arial"/>
              </a:rPr>
              <a:t>Connected Environment 1.0 · Internal</a:t>
            </a:r>
          </a:p>
        </p:txBody>
      </p:sp>
      <p:sp>
        <p:nvSpPr>
          <p:cNvPr id="45" name="TextBox 44"/>
          <p:cNvSpPr txBox="1"/>
          <p:nvPr/>
        </p:nvSpPr>
        <p:spPr>
          <a:xfrm>
            <a:off x="10553700" y="6496050"/>
            <a:ext cx="1028700" cy="152400"/>
          </a:xfrm>
          <a:prstGeom prst="rect">
            <a:avLst/>
          </a:prstGeom>
          <a:noFill/>
        </p:spPr>
        <p:txBody>
          <a:bodyPr wrap="square" lIns="0" rIns="0" tIns="0" bIns="0" anchor="t">
            <a:noAutofit/>
          </a:bodyPr>
          <a:lstStyle/>
          <a:p>
            <a:pPr algn="r">
              <a:lnSpc>
                <a:spcPts val="1200"/>
              </a:lnSpc>
              <a:spcBef>
                <a:spcPts val="0"/>
              </a:spcBef>
              <a:spcAft>
                <a:spcPts val="0"/>
              </a:spcAft>
            </a:pPr>
            <a:r>
              <a:rPr sz="900" b="0" i="0">
                <a:solidFill>
                  <a:srgbClr val="6B6B6B"/>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itle 1"/>
          <p:cNvSpPr>
            <a:spLocks noGrp="1"/>
          </p:cNvSpPr>
          <p:nvPr>
            <p:ph type="title"/>
          </p:nvPr>
        </p:nvSpPr>
        <p:spPr>
          <a:xfrm>
            <a:off x="609600" y="876300"/>
            <a:ext cx="11049000" cy="419100"/>
          </a:xfrm>
        </p:spPr>
        <p:txBody>
          <a:bodyPr wrap="square" lIns="0" rIns="0" tIns="0" bIns="0" anchor="t">
            <a:noAutofit/>
          </a:bodyPr>
          <a:lstStyle/>
          <a:p>
            <a:pPr algn="l">
              <a:lnSpc>
                <a:spcPts val="3300"/>
              </a:lnSpc>
              <a:spcBef>
                <a:spcPts val="0"/>
              </a:spcBef>
              <a:spcAft>
                <a:spcPts val="0"/>
              </a:spcAft>
            </a:pPr>
            <a:r>
              <a:rPr sz="2850" b="1" i="0">
                <a:solidFill>
                  <a:srgbClr val="0C0C0C"/>
                </a:solidFill>
                <a:latin typeface="Arial"/>
              </a:rPr>
              <a:t>Three roads in, one platform behind them</a:t>
            </a:r>
          </a:p>
        </p:txBody>
      </p:sp>
      <p:sp>
        <p:nvSpPr>
          <p:cNvPr id="3" name="Rectangle 2"/>
          <p:cNvSpPr/>
          <p:nvPr/>
        </p:nvSpPr>
        <p:spPr>
          <a:xfrm>
            <a:off x="609600" y="495300"/>
            <a:ext cx="381000" cy="47625"/>
          </a:xfrm>
          <a:prstGeom prst="rect">
            <a:avLst/>
          </a:prstGeom>
          <a:solidFill>
            <a:srgbClr val="FF8300"/>
          </a:solidFill>
          <a:ln>
            <a:noFill/>
          </a:ln>
        </p:spPr>
        <p:txBody>
          <a:bodyPr rtlCol="0" anchor="ctr"/>
          <a:lstStyle/>
          <a:p>
            <a:pPr algn="ctr"/>
          </a:p>
        </p:txBody>
      </p:sp>
      <p:sp>
        <p:nvSpPr>
          <p:cNvPr id="4" name="TextBox 3"/>
          <p:cNvSpPr txBox="1"/>
          <p:nvPr/>
        </p:nvSpPr>
        <p:spPr>
          <a:xfrm>
            <a:off x="609600" y="647700"/>
            <a:ext cx="96012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HOW READINGS ARRIVE</a:t>
            </a:r>
          </a:p>
        </p:txBody>
      </p:sp>
      <p:sp>
        <p:nvSpPr>
          <p:cNvPr id="5" name="Rounded Rectangle 4"/>
          <p:cNvSpPr/>
          <p:nvPr/>
        </p:nvSpPr>
        <p:spPr>
          <a:xfrm>
            <a:off x="609600" y="1924050"/>
            <a:ext cx="1219200" cy="323850"/>
          </a:xfrm>
          <a:prstGeom prst="roundRect">
            <a:avLst>
              <a:gd name="adj" fmla="val 50000"/>
            </a:avLst>
          </a:prstGeom>
          <a:solidFill>
            <a:srgbClr val="0C0C0C"/>
          </a:solidFill>
          <a:ln>
            <a:noFill/>
          </a:ln>
        </p:spPr>
        <p:txBody>
          <a:bodyPr rtlCol="0" anchor="ctr"/>
          <a:lstStyle/>
          <a:p>
            <a:pPr algn="ctr"/>
          </a:p>
        </p:txBody>
      </p:sp>
      <p:sp>
        <p:nvSpPr>
          <p:cNvPr id="6" name="TextBox 5"/>
          <p:cNvSpPr txBox="1"/>
          <p:nvPr/>
        </p:nvSpPr>
        <p:spPr>
          <a:xfrm>
            <a:off x="571500" y="1924050"/>
            <a:ext cx="1295400" cy="323850"/>
          </a:xfrm>
          <a:prstGeom prst="rect">
            <a:avLst/>
          </a:prstGeom>
          <a:noFill/>
        </p:spPr>
        <p:txBody>
          <a:bodyPr wrap="none" lIns="0" rIns="0" tIns="0" bIns="0" anchor="t">
            <a:noAutofit/>
          </a:bodyPr>
          <a:lstStyle/>
          <a:p>
            <a:pPr algn="ctr">
              <a:lnSpc>
                <a:spcPts val="2550"/>
              </a:lnSpc>
              <a:spcBef>
                <a:spcPts val="0"/>
              </a:spcBef>
              <a:spcAft>
                <a:spcPts val="0"/>
              </a:spcAft>
            </a:pPr>
            <a:r>
              <a:rPr sz="1125" b="1" i="0">
                <a:solidFill>
                  <a:srgbClr val="FFFFFF"/>
                </a:solidFill>
                <a:latin typeface="Arial"/>
              </a:rPr>
              <a:t>Weather</a:t>
            </a:r>
          </a:p>
        </p:txBody>
      </p:sp>
      <p:sp>
        <p:nvSpPr>
          <p:cNvPr id="7" name="Rounded Rectangle 6"/>
          <p:cNvSpPr/>
          <p:nvPr/>
        </p:nvSpPr>
        <p:spPr>
          <a:xfrm>
            <a:off x="2138362" y="1719262"/>
            <a:ext cx="1895475" cy="733425"/>
          </a:xfrm>
          <a:prstGeom prst="roundRect">
            <a:avLst>
              <a:gd name="adj" fmla="val 12337"/>
            </a:avLst>
          </a:prstGeom>
          <a:solidFill>
            <a:srgbClr val="FFFFFF"/>
          </a:solidFill>
          <a:ln w="9525">
            <a:solidFill>
              <a:srgbClr val="DCDCD7"/>
            </a:solidFill>
          </a:ln>
        </p:spPr>
        <p:txBody>
          <a:bodyPr rtlCol="0" anchor="ctr"/>
          <a:lstStyle/>
          <a:p>
            <a:pPr algn="ctr"/>
          </a:p>
        </p:txBody>
      </p:sp>
      <p:sp>
        <p:nvSpPr>
          <p:cNvPr id="8" name="TextBox 7"/>
          <p:cNvSpPr txBox="1"/>
          <p:nvPr/>
        </p:nvSpPr>
        <p:spPr>
          <a:xfrm>
            <a:off x="2209800" y="1990725"/>
            <a:ext cx="1752600" cy="190500"/>
          </a:xfrm>
          <a:prstGeom prst="rect">
            <a:avLst/>
          </a:prstGeom>
          <a:noFill/>
        </p:spPr>
        <p:txBody>
          <a:bodyPr wrap="square" lIns="0" rIns="0" tIns="0" bIns="0" anchor="t">
            <a:noAutofit/>
          </a:bodyPr>
          <a:lstStyle/>
          <a:p>
            <a:pPr algn="ctr">
              <a:lnSpc>
                <a:spcPts val="1500"/>
              </a:lnSpc>
              <a:spcBef>
                <a:spcPts val="0"/>
              </a:spcBef>
              <a:spcAft>
                <a:spcPts val="0"/>
              </a:spcAft>
            </a:pPr>
            <a:r>
              <a:rPr sz="1125" b="1" i="0">
                <a:solidFill>
                  <a:srgbClr val="0C0C0C"/>
                </a:solidFill>
                <a:latin typeface="Arial"/>
              </a:rPr>
              <a:t>Weather station</a:t>
            </a:r>
          </a:p>
        </p:txBody>
      </p:sp>
      <p:sp>
        <p:nvSpPr>
          <p:cNvPr id="9" name="TextBox 8"/>
          <p:cNvSpPr txBox="1"/>
          <p:nvPr/>
        </p:nvSpPr>
        <p:spPr>
          <a:xfrm>
            <a:off x="4038600" y="1943100"/>
            <a:ext cx="457200" cy="295275"/>
          </a:xfrm>
          <a:prstGeom prst="rect">
            <a:avLst/>
          </a:prstGeom>
          <a:noFill/>
        </p:spPr>
        <p:txBody>
          <a:bodyPr wrap="square" lIns="0" rIns="0" tIns="0" bIns="0" anchor="t">
            <a:noAutofit/>
          </a:bodyPr>
          <a:lstStyle/>
          <a:p>
            <a:pPr algn="ctr">
              <a:lnSpc>
                <a:spcPts val="2325"/>
              </a:lnSpc>
              <a:spcBef>
                <a:spcPts val="0"/>
              </a:spcBef>
              <a:spcAft>
                <a:spcPts val="0"/>
              </a:spcAft>
            </a:pPr>
            <a:r>
              <a:rPr sz="1950" b="1" i="0">
                <a:solidFill>
                  <a:srgbClr val="FF8300"/>
                </a:solidFill>
                <a:latin typeface="Arial"/>
              </a:rPr>
              <a:t>→</a:t>
            </a:r>
          </a:p>
        </p:txBody>
      </p:sp>
      <p:sp>
        <p:nvSpPr>
          <p:cNvPr id="10" name="Rounded Rectangle 9"/>
          <p:cNvSpPr/>
          <p:nvPr/>
        </p:nvSpPr>
        <p:spPr>
          <a:xfrm>
            <a:off x="4500562" y="1719262"/>
            <a:ext cx="1895475" cy="733425"/>
          </a:xfrm>
          <a:prstGeom prst="roundRect">
            <a:avLst>
              <a:gd name="adj" fmla="val 12337"/>
            </a:avLst>
          </a:prstGeom>
          <a:solidFill>
            <a:srgbClr val="FFFFFF"/>
          </a:solidFill>
          <a:ln w="9525">
            <a:solidFill>
              <a:srgbClr val="DCDCD7"/>
            </a:solidFill>
          </a:ln>
        </p:spPr>
        <p:txBody>
          <a:bodyPr rtlCol="0" anchor="ctr"/>
          <a:lstStyle/>
          <a:p>
            <a:pPr algn="ctr"/>
          </a:p>
        </p:txBody>
      </p:sp>
      <p:sp>
        <p:nvSpPr>
          <p:cNvPr id="11" name="TextBox 10"/>
          <p:cNvSpPr txBox="1"/>
          <p:nvPr/>
        </p:nvSpPr>
        <p:spPr>
          <a:xfrm>
            <a:off x="4572000" y="1990725"/>
            <a:ext cx="1752600" cy="190500"/>
          </a:xfrm>
          <a:prstGeom prst="rect">
            <a:avLst/>
          </a:prstGeom>
          <a:noFill/>
        </p:spPr>
        <p:txBody>
          <a:bodyPr wrap="square" lIns="0" rIns="0" tIns="0" bIns="0" anchor="t">
            <a:noAutofit/>
          </a:bodyPr>
          <a:lstStyle/>
          <a:p>
            <a:pPr algn="ctr">
              <a:lnSpc>
                <a:spcPts val="1500"/>
              </a:lnSpc>
              <a:spcBef>
                <a:spcPts val="0"/>
              </a:spcBef>
              <a:spcAft>
                <a:spcPts val="0"/>
              </a:spcAft>
            </a:pPr>
            <a:r>
              <a:rPr sz="1125" b="1" i="0">
                <a:solidFill>
                  <a:srgbClr val="0C0C0C"/>
                </a:solidFill>
                <a:latin typeface="Arial"/>
              </a:rPr>
              <a:t>Site wireless mesh</a:t>
            </a:r>
          </a:p>
        </p:txBody>
      </p:sp>
      <p:sp>
        <p:nvSpPr>
          <p:cNvPr id="12" name="TextBox 11"/>
          <p:cNvSpPr txBox="1"/>
          <p:nvPr/>
        </p:nvSpPr>
        <p:spPr>
          <a:xfrm>
            <a:off x="6400800" y="1943100"/>
            <a:ext cx="457200" cy="295275"/>
          </a:xfrm>
          <a:prstGeom prst="rect">
            <a:avLst/>
          </a:prstGeom>
          <a:noFill/>
        </p:spPr>
        <p:txBody>
          <a:bodyPr wrap="square" lIns="0" rIns="0" tIns="0" bIns="0" anchor="t">
            <a:noAutofit/>
          </a:bodyPr>
          <a:lstStyle/>
          <a:p>
            <a:pPr algn="ctr">
              <a:lnSpc>
                <a:spcPts val="2325"/>
              </a:lnSpc>
              <a:spcBef>
                <a:spcPts val="0"/>
              </a:spcBef>
              <a:spcAft>
                <a:spcPts val="0"/>
              </a:spcAft>
            </a:pPr>
            <a:r>
              <a:rPr sz="1950" b="1" i="0">
                <a:solidFill>
                  <a:srgbClr val="FF8300"/>
                </a:solidFill>
                <a:latin typeface="Arial"/>
              </a:rPr>
              <a:t>→</a:t>
            </a:r>
          </a:p>
        </p:txBody>
      </p:sp>
      <p:sp>
        <p:nvSpPr>
          <p:cNvPr id="13" name="Rounded Rectangle 12"/>
          <p:cNvSpPr/>
          <p:nvPr/>
        </p:nvSpPr>
        <p:spPr>
          <a:xfrm>
            <a:off x="6862762" y="1719262"/>
            <a:ext cx="1895475" cy="733425"/>
          </a:xfrm>
          <a:prstGeom prst="roundRect">
            <a:avLst>
              <a:gd name="adj" fmla="val 12337"/>
            </a:avLst>
          </a:prstGeom>
          <a:solidFill>
            <a:srgbClr val="FFFFFF"/>
          </a:solidFill>
          <a:ln w="9525">
            <a:solidFill>
              <a:srgbClr val="DCDCD7"/>
            </a:solidFill>
          </a:ln>
        </p:spPr>
        <p:txBody>
          <a:bodyPr rtlCol="0" anchor="ctr"/>
          <a:lstStyle/>
          <a:p>
            <a:pPr algn="ctr"/>
          </a:p>
        </p:txBody>
      </p:sp>
      <p:sp>
        <p:nvSpPr>
          <p:cNvPr id="14" name="TextBox 13"/>
          <p:cNvSpPr txBox="1"/>
          <p:nvPr/>
        </p:nvSpPr>
        <p:spPr>
          <a:xfrm>
            <a:off x="6934200" y="1990725"/>
            <a:ext cx="1752600" cy="190500"/>
          </a:xfrm>
          <a:prstGeom prst="rect">
            <a:avLst/>
          </a:prstGeom>
          <a:noFill/>
        </p:spPr>
        <p:txBody>
          <a:bodyPr wrap="square" lIns="0" rIns="0" tIns="0" bIns="0" anchor="t">
            <a:noAutofit/>
          </a:bodyPr>
          <a:lstStyle/>
          <a:p>
            <a:pPr algn="ctr">
              <a:lnSpc>
                <a:spcPts val="1500"/>
              </a:lnSpc>
              <a:spcBef>
                <a:spcPts val="0"/>
              </a:spcBef>
              <a:spcAft>
                <a:spcPts val="0"/>
              </a:spcAft>
            </a:pPr>
            <a:r>
              <a:rPr sz="1125" b="1" i="0">
                <a:solidFill>
                  <a:srgbClr val="0C0C0C"/>
                </a:solidFill>
                <a:latin typeface="Arial"/>
              </a:rPr>
              <a:t>Gateway</a:t>
            </a:r>
          </a:p>
        </p:txBody>
      </p:sp>
      <p:sp>
        <p:nvSpPr>
          <p:cNvPr id="15" name="TextBox 14"/>
          <p:cNvSpPr txBox="1"/>
          <p:nvPr/>
        </p:nvSpPr>
        <p:spPr>
          <a:xfrm>
            <a:off x="8763000" y="1943100"/>
            <a:ext cx="457200" cy="295275"/>
          </a:xfrm>
          <a:prstGeom prst="rect">
            <a:avLst/>
          </a:prstGeom>
          <a:noFill/>
        </p:spPr>
        <p:txBody>
          <a:bodyPr wrap="square" lIns="0" rIns="0" tIns="0" bIns="0" anchor="t">
            <a:noAutofit/>
          </a:bodyPr>
          <a:lstStyle/>
          <a:p>
            <a:pPr algn="ctr">
              <a:lnSpc>
                <a:spcPts val="2325"/>
              </a:lnSpc>
              <a:spcBef>
                <a:spcPts val="0"/>
              </a:spcBef>
              <a:spcAft>
                <a:spcPts val="0"/>
              </a:spcAft>
            </a:pPr>
            <a:r>
              <a:rPr sz="1950" b="1" i="0">
                <a:solidFill>
                  <a:srgbClr val="FF8300"/>
                </a:solidFill>
                <a:latin typeface="Arial"/>
              </a:rPr>
              <a:t>→</a:t>
            </a:r>
          </a:p>
        </p:txBody>
      </p:sp>
      <p:sp>
        <p:nvSpPr>
          <p:cNvPr id="16" name="Rounded Rectangle 15"/>
          <p:cNvSpPr/>
          <p:nvPr/>
        </p:nvSpPr>
        <p:spPr>
          <a:xfrm>
            <a:off x="9224962" y="1719262"/>
            <a:ext cx="1895475" cy="733425"/>
          </a:xfrm>
          <a:prstGeom prst="roundRect">
            <a:avLst>
              <a:gd name="adj" fmla="val 12337"/>
            </a:avLst>
          </a:prstGeom>
          <a:solidFill>
            <a:srgbClr val="FFF1E0"/>
          </a:solidFill>
          <a:ln w="9525">
            <a:solidFill>
              <a:srgbClr val="F3C894"/>
            </a:solidFill>
          </a:ln>
        </p:spPr>
        <p:txBody>
          <a:bodyPr rtlCol="0" anchor="ctr"/>
          <a:lstStyle/>
          <a:p>
            <a:pPr algn="ctr"/>
          </a:p>
        </p:txBody>
      </p:sp>
      <p:sp>
        <p:nvSpPr>
          <p:cNvPr id="17" name="TextBox 16"/>
          <p:cNvSpPr txBox="1"/>
          <p:nvPr/>
        </p:nvSpPr>
        <p:spPr>
          <a:xfrm>
            <a:off x="9296400" y="1895475"/>
            <a:ext cx="1752600" cy="381000"/>
          </a:xfrm>
          <a:prstGeom prst="rect">
            <a:avLst/>
          </a:prstGeom>
          <a:noFill/>
        </p:spPr>
        <p:txBody>
          <a:bodyPr wrap="square" lIns="0" rIns="0" tIns="0" bIns="0" anchor="t">
            <a:noAutofit/>
          </a:bodyPr>
          <a:lstStyle/>
          <a:p>
            <a:pPr algn="ctr">
              <a:lnSpc>
                <a:spcPts val="1500"/>
              </a:lnSpc>
              <a:spcBef>
                <a:spcPts val="0"/>
              </a:spcBef>
              <a:spcAft>
                <a:spcPts val="0"/>
              </a:spcAft>
            </a:pPr>
            <a:r>
              <a:rPr sz="1125" b="1" i="0">
                <a:solidFill>
                  <a:srgbClr val="0C0C0C"/>
                </a:solidFill>
                <a:latin typeface="Arial"/>
              </a:rPr>
              <a:t>WakeCap cloud decodes and stores</a:t>
            </a:r>
          </a:p>
        </p:txBody>
      </p:sp>
      <p:sp>
        <p:nvSpPr>
          <p:cNvPr id="18" name="Rounded Rectangle 17"/>
          <p:cNvSpPr/>
          <p:nvPr/>
        </p:nvSpPr>
        <p:spPr>
          <a:xfrm>
            <a:off x="609600" y="2990850"/>
            <a:ext cx="1219200" cy="323850"/>
          </a:xfrm>
          <a:prstGeom prst="roundRect">
            <a:avLst>
              <a:gd name="adj" fmla="val 50000"/>
            </a:avLst>
          </a:prstGeom>
          <a:solidFill>
            <a:srgbClr val="0C0C0C"/>
          </a:solidFill>
          <a:ln>
            <a:noFill/>
          </a:ln>
        </p:spPr>
        <p:txBody>
          <a:bodyPr rtlCol="0" anchor="ctr"/>
          <a:lstStyle/>
          <a:p>
            <a:pPr algn="ctr"/>
          </a:p>
        </p:txBody>
      </p:sp>
      <p:sp>
        <p:nvSpPr>
          <p:cNvPr id="19" name="TextBox 18"/>
          <p:cNvSpPr txBox="1"/>
          <p:nvPr/>
        </p:nvSpPr>
        <p:spPr>
          <a:xfrm>
            <a:off x="571500" y="2990850"/>
            <a:ext cx="1295400" cy="323850"/>
          </a:xfrm>
          <a:prstGeom prst="rect">
            <a:avLst/>
          </a:prstGeom>
          <a:noFill/>
        </p:spPr>
        <p:txBody>
          <a:bodyPr wrap="none" lIns="0" rIns="0" tIns="0" bIns="0" anchor="t">
            <a:noAutofit/>
          </a:bodyPr>
          <a:lstStyle/>
          <a:p>
            <a:pPr algn="ctr">
              <a:lnSpc>
                <a:spcPts val="2550"/>
              </a:lnSpc>
              <a:spcBef>
                <a:spcPts val="0"/>
              </a:spcBef>
              <a:spcAft>
                <a:spcPts val="0"/>
              </a:spcAft>
            </a:pPr>
            <a:r>
              <a:rPr sz="1125" b="1" i="0">
                <a:solidFill>
                  <a:srgbClr val="FFFFFF"/>
                </a:solidFill>
                <a:latin typeface="Arial"/>
              </a:rPr>
              <a:t>Lightning</a:t>
            </a:r>
          </a:p>
        </p:txBody>
      </p:sp>
      <p:sp>
        <p:nvSpPr>
          <p:cNvPr id="20" name="Rounded Rectangle 19"/>
          <p:cNvSpPr/>
          <p:nvPr/>
        </p:nvSpPr>
        <p:spPr>
          <a:xfrm>
            <a:off x="2138362" y="2786062"/>
            <a:ext cx="1895475" cy="733425"/>
          </a:xfrm>
          <a:prstGeom prst="roundRect">
            <a:avLst>
              <a:gd name="adj" fmla="val 12337"/>
            </a:avLst>
          </a:prstGeom>
          <a:solidFill>
            <a:srgbClr val="FFFFFF"/>
          </a:solidFill>
          <a:ln w="9525">
            <a:solidFill>
              <a:srgbClr val="DCDCD7"/>
            </a:solidFill>
          </a:ln>
        </p:spPr>
        <p:txBody>
          <a:bodyPr rtlCol="0" anchor="ctr"/>
          <a:lstStyle/>
          <a:p>
            <a:pPr algn="ctr"/>
          </a:p>
        </p:txBody>
      </p:sp>
      <p:sp>
        <p:nvSpPr>
          <p:cNvPr id="21" name="TextBox 20"/>
          <p:cNvSpPr txBox="1"/>
          <p:nvPr/>
        </p:nvSpPr>
        <p:spPr>
          <a:xfrm>
            <a:off x="2209800" y="2962275"/>
            <a:ext cx="1752600" cy="381000"/>
          </a:xfrm>
          <a:prstGeom prst="rect">
            <a:avLst/>
          </a:prstGeom>
          <a:noFill/>
        </p:spPr>
        <p:txBody>
          <a:bodyPr wrap="square" lIns="0" rIns="0" tIns="0" bIns="0" anchor="t">
            <a:noAutofit/>
          </a:bodyPr>
          <a:lstStyle/>
          <a:p>
            <a:pPr algn="ctr">
              <a:lnSpc>
                <a:spcPts val="1500"/>
              </a:lnSpc>
              <a:spcBef>
                <a:spcPts val="0"/>
              </a:spcBef>
              <a:spcAft>
                <a:spcPts val="0"/>
              </a:spcAft>
            </a:pPr>
            <a:r>
              <a:rPr sz="1125" b="1" i="0">
                <a:solidFill>
                  <a:srgbClr val="0C0C0C"/>
                </a:solidFill>
                <a:latin typeface="Arial"/>
              </a:rPr>
              <a:t>Sensor and input module</a:t>
            </a:r>
          </a:p>
        </p:txBody>
      </p:sp>
      <p:sp>
        <p:nvSpPr>
          <p:cNvPr id="22" name="TextBox 21"/>
          <p:cNvSpPr txBox="1"/>
          <p:nvPr/>
        </p:nvSpPr>
        <p:spPr>
          <a:xfrm>
            <a:off x="4038600" y="3009900"/>
            <a:ext cx="457200" cy="295275"/>
          </a:xfrm>
          <a:prstGeom prst="rect">
            <a:avLst/>
          </a:prstGeom>
          <a:noFill/>
        </p:spPr>
        <p:txBody>
          <a:bodyPr wrap="square" lIns="0" rIns="0" tIns="0" bIns="0" anchor="t">
            <a:noAutofit/>
          </a:bodyPr>
          <a:lstStyle/>
          <a:p>
            <a:pPr algn="ctr">
              <a:lnSpc>
                <a:spcPts val="2325"/>
              </a:lnSpc>
              <a:spcBef>
                <a:spcPts val="0"/>
              </a:spcBef>
              <a:spcAft>
                <a:spcPts val="0"/>
              </a:spcAft>
            </a:pPr>
            <a:r>
              <a:rPr sz="1950" b="1" i="0">
                <a:solidFill>
                  <a:srgbClr val="FF8300"/>
                </a:solidFill>
                <a:latin typeface="Arial"/>
              </a:rPr>
              <a:t>→</a:t>
            </a:r>
          </a:p>
        </p:txBody>
      </p:sp>
      <p:sp>
        <p:nvSpPr>
          <p:cNvPr id="23" name="Rounded Rectangle 22"/>
          <p:cNvSpPr/>
          <p:nvPr/>
        </p:nvSpPr>
        <p:spPr>
          <a:xfrm>
            <a:off x="4500562" y="2786062"/>
            <a:ext cx="1895475" cy="733425"/>
          </a:xfrm>
          <a:prstGeom prst="roundRect">
            <a:avLst>
              <a:gd name="adj" fmla="val 12337"/>
            </a:avLst>
          </a:prstGeom>
          <a:solidFill>
            <a:srgbClr val="FFFFFF"/>
          </a:solidFill>
          <a:ln w="9525">
            <a:solidFill>
              <a:srgbClr val="DCDCD7"/>
            </a:solidFill>
          </a:ln>
        </p:spPr>
        <p:txBody>
          <a:bodyPr rtlCol="0" anchor="ctr"/>
          <a:lstStyle/>
          <a:p>
            <a:pPr algn="ctr"/>
          </a:p>
        </p:txBody>
      </p:sp>
      <p:sp>
        <p:nvSpPr>
          <p:cNvPr id="24" name="TextBox 23"/>
          <p:cNvSpPr txBox="1"/>
          <p:nvPr/>
        </p:nvSpPr>
        <p:spPr>
          <a:xfrm>
            <a:off x="4572000" y="2962275"/>
            <a:ext cx="1752600" cy="381000"/>
          </a:xfrm>
          <a:prstGeom prst="rect">
            <a:avLst/>
          </a:prstGeom>
          <a:noFill/>
        </p:spPr>
        <p:txBody>
          <a:bodyPr wrap="square" lIns="0" rIns="0" tIns="0" bIns="0" anchor="t">
            <a:noAutofit/>
          </a:bodyPr>
          <a:lstStyle/>
          <a:p>
            <a:pPr algn="ctr">
              <a:lnSpc>
                <a:spcPts val="1500"/>
              </a:lnSpc>
              <a:spcBef>
                <a:spcPts val="0"/>
              </a:spcBef>
              <a:spcAft>
                <a:spcPts val="0"/>
              </a:spcAft>
            </a:pPr>
            <a:r>
              <a:rPr sz="1125" b="1" i="0">
                <a:solidFill>
                  <a:srgbClr val="0C0C0C"/>
                </a:solidFill>
                <a:latin typeface="Arial"/>
              </a:rPr>
              <a:t>Modbus device on the mesh</a:t>
            </a:r>
          </a:p>
        </p:txBody>
      </p:sp>
      <p:sp>
        <p:nvSpPr>
          <p:cNvPr id="25" name="TextBox 24"/>
          <p:cNvSpPr txBox="1"/>
          <p:nvPr/>
        </p:nvSpPr>
        <p:spPr>
          <a:xfrm>
            <a:off x="6400800" y="3009900"/>
            <a:ext cx="457200" cy="295275"/>
          </a:xfrm>
          <a:prstGeom prst="rect">
            <a:avLst/>
          </a:prstGeom>
          <a:noFill/>
        </p:spPr>
        <p:txBody>
          <a:bodyPr wrap="square" lIns="0" rIns="0" tIns="0" bIns="0" anchor="t">
            <a:noAutofit/>
          </a:bodyPr>
          <a:lstStyle/>
          <a:p>
            <a:pPr algn="ctr">
              <a:lnSpc>
                <a:spcPts val="2325"/>
              </a:lnSpc>
              <a:spcBef>
                <a:spcPts val="0"/>
              </a:spcBef>
              <a:spcAft>
                <a:spcPts val="0"/>
              </a:spcAft>
            </a:pPr>
            <a:r>
              <a:rPr sz="1950" b="1" i="0">
                <a:solidFill>
                  <a:srgbClr val="FF8300"/>
                </a:solidFill>
                <a:latin typeface="Arial"/>
              </a:rPr>
              <a:t>→</a:t>
            </a:r>
          </a:p>
        </p:txBody>
      </p:sp>
      <p:sp>
        <p:nvSpPr>
          <p:cNvPr id="26" name="Rounded Rectangle 25"/>
          <p:cNvSpPr/>
          <p:nvPr/>
        </p:nvSpPr>
        <p:spPr>
          <a:xfrm>
            <a:off x="6862762" y="2786062"/>
            <a:ext cx="1895475" cy="733425"/>
          </a:xfrm>
          <a:prstGeom prst="roundRect">
            <a:avLst>
              <a:gd name="adj" fmla="val 12337"/>
            </a:avLst>
          </a:prstGeom>
          <a:solidFill>
            <a:srgbClr val="FFFFFF"/>
          </a:solidFill>
          <a:ln w="9525">
            <a:solidFill>
              <a:srgbClr val="DCDCD7"/>
            </a:solidFill>
          </a:ln>
        </p:spPr>
        <p:txBody>
          <a:bodyPr rtlCol="0" anchor="ctr"/>
          <a:lstStyle/>
          <a:p>
            <a:pPr algn="ctr"/>
          </a:p>
        </p:txBody>
      </p:sp>
      <p:sp>
        <p:nvSpPr>
          <p:cNvPr id="27" name="TextBox 26"/>
          <p:cNvSpPr txBox="1"/>
          <p:nvPr/>
        </p:nvSpPr>
        <p:spPr>
          <a:xfrm>
            <a:off x="6934200" y="3057525"/>
            <a:ext cx="1752600" cy="190500"/>
          </a:xfrm>
          <a:prstGeom prst="rect">
            <a:avLst/>
          </a:prstGeom>
          <a:noFill/>
        </p:spPr>
        <p:txBody>
          <a:bodyPr wrap="square" lIns="0" rIns="0" tIns="0" bIns="0" anchor="t">
            <a:noAutofit/>
          </a:bodyPr>
          <a:lstStyle/>
          <a:p>
            <a:pPr algn="ctr">
              <a:lnSpc>
                <a:spcPts val="1500"/>
              </a:lnSpc>
              <a:spcBef>
                <a:spcPts val="0"/>
              </a:spcBef>
              <a:spcAft>
                <a:spcPts val="0"/>
              </a:spcAft>
            </a:pPr>
            <a:r>
              <a:rPr sz="1125" b="1" i="0">
                <a:solidFill>
                  <a:srgbClr val="0C0C0C"/>
                </a:solidFill>
                <a:latin typeface="Arial"/>
              </a:rPr>
              <a:t>Gateway</a:t>
            </a:r>
          </a:p>
        </p:txBody>
      </p:sp>
      <p:sp>
        <p:nvSpPr>
          <p:cNvPr id="28" name="TextBox 27"/>
          <p:cNvSpPr txBox="1"/>
          <p:nvPr/>
        </p:nvSpPr>
        <p:spPr>
          <a:xfrm>
            <a:off x="8763000" y="3009900"/>
            <a:ext cx="457200" cy="295275"/>
          </a:xfrm>
          <a:prstGeom prst="rect">
            <a:avLst/>
          </a:prstGeom>
          <a:noFill/>
        </p:spPr>
        <p:txBody>
          <a:bodyPr wrap="square" lIns="0" rIns="0" tIns="0" bIns="0" anchor="t">
            <a:noAutofit/>
          </a:bodyPr>
          <a:lstStyle/>
          <a:p>
            <a:pPr algn="ctr">
              <a:lnSpc>
                <a:spcPts val="2325"/>
              </a:lnSpc>
              <a:spcBef>
                <a:spcPts val="0"/>
              </a:spcBef>
              <a:spcAft>
                <a:spcPts val="0"/>
              </a:spcAft>
            </a:pPr>
            <a:r>
              <a:rPr sz="1950" b="1" i="0">
                <a:solidFill>
                  <a:srgbClr val="FF8300"/>
                </a:solidFill>
                <a:latin typeface="Arial"/>
              </a:rPr>
              <a:t>→</a:t>
            </a:r>
          </a:p>
        </p:txBody>
      </p:sp>
      <p:sp>
        <p:nvSpPr>
          <p:cNvPr id="29" name="Rounded Rectangle 28"/>
          <p:cNvSpPr/>
          <p:nvPr/>
        </p:nvSpPr>
        <p:spPr>
          <a:xfrm>
            <a:off x="9224962" y="2786062"/>
            <a:ext cx="1895475" cy="733425"/>
          </a:xfrm>
          <a:prstGeom prst="roundRect">
            <a:avLst>
              <a:gd name="adj" fmla="val 12337"/>
            </a:avLst>
          </a:prstGeom>
          <a:solidFill>
            <a:srgbClr val="FFF1E0"/>
          </a:solidFill>
          <a:ln w="9525">
            <a:solidFill>
              <a:srgbClr val="F3C894"/>
            </a:solidFill>
          </a:ln>
        </p:spPr>
        <p:txBody>
          <a:bodyPr rtlCol="0" anchor="ctr"/>
          <a:lstStyle/>
          <a:p>
            <a:pPr algn="ctr"/>
          </a:p>
        </p:txBody>
      </p:sp>
      <p:sp>
        <p:nvSpPr>
          <p:cNvPr id="30" name="TextBox 29"/>
          <p:cNvSpPr txBox="1"/>
          <p:nvPr/>
        </p:nvSpPr>
        <p:spPr>
          <a:xfrm>
            <a:off x="9296400" y="2867025"/>
            <a:ext cx="1752600" cy="571500"/>
          </a:xfrm>
          <a:prstGeom prst="rect">
            <a:avLst/>
          </a:prstGeom>
          <a:noFill/>
        </p:spPr>
        <p:txBody>
          <a:bodyPr wrap="square" lIns="0" rIns="0" tIns="0" bIns="0" anchor="t">
            <a:noAutofit/>
          </a:bodyPr>
          <a:lstStyle/>
          <a:p>
            <a:pPr algn="ctr">
              <a:lnSpc>
                <a:spcPts val="1500"/>
              </a:lnSpc>
              <a:spcBef>
                <a:spcPts val="0"/>
              </a:spcBef>
              <a:spcAft>
                <a:spcPts val="0"/>
              </a:spcAft>
            </a:pPr>
            <a:r>
              <a:rPr sz="1125" b="1" i="0">
                <a:solidFill>
                  <a:srgbClr val="0C0C0C"/>
                </a:solidFill>
                <a:latin typeface="Arial"/>
              </a:rPr>
              <a:t>WakeCap cloud, unreadable data set aside</a:t>
            </a:r>
          </a:p>
        </p:txBody>
      </p:sp>
      <p:sp>
        <p:nvSpPr>
          <p:cNvPr id="31" name="Rounded Rectangle 30"/>
          <p:cNvSpPr/>
          <p:nvPr/>
        </p:nvSpPr>
        <p:spPr>
          <a:xfrm>
            <a:off x="609600" y="4057650"/>
            <a:ext cx="1219200" cy="323850"/>
          </a:xfrm>
          <a:prstGeom prst="roundRect">
            <a:avLst>
              <a:gd name="adj" fmla="val 50000"/>
            </a:avLst>
          </a:prstGeom>
          <a:solidFill>
            <a:srgbClr val="0C0C0C"/>
          </a:solidFill>
          <a:ln>
            <a:noFill/>
          </a:ln>
        </p:spPr>
        <p:txBody>
          <a:bodyPr rtlCol="0" anchor="ctr"/>
          <a:lstStyle/>
          <a:p>
            <a:pPr algn="ctr"/>
          </a:p>
        </p:txBody>
      </p:sp>
      <p:sp>
        <p:nvSpPr>
          <p:cNvPr id="32" name="TextBox 31"/>
          <p:cNvSpPr txBox="1"/>
          <p:nvPr/>
        </p:nvSpPr>
        <p:spPr>
          <a:xfrm>
            <a:off x="571500" y="4057650"/>
            <a:ext cx="1295400" cy="323850"/>
          </a:xfrm>
          <a:prstGeom prst="rect">
            <a:avLst/>
          </a:prstGeom>
          <a:noFill/>
        </p:spPr>
        <p:txBody>
          <a:bodyPr wrap="none" lIns="0" rIns="0" tIns="0" bIns="0" anchor="t">
            <a:noAutofit/>
          </a:bodyPr>
          <a:lstStyle/>
          <a:p>
            <a:pPr algn="ctr">
              <a:lnSpc>
                <a:spcPts val="2550"/>
              </a:lnSpc>
              <a:spcBef>
                <a:spcPts val="0"/>
              </a:spcBef>
              <a:spcAft>
                <a:spcPts val="0"/>
              </a:spcAft>
            </a:pPr>
            <a:r>
              <a:rPr sz="1125" b="1" i="0">
                <a:solidFill>
                  <a:srgbClr val="FFFFFF"/>
                </a:solidFill>
                <a:latin typeface="Arial"/>
              </a:rPr>
              <a:t>Gas</a:t>
            </a:r>
          </a:p>
        </p:txBody>
      </p:sp>
      <p:sp>
        <p:nvSpPr>
          <p:cNvPr id="33" name="Rounded Rectangle 32"/>
          <p:cNvSpPr/>
          <p:nvPr/>
        </p:nvSpPr>
        <p:spPr>
          <a:xfrm>
            <a:off x="2138362" y="3852862"/>
            <a:ext cx="1895475" cy="733425"/>
          </a:xfrm>
          <a:prstGeom prst="roundRect">
            <a:avLst>
              <a:gd name="adj" fmla="val 12337"/>
            </a:avLst>
          </a:prstGeom>
          <a:solidFill>
            <a:srgbClr val="FFFFFF"/>
          </a:solidFill>
          <a:ln w="9525">
            <a:solidFill>
              <a:srgbClr val="DCDCD7"/>
            </a:solidFill>
          </a:ln>
        </p:spPr>
        <p:txBody>
          <a:bodyPr rtlCol="0" anchor="ctr"/>
          <a:lstStyle/>
          <a:p>
            <a:pPr algn="ctr"/>
          </a:p>
        </p:txBody>
      </p:sp>
      <p:sp>
        <p:nvSpPr>
          <p:cNvPr id="34" name="TextBox 33"/>
          <p:cNvSpPr txBox="1"/>
          <p:nvPr/>
        </p:nvSpPr>
        <p:spPr>
          <a:xfrm>
            <a:off x="2209800" y="4124325"/>
            <a:ext cx="1752600" cy="190500"/>
          </a:xfrm>
          <a:prstGeom prst="rect">
            <a:avLst/>
          </a:prstGeom>
          <a:noFill/>
        </p:spPr>
        <p:txBody>
          <a:bodyPr wrap="square" lIns="0" rIns="0" tIns="0" bIns="0" anchor="t">
            <a:noAutofit/>
          </a:bodyPr>
          <a:lstStyle/>
          <a:p>
            <a:pPr algn="ctr">
              <a:lnSpc>
                <a:spcPts val="1500"/>
              </a:lnSpc>
              <a:spcBef>
                <a:spcPts val="0"/>
              </a:spcBef>
              <a:spcAft>
                <a:spcPts val="0"/>
              </a:spcAft>
            </a:pPr>
            <a:r>
              <a:rPr sz="1125" b="1" i="0">
                <a:solidFill>
                  <a:srgbClr val="0C0C0C"/>
                </a:solidFill>
                <a:latin typeface="Arial"/>
              </a:rPr>
              <a:t>Gas detectors</a:t>
            </a:r>
          </a:p>
        </p:txBody>
      </p:sp>
      <p:sp>
        <p:nvSpPr>
          <p:cNvPr id="35" name="TextBox 34"/>
          <p:cNvSpPr txBox="1"/>
          <p:nvPr/>
        </p:nvSpPr>
        <p:spPr>
          <a:xfrm>
            <a:off x="4038600" y="4076700"/>
            <a:ext cx="457200" cy="295275"/>
          </a:xfrm>
          <a:prstGeom prst="rect">
            <a:avLst/>
          </a:prstGeom>
          <a:noFill/>
        </p:spPr>
        <p:txBody>
          <a:bodyPr wrap="square" lIns="0" rIns="0" tIns="0" bIns="0" anchor="t">
            <a:noAutofit/>
          </a:bodyPr>
          <a:lstStyle/>
          <a:p>
            <a:pPr algn="ctr">
              <a:lnSpc>
                <a:spcPts val="2325"/>
              </a:lnSpc>
              <a:spcBef>
                <a:spcPts val="0"/>
              </a:spcBef>
              <a:spcAft>
                <a:spcPts val="0"/>
              </a:spcAft>
            </a:pPr>
            <a:r>
              <a:rPr sz="1950" b="1" i="0">
                <a:solidFill>
                  <a:srgbClr val="FF8300"/>
                </a:solidFill>
                <a:latin typeface="Arial"/>
              </a:rPr>
              <a:t>→</a:t>
            </a:r>
          </a:p>
        </p:txBody>
      </p:sp>
      <p:sp>
        <p:nvSpPr>
          <p:cNvPr id="36" name="Rounded Rectangle 35"/>
          <p:cNvSpPr/>
          <p:nvPr/>
        </p:nvSpPr>
        <p:spPr>
          <a:xfrm>
            <a:off x="4500562" y="3852862"/>
            <a:ext cx="1895475" cy="733425"/>
          </a:xfrm>
          <a:prstGeom prst="roundRect">
            <a:avLst>
              <a:gd name="adj" fmla="val 12337"/>
            </a:avLst>
          </a:prstGeom>
          <a:solidFill>
            <a:srgbClr val="FFFFFF"/>
          </a:solidFill>
          <a:ln w="9525">
            <a:solidFill>
              <a:srgbClr val="DCDCD7"/>
            </a:solidFill>
          </a:ln>
        </p:spPr>
        <p:txBody>
          <a:bodyPr rtlCol="0" anchor="ctr"/>
          <a:lstStyle/>
          <a:p>
            <a:pPr algn="ctr"/>
          </a:p>
        </p:txBody>
      </p:sp>
      <p:sp>
        <p:nvSpPr>
          <p:cNvPr id="37" name="TextBox 36"/>
          <p:cNvSpPr txBox="1"/>
          <p:nvPr/>
        </p:nvSpPr>
        <p:spPr>
          <a:xfrm>
            <a:off x="4572000" y="4029075"/>
            <a:ext cx="1752600" cy="381000"/>
          </a:xfrm>
          <a:prstGeom prst="rect">
            <a:avLst/>
          </a:prstGeom>
          <a:noFill/>
        </p:spPr>
        <p:txBody>
          <a:bodyPr wrap="square" lIns="0" rIns="0" tIns="0" bIns="0" anchor="t">
            <a:noAutofit/>
          </a:bodyPr>
          <a:lstStyle/>
          <a:p>
            <a:pPr algn="ctr">
              <a:lnSpc>
                <a:spcPts val="1500"/>
              </a:lnSpc>
              <a:spcBef>
                <a:spcPts val="0"/>
              </a:spcBef>
              <a:spcAft>
                <a:spcPts val="0"/>
              </a:spcAft>
            </a:pPr>
            <a:r>
              <a:rPr sz="1125" b="1" i="0">
                <a:solidFill>
                  <a:srgbClr val="0C0C0C"/>
                </a:solidFill>
                <a:latin typeface="Arial"/>
              </a:rPr>
              <a:t>Vendor's cloud, a black box to us</a:t>
            </a:r>
          </a:p>
        </p:txBody>
      </p:sp>
      <p:sp>
        <p:nvSpPr>
          <p:cNvPr id="38" name="TextBox 37"/>
          <p:cNvSpPr txBox="1"/>
          <p:nvPr/>
        </p:nvSpPr>
        <p:spPr>
          <a:xfrm>
            <a:off x="6400800" y="4076700"/>
            <a:ext cx="457200" cy="295275"/>
          </a:xfrm>
          <a:prstGeom prst="rect">
            <a:avLst/>
          </a:prstGeom>
          <a:noFill/>
        </p:spPr>
        <p:txBody>
          <a:bodyPr wrap="square" lIns="0" rIns="0" tIns="0" bIns="0" anchor="t">
            <a:noAutofit/>
          </a:bodyPr>
          <a:lstStyle/>
          <a:p>
            <a:pPr algn="ctr">
              <a:lnSpc>
                <a:spcPts val="2325"/>
              </a:lnSpc>
              <a:spcBef>
                <a:spcPts val="0"/>
              </a:spcBef>
              <a:spcAft>
                <a:spcPts val="0"/>
              </a:spcAft>
            </a:pPr>
            <a:r>
              <a:rPr sz="1950" b="1" i="0">
                <a:solidFill>
                  <a:srgbClr val="FF8300"/>
                </a:solidFill>
                <a:latin typeface="Arial"/>
              </a:rPr>
              <a:t>→</a:t>
            </a:r>
          </a:p>
        </p:txBody>
      </p:sp>
      <p:sp>
        <p:nvSpPr>
          <p:cNvPr id="39" name="Rounded Rectangle 38"/>
          <p:cNvSpPr/>
          <p:nvPr/>
        </p:nvSpPr>
        <p:spPr>
          <a:xfrm>
            <a:off x="6862762" y="3852862"/>
            <a:ext cx="1895475" cy="733425"/>
          </a:xfrm>
          <a:prstGeom prst="roundRect">
            <a:avLst>
              <a:gd name="adj" fmla="val 12337"/>
            </a:avLst>
          </a:prstGeom>
          <a:solidFill>
            <a:srgbClr val="FFFFFF"/>
          </a:solidFill>
          <a:ln w="9525">
            <a:solidFill>
              <a:srgbClr val="DCDCD7"/>
            </a:solidFill>
          </a:ln>
        </p:spPr>
        <p:txBody>
          <a:bodyPr rtlCol="0" anchor="ctr"/>
          <a:lstStyle/>
          <a:p>
            <a:pPr algn="ctr"/>
          </a:p>
        </p:txBody>
      </p:sp>
      <p:sp>
        <p:nvSpPr>
          <p:cNvPr id="40" name="TextBox 39"/>
          <p:cNvSpPr txBox="1"/>
          <p:nvPr/>
        </p:nvSpPr>
        <p:spPr>
          <a:xfrm>
            <a:off x="6934200" y="4029075"/>
            <a:ext cx="1752600" cy="381000"/>
          </a:xfrm>
          <a:prstGeom prst="rect">
            <a:avLst/>
          </a:prstGeom>
          <a:noFill/>
        </p:spPr>
        <p:txBody>
          <a:bodyPr wrap="square" lIns="0" rIns="0" tIns="0" bIns="0" anchor="t">
            <a:noAutofit/>
          </a:bodyPr>
          <a:lstStyle/>
          <a:p>
            <a:pPr algn="ctr">
              <a:lnSpc>
                <a:spcPts val="1500"/>
              </a:lnSpc>
              <a:spcBef>
                <a:spcPts val="0"/>
              </a:spcBef>
              <a:spcAft>
                <a:spcPts val="0"/>
              </a:spcAft>
            </a:pPr>
            <a:r>
              <a:rPr sz="1125" b="1" i="0">
                <a:solidFill>
                  <a:srgbClr val="0C0C0C"/>
                </a:solidFill>
                <a:latin typeface="Arial"/>
              </a:rPr>
              <a:t>WakeCap asks on a regular timer</a:t>
            </a:r>
          </a:p>
        </p:txBody>
      </p:sp>
      <p:sp>
        <p:nvSpPr>
          <p:cNvPr id="41" name="TextBox 40"/>
          <p:cNvSpPr txBox="1"/>
          <p:nvPr/>
        </p:nvSpPr>
        <p:spPr>
          <a:xfrm>
            <a:off x="8763000" y="4076700"/>
            <a:ext cx="457200" cy="295275"/>
          </a:xfrm>
          <a:prstGeom prst="rect">
            <a:avLst/>
          </a:prstGeom>
          <a:noFill/>
        </p:spPr>
        <p:txBody>
          <a:bodyPr wrap="square" lIns="0" rIns="0" tIns="0" bIns="0" anchor="t">
            <a:noAutofit/>
          </a:bodyPr>
          <a:lstStyle/>
          <a:p>
            <a:pPr algn="ctr">
              <a:lnSpc>
                <a:spcPts val="2325"/>
              </a:lnSpc>
              <a:spcBef>
                <a:spcPts val="0"/>
              </a:spcBef>
              <a:spcAft>
                <a:spcPts val="0"/>
              </a:spcAft>
            </a:pPr>
            <a:r>
              <a:rPr sz="1950" b="1" i="0">
                <a:solidFill>
                  <a:srgbClr val="FF8300"/>
                </a:solidFill>
                <a:latin typeface="Arial"/>
              </a:rPr>
              <a:t>→</a:t>
            </a:r>
          </a:p>
        </p:txBody>
      </p:sp>
      <p:sp>
        <p:nvSpPr>
          <p:cNvPr id="42" name="Rounded Rectangle 41"/>
          <p:cNvSpPr/>
          <p:nvPr/>
        </p:nvSpPr>
        <p:spPr>
          <a:xfrm>
            <a:off x="9224962" y="3852862"/>
            <a:ext cx="1895475" cy="733425"/>
          </a:xfrm>
          <a:prstGeom prst="roundRect">
            <a:avLst>
              <a:gd name="adj" fmla="val 12337"/>
            </a:avLst>
          </a:prstGeom>
          <a:solidFill>
            <a:srgbClr val="FFF1E0"/>
          </a:solidFill>
          <a:ln w="9525">
            <a:solidFill>
              <a:srgbClr val="F3C894"/>
            </a:solidFill>
          </a:ln>
        </p:spPr>
        <p:txBody>
          <a:bodyPr rtlCol="0" anchor="ctr"/>
          <a:lstStyle/>
          <a:p>
            <a:pPr algn="ctr"/>
          </a:p>
        </p:txBody>
      </p:sp>
      <p:sp>
        <p:nvSpPr>
          <p:cNvPr id="43" name="TextBox 42"/>
          <p:cNvSpPr txBox="1"/>
          <p:nvPr/>
        </p:nvSpPr>
        <p:spPr>
          <a:xfrm>
            <a:off x="9296400" y="4029075"/>
            <a:ext cx="1752600" cy="381000"/>
          </a:xfrm>
          <a:prstGeom prst="rect">
            <a:avLst/>
          </a:prstGeom>
          <a:noFill/>
        </p:spPr>
        <p:txBody>
          <a:bodyPr wrap="square" lIns="0" rIns="0" tIns="0" bIns="0" anchor="t">
            <a:noAutofit/>
          </a:bodyPr>
          <a:lstStyle/>
          <a:p>
            <a:pPr algn="ctr">
              <a:lnSpc>
                <a:spcPts val="1500"/>
              </a:lnSpc>
              <a:spcBef>
                <a:spcPts val="0"/>
              </a:spcBef>
              <a:spcAft>
                <a:spcPts val="0"/>
              </a:spcAft>
            </a:pPr>
            <a:r>
              <a:rPr sz="1125" b="1" i="0">
                <a:solidFill>
                  <a:srgbClr val="0C0C0C"/>
                </a:solidFill>
                <a:latin typeface="Arial"/>
              </a:rPr>
              <a:t>WakeCap stores readings and alerts</a:t>
            </a:r>
          </a:p>
        </p:txBody>
      </p:sp>
      <p:sp>
        <p:nvSpPr>
          <p:cNvPr id="44" name="Rounded Rectangle 43"/>
          <p:cNvSpPr/>
          <p:nvPr/>
        </p:nvSpPr>
        <p:spPr>
          <a:xfrm>
            <a:off x="609600" y="5029200"/>
            <a:ext cx="10972800" cy="609600"/>
          </a:xfrm>
          <a:prstGeom prst="roundRect">
            <a:avLst>
              <a:gd name="adj" fmla="val 18750"/>
            </a:avLst>
          </a:prstGeom>
          <a:solidFill>
            <a:srgbClr val="0C0C0C"/>
          </a:solidFill>
          <a:ln>
            <a:noFill/>
          </a:ln>
        </p:spPr>
        <p:txBody>
          <a:bodyPr rtlCol="0" anchor="ctr"/>
          <a:lstStyle/>
          <a:p>
            <a:pPr algn="ctr"/>
          </a:p>
        </p:txBody>
      </p:sp>
      <p:sp>
        <p:nvSpPr>
          <p:cNvPr id="45" name="TextBox 44"/>
          <p:cNvSpPr txBox="1"/>
          <p:nvPr/>
        </p:nvSpPr>
        <p:spPr>
          <a:xfrm>
            <a:off x="914400" y="5162550"/>
            <a:ext cx="10458450" cy="342900"/>
          </a:xfrm>
          <a:prstGeom prst="rect">
            <a:avLst/>
          </a:prstGeom>
          <a:noFill/>
        </p:spPr>
        <p:txBody>
          <a:bodyPr wrap="square" lIns="0" rIns="0" tIns="0" bIns="0" anchor="t">
            <a:noAutofit/>
          </a:bodyPr>
          <a:lstStyle/>
          <a:p>
            <a:pPr algn="l">
              <a:lnSpc>
                <a:spcPts val="2700"/>
              </a:lnSpc>
              <a:spcBef>
                <a:spcPts val="0"/>
              </a:spcBef>
              <a:spcAft>
                <a:spcPts val="0"/>
              </a:spcAft>
            </a:pPr>
            <a:r>
              <a:rPr sz="1650" b="1" i="0">
                <a:solidFill>
                  <a:srgbClr val="FFFFFF"/>
                </a:solidFill>
                <a:latin typeface="Arial"/>
              </a:rPr>
              <a:t>All three reach the same portal: </a:t>
            </a:r>
            <a:r>
              <a:rPr sz="1650" b="1" i="0">
                <a:solidFill>
                  <a:srgbClr val="B85C00"/>
                </a:solidFill>
                <a:latin typeface="Arial"/>
              </a:rPr>
              <a:t>Connected Environment.</a:t>
            </a:r>
          </a:p>
        </p:txBody>
      </p:sp>
      <p:sp>
        <p:nvSpPr>
          <p:cNvPr id="46" name="TextBox 45"/>
          <p:cNvSpPr txBox="1"/>
          <p:nvPr/>
        </p:nvSpPr>
        <p:spPr>
          <a:xfrm>
            <a:off x="609600" y="5810250"/>
            <a:ext cx="1104900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Gas has no mesh and no Modbus. Each detector reports on its own schedule, so each reading shows its age. Modbus is an industrial wiring and data standard many sensors speak.</a:t>
            </a:r>
          </a:p>
        </p:txBody>
      </p:sp>
      <p:sp>
        <p:nvSpPr>
          <p:cNvPr id="47" name="TextBox 46"/>
          <p:cNvSpPr txBox="1"/>
          <p:nvPr/>
        </p:nvSpPr>
        <p:spPr>
          <a:xfrm>
            <a:off x="609600" y="6496050"/>
            <a:ext cx="5791200" cy="152400"/>
          </a:xfrm>
          <a:prstGeom prst="rect">
            <a:avLst/>
          </a:prstGeom>
          <a:noFill/>
        </p:spPr>
        <p:txBody>
          <a:bodyPr wrap="square" lIns="0" rIns="0" tIns="0" bIns="0" anchor="t">
            <a:noAutofit/>
          </a:bodyPr>
          <a:lstStyle/>
          <a:p>
            <a:pPr algn="l">
              <a:lnSpc>
                <a:spcPts val="1200"/>
              </a:lnSpc>
              <a:spcBef>
                <a:spcPts val="0"/>
              </a:spcBef>
              <a:spcAft>
                <a:spcPts val="0"/>
              </a:spcAft>
            </a:pPr>
            <a:r>
              <a:rPr sz="900" b="0" i="0">
                <a:solidFill>
                  <a:srgbClr val="6B6B6B"/>
                </a:solidFill>
                <a:latin typeface="Arial"/>
              </a:rPr>
              <a:t>Connected Environment 1.0 · Internal</a:t>
            </a:r>
          </a:p>
        </p:txBody>
      </p:sp>
      <p:sp>
        <p:nvSpPr>
          <p:cNvPr id="48" name="TextBox 47"/>
          <p:cNvSpPr txBox="1"/>
          <p:nvPr/>
        </p:nvSpPr>
        <p:spPr>
          <a:xfrm>
            <a:off x="10553700" y="6496050"/>
            <a:ext cx="1028700" cy="152400"/>
          </a:xfrm>
          <a:prstGeom prst="rect">
            <a:avLst/>
          </a:prstGeom>
          <a:noFill/>
        </p:spPr>
        <p:txBody>
          <a:bodyPr wrap="square" lIns="0" rIns="0" tIns="0" bIns="0" anchor="t">
            <a:noAutofit/>
          </a:bodyPr>
          <a:lstStyle/>
          <a:p>
            <a:pPr algn="r">
              <a:lnSpc>
                <a:spcPts val="1200"/>
              </a:lnSpc>
              <a:spcBef>
                <a:spcPts val="0"/>
              </a:spcBef>
              <a:spcAft>
                <a:spcPts val="0"/>
              </a:spcAft>
            </a:pPr>
            <a:r>
              <a:rPr sz="900" b="0" i="0">
                <a:solidFill>
                  <a:srgbClr val="6B6B6B"/>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itle 1"/>
          <p:cNvSpPr>
            <a:spLocks noGrp="1"/>
          </p:cNvSpPr>
          <p:nvPr>
            <p:ph type="title"/>
          </p:nvPr>
        </p:nvSpPr>
        <p:spPr>
          <a:xfrm>
            <a:off x="609600" y="876300"/>
            <a:ext cx="11049000" cy="419100"/>
          </a:xfrm>
        </p:spPr>
        <p:txBody>
          <a:bodyPr wrap="square" lIns="0" rIns="0" tIns="0" bIns="0" anchor="t">
            <a:noAutofit/>
          </a:bodyPr>
          <a:lstStyle/>
          <a:p>
            <a:pPr algn="l">
              <a:lnSpc>
                <a:spcPts val="3300"/>
              </a:lnSpc>
              <a:spcBef>
                <a:spcPts val="0"/>
              </a:spcBef>
              <a:spcAft>
                <a:spcPts val="0"/>
              </a:spcAft>
            </a:pPr>
            <a:r>
              <a:rPr sz="2850" b="1" i="0">
                <a:solidFill>
                  <a:srgbClr val="0C0C0C"/>
                </a:solidFill>
                <a:latin typeface="Arial"/>
              </a:rPr>
              <a:t>What it does not do yet, and where it is going</a:t>
            </a:r>
          </a:p>
        </p:txBody>
      </p:sp>
      <p:sp>
        <p:nvSpPr>
          <p:cNvPr id="3" name="Rectangle 2"/>
          <p:cNvSpPr/>
          <p:nvPr/>
        </p:nvSpPr>
        <p:spPr>
          <a:xfrm>
            <a:off x="609600" y="495300"/>
            <a:ext cx="381000" cy="47625"/>
          </a:xfrm>
          <a:prstGeom prst="rect">
            <a:avLst/>
          </a:prstGeom>
          <a:solidFill>
            <a:srgbClr val="FF8300"/>
          </a:solidFill>
          <a:ln>
            <a:noFill/>
          </a:ln>
        </p:spPr>
        <p:txBody>
          <a:bodyPr rtlCol="0" anchor="ctr"/>
          <a:lstStyle/>
          <a:p>
            <a:pPr algn="ctr"/>
          </a:p>
        </p:txBody>
      </p:sp>
      <p:sp>
        <p:nvSpPr>
          <p:cNvPr id="4" name="TextBox 3"/>
          <p:cNvSpPr txBox="1"/>
          <p:nvPr/>
        </p:nvSpPr>
        <p:spPr>
          <a:xfrm>
            <a:off x="609600" y="647700"/>
            <a:ext cx="96012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HONEST EDGES</a:t>
            </a:r>
          </a:p>
        </p:txBody>
      </p:sp>
      <p:sp>
        <p:nvSpPr>
          <p:cNvPr id="5" name="Rounded Rectangle 4"/>
          <p:cNvSpPr/>
          <p:nvPr/>
        </p:nvSpPr>
        <p:spPr>
          <a:xfrm>
            <a:off x="614362" y="1681162"/>
            <a:ext cx="5324475" cy="3762375"/>
          </a:xfrm>
          <a:prstGeom prst="roundRect">
            <a:avLst>
              <a:gd name="adj" fmla="val 2911"/>
            </a:avLst>
          </a:prstGeom>
          <a:solidFill>
            <a:srgbClr val="FFFFFF"/>
          </a:solidFill>
          <a:ln w="9525">
            <a:solidFill>
              <a:srgbClr val="DCDCD7"/>
            </a:solidFill>
          </a:ln>
        </p:spPr>
        <p:txBody>
          <a:bodyPr rtlCol="0" anchor="ctr"/>
          <a:lstStyle/>
          <a:p>
            <a:pPr algn="ctr"/>
          </a:p>
        </p:txBody>
      </p:sp>
      <p:sp>
        <p:nvSpPr>
          <p:cNvPr id="6" name="Rounded Rectangle 5"/>
          <p:cNvSpPr/>
          <p:nvPr/>
        </p:nvSpPr>
        <p:spPr>
          <a:xfrm>
            <a:off x="609600" y="1676400"/>
            <a:ext cx="5334000" cy="57150"/>
          </a:xfrm>
          <a:prstGeom prst="roundRect">
            <a:avLst>
              <a:gd name="adj" fmla="val 50000"/>
            </a:avLst>
          </a:prstGeom>
          <a:solidFill>
            <a:srgbClr val="0C0C0C"/>
          </a:solidFill>
          <a:ln>
            <a:noFill/>
          </a:ln>
        </p:spPr>
        <p:txBody>
          <a:bodyPr rtlCol="0" anchor="ctr"/>
          <a:lstStyle/>
          <a:p>
            <a:pPr algn="ctr"/>
          </a:p>
        </p:txBody>
      </p:sp>
      <p:sp>
        <p:nvSpPr>
          <p:cNvPr id="7" name="TextBox 6"/>
          <p:cNvSpPr txBox="1"/>
          <p:nvPr/>
        </p:nvSpPr>
        <p:spPr>
          <a:xfrm>
            <a:off x="876300" y="1924050"/>
            <a:ext cx="4838700" cy="295275"/>
          </a:xfrm>
          <a:prstGeom prst="rect">
            <a:avLst/>
          </a:prstGeom>
          <a:noFill/>
        </p:spPr>
        <p:txBody>
          <a:bodyPr wrap="square" lIns="0" rIns="0" tIns="0" bIns="0" anchor="t">
            <a:noAutofit/>
          </a:bodyPr>
          <a:lstStyle/>
          <a:p>
            <a:pPr algn="l">
              <a:lnSpc>
                <a:spcPts val="2325"/>
              </a:lnSpc>
              <a:spcBef>
                <a:spcPts val="0"/>
              </a:spcBef>
              <a:spcAft>
                <a:spcPts val="0"/>
              </a:spcAft>
            </a:pPr>
            <a:r>
              <a:rPr sz="1875" b="1" i="0">
                <a:solidFill>
                  <a:srgbClr val="0C0C0C"/>
                </a:solidFill>
                <a:latin typeface="Arial"/>
              </a:rPr>
              <a:t>Good to know</a:t>
            </a:r>
          </a:p>
        </p:txBody>
      </p:sp>
      <p:sp>
        <p:nvSpPr>
          <p:cNvPr id="8" name="Oval 7"/>
          <p:cNvSpPr/>
          <p:nvPr/>
        </p:nvSpPr>
        <p:spPr>
          <a:xfrm>
            <a:off x="876300" y="2486025"/>
            <a:ext cx="95250" cy="95250"/>
          </a:xfrm>
          <a:prstGeom prst="ellipse">
            <a:avLst/>
          </a:prstGeom>
          <a:solidFill>
            <a:srgbClr val="FF8300"/>
          </a:solidFill>
          <a:ln>
            <a:noFill/>
          </a:ln>
        </p:spPr>
        <p:txBody>
          <a:bodyPr rtlCol="0" anchor="ctr"/>
          <a:lstStyle/>
          <a:p>
            <a:pPr algn="ctr"/>
          </a:p>
        </p:txBody>
      </p:sp>
      <p:sp>
        <p:nvSpPr>
          <p:cNvPr id="9" name="TextBox 8"/>
          <p:cNvSpPr txBox="1"/>
          <p:nvPr/>
        </p:nvSpPr>
        <p:spPr>
          <a:xfrm>
            <a:off x="1104900" y="2400300"/>
            <a:ext cx="4648200" cy="514350"/>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Gas acknowledge and close</a:t>
            </a:r>
            <a:r>
              <a:rPr sz="1425" b="0" i="0">
                <a:solidFill>
                  <a:srgbClr val="2B2B2B"/>
                </a:solidFill>
                <a:latin typeface="Arial"/>
              </a:rPr>
              <a:t> are recorded in WakeCap only, not sent to the gas vendor.</a:t>
            </a:r>
          </a:p>
        </p:txBody>
      </p:sp>
      <p:sp>
        <p:nvSpPr>
          <p:cNvPr id="10" name="Oval 9"/>
          <p:cNvSpPr/>
          <p:nvPr/>
        </p:nvSpPr>
        <p:spPr>
          <a:xfrm>
            <a:off x="876300" y="3171825"/>
            <a:ext cx="95250" cy="95250"/>
          </a:xfrm>
          <a:prstGeom prst="ellipse">
            <a:avLst/>
          </a:prstGeom>
          <a:solidFill>
            <a:srgbClr val="FF8300"/>
          </a:solidFill>
          <a:ln>
            <a:noFill/>
          </a:ln>
        </p:spPr>
        <p:txBody>
          <a:bodyPr rtlCol="0" anchor="ctr"/>
          <a:lstStyle/>
          <a:p>
            <a:pPr algn="ctr"/>
          </a:p>
        </p:txBody>
      </p:sp>
      <p:sp>
        <p:nvSpPr>
          <p:cNvPr id="11" name="TextBox 10"/>
          <p:cNvSpPr txBox="1"/>
          <p:nvPr/>
        </p:nvSpPr>
        <p:spPr>
          <a:xfrm>
            <a:off x="1104900" y="3086100"/>
            <a:ext cx="4648200" cy="514350"/>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Gas exposure and compliance figures</a:t>
            </a:r>
            <a:r>
              <a:rPr sz="1425" b="0" i="0">
                <a:solidFill>
                  <a:srgbClr val="2B2B2B"/>
                </a:solidFill>
                <a:latin typeface="Arial"/>
              </a:rPr>
              <a:t> say Not available yet. Some gas history is not stored yet.</a:t>
            </a:r>
          </a:p>
        </p:txBody>
      </p:sp>
      <p:sp>
        <p:nvSpPr>
          <p:cNvPr id="12" name="Oval 11"/>
          <p:cNvSpPr/>
          <p:nvPr/>
        </p:nvSpPr>
        <p:spPr>
          <a:xfrm>
            <a:off x="876300" y="3857625"/>
            <a:ext cx="95250" cy="95250"/>
          </a:xfrm>
          <a:prstGeom prst="ellipse">
            <a:avLst/>
          </a:prstGeom>
          <a:solidFill>
            <a:srgbClr val="FF8300"/>
          </a:solidFill>
          <a:ln>
            <a:noFill/>
          </a:ln>
        </p:spPr>
        <p:txBody>
          <a:bodyPr rtlCol="0" anchor="ctr"/>
          <a:lstStyle/>
          <a:p>
            <a:pPr algn="ctr"/>
          </a:p>
        </p:txBody>
      </p:sp>
      <p:sp>
        <p:nvSpPr>
          <p:cNvPr id="13" name="TextBox 12"/>
          <p:cNvSpPr txBox="1"/>
          <p:nvPr/>
        </p:nvSpPr>
        <p:spPr>
          <a:xfrm>
            <a:off x="1104900" y="3771900"/>
            <a:ext cx="4648200" cy="257175"/>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Trends</a:t>
            </a:r>
            <a:r>
              <a:rPr sz="1425" b="0" i="0">
                <a:solidFill>
                  <a:srgbClr val="2B2B2B"/>
                </a:solidFill>
                <a:latin typeface="Arial"/>
              </a:rPr>
              <a:t> sits in the menu marked Planned.</a:t>
            </a:r>
          </a:p>
        </p:txBody>
      </p:sp>
      <p:sp>
        <p:nvSpPr>
          <p:cNvPr id="14" name="Oval 13"/>
          <p:cNvSpPr/>
          <p:nvPr/>
        </p:nvSpPr>
        <p:spPr>
          <a:xfrm>
            <a:off x="876300" y="4286250"/>
            <a:ext cx="95250" cy="95250"/>
          </a:xfrm>
          <a:prstGeom prst="ellipse">
            <a:avLst/>
          </a:prstGeom>
          <a:solidFill>
            <a:srgbClr val="FF8300"/>
          </a:solidFill>
          <a:ln>
            <a:noFill/>
          </a:ln>
        </p:spPr>
        <p:txBody>
          <a:bodyPr rtlCol="0" anchor="ctr"/>
          <a:lstStyle/>
          <a:p>
            <a:pPr algn="ctr"/>
          </a:p>
        </p:txBody>
      </p:sp>
      <p:sp>
        <p:nvSpPr>
          <p:cNvPr id="15" name="TextBox 14"/>
          <p:cNvSpPr txBox="1"/>
          <p:nvPr/>
        </p:nvSpPr>
        <p:spPr>
          <a:xfrm>
            <a:off x="1104900" y="4200525"/>
            <a:ext cx="4648200" cy="514350"/>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The AI assistant</a:t>
            </a:r>
            <a:r>
              <a:rPr sz="1425" b="0" i="0">
                <a:solidFill>
                  <a:srgbClr val="2B2B2B"/>
                </a:solidFill>
                <a:latin typeface="Arial"/>
              </a:rPr>
              <a:t> is direction only. Building blocks exist for Weather Station only. No assistant runs on any site.</a:t>
            </a:r>
          </a:p>
        </p:txBody>
      </p:sp>
      <p:sp>
        <p:nvSpPr>
          <p:cNvPr id="16" name="Rounded Rectangle 15"/>
          <p:cNvSpPr/>
          <p:nvPr/>
        </p:nvSpPr>
        <p:spPr>
          <a:xfrm>
            <a:off x="6334125" y="1685925"/>
            <a:ext cx="5238750" cy="3752850"/>
          </a:xfrm>
          <a:prstGeom prst="roundRect">
            <a:avLst>
              <a:gd name="adj" fmla="val 2791"/>
            </a:avLst>
          </a:prstGeom>
          <a:noFill/>
          <a:ln w="19050">
            <a:solidFill>
              <a:srgbClr val="A9A9A4"/>
            </a:solidFill>
            <a:prstDash val="dash"/>
          </a:ln>
        </p:spPr>
        <p:txBody>
          <a:bodyPr rtlCol="0" anchor="ctr"/>
          <a:lstStyle/>
          <a:p>
            <a:pPr algn="ctr"/>
          </a:p>
        </p:txBody>
      </p:sp>
      <p:sp>
        <p:nvSpPr>
          <p:cNvPr id="17" name="Rounded Rectangle 16"/>
          <p:cNvSpPr/>
          <p:nvPr/>
        </p:nvSpPr>
        <p:spPr>
          <a:xfrm>
            <a:off x="6596062" y="1890712"/>
            <a:ext cx="1038225" cy="314325"/>
          </a:xfrm>
          <a:prstGeom prst="roundRect">
            <a:avLst>
              <a:gd name="adj" fmla="val 50000"/>
            </a:avLst>
          </a:prstGeom>
          <a:solidFill>
            <a:srgbClr val="FFFFFF"/>
          </a:solidFill>
          <a:ln w="9525">
            <a:solidFill>
              <a:srgbClr val="B85C00"/>
            </a:solidFill>
          </a:ln>
        </p:spPr>
        <p:txBody>
          <a:bodyPr rtlCol="0" anchor="ctr"/>
          <a:lstStyle/>
          <a:p>
            <a:pPr algn="ctr"/>
          </a:p>
        </p:txBody>
      </p:sp>
      <p:sp>
        <p:nvSpPr>
          <p:cNvPr id="18" name="TextBox 17"/>
          <p:cNvSpPr txBox="1"/>
          <p:nvPr/>
        </p:nvSpPr>
        <p:spPr>
          <a:xfrm>
            <a:off x="6562725" y="1895475"/>
            <a:ext cx="1104900" cy="304800"/>
          </a:xfrm>
          <a:prstGeom prst="rect">
            <a:avLst/>
          </a:prstGeom>
          <a:noFill/>
        </p:spPr>
        <p:txBody>
          <a:bodyPr wrap="none" lIns="0" rIns="0" tIns="0" bIns="0" anchor="t">
            <a:noAutofit/>
          </a:bodyPr>
          <a:lstStyle/>
          <a:p>
            <a:pPr algn="ctr">
              <a:lnSpc>
                <a:spcPts val="2550"/>
              </a:lnSpc>
              <a:spcBef>
                <a:spcPts val="0"/>
              </a:spcBef>
              <a:spcAft>
                <a:spcPts val="0"/>
              </a:spcAft>
            </a:pPr>
            <a:r>
              <a:rPr sz="900" b="1" i="0" spc="75">
                <a:solidFill>
                  <a:srgbClr val="B85C00"/>
                </a:solidFill>
                <a:latin typeface="Arial"/>
              </a:rPr>
              <a:t>DIRECTION</a:t>
            </a:r>
          </a:p>
        </p:txBody>
      </p:sp>
      <p:sp>
        <p:nvSpPr>
          <p:cNvPr id="19" name="TextBox 18"/>
          <p:cNvSpPr txBox="1"/>
          <p:nvPr/>
        </p:nvSpPr>
        <p:spPr>
          <a:xfrm>
            <a:off x="6591300" y="2343150"/>
            <a:ext cx="4800600" cy="295275"/>
          </a:xfrm>
          <a:prstGeom prst="rect">
            <a:avLst/>
          </a:prstGeom>
          <a:noFill/>
        </p:spPr>
        <p:txBody>
          <a:bodyPr wrap="square" lIns="0" rIns="0" tIns="0" bIns="0" anchor="t">
            <a:noAutofit/>
          </a:bodyPr>
          <a:lstStyle/>
          <a:p>
            <a:pPr algn="l">
              <a:lnSpc>
                <a:spcPts val="2325"/>
              </a:lnSpc>
              <a:spcBef>
                <a:spcPts val="0"/>
              </a:spcBef>
              <a:spcAft>
                <a:spcPts val="0"/>
              </a:spcAft>
            </a:pPr>
            <a:r>
              <a:rPr sz="1875" b="1" i="0">
                <a:solidFill>
                  <a:srgbClr val="0C0C0C"/>
                </a:solidFill>
                <a:latin typeface="Arial"/>
              </a:rPr>
              <a:t>Direction, not a commitment</a:t>
            </a:r>
          </a:p>
        </p:txBody>
      </p:sp>
      <p:sp>
        <p:nvSpPr>
          <p:cNvPr id="20" name="Oval 19"/>
          <p:cNvSpPr/>
          <p:nvPr/>
        </p:nvSpPr>
        <p:spPr>
          <a:xfrm>
            <a:off x="6591300" y="2905125"/>
            <a:ext cx="95250" cy="95250"/>
          </a:xfrm>
          <a:prstGeom prst="ellipse">
            <a:avLst/>
          </a:prstGeom>
          <a:solidFill>
            <a:srgbClr val="FF8300"/>
          </a:solidFill>
          <a:ln>
            <a:noFill/>
          </a:ln>
        </p:spPr>
        <p:txBody>
          <a:bodyPr rtlCol="0" anchor="ctr"/>
          <a:lstStyle/>
          <a:p>
            <a:pPr algn="ctr"/>
          </a:p>
        </p:txBody>
      </p:sp>
      <p:sp>
        <p:nvSpPr>
          <p:cNvPr id="21" name="TextBox 20"/>
          <p:cNvSpPr txBox="1"/>
          <p:nvPr/>
        </p:nvSpPr>
        <p:spPr>
          <a:xfrm>
            <a:off x="6819900" y="2819400"/>
            <a:ext cx="4572000" cy="514350"/>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New environment products</a:t>
            </a:r>
            <a:r>
              <a:rPr sz="1425" b="0" i="0">
                <a:solidFill>
                  <a:srgbClr val="2B2B2B"/>
                </a:solidFill>
                <a:latin typeface="Arial"/>
              </a:rPr>
              <a:t> go under Connected Environment.</a:t>
            </a:r>
          </a:p>
        </p:txBody>
      </p:sp>
      <p:sp>
        <p:nvSpPr>
          <p:cNvPr id="22" name="Oval 21"/>
          <p:cNvSpPr/>
          <p:nvPr/>
        </p:nvSpPr>
        <p:spPr>
          <a:xfrm>
            <a:off x="6591300" y="3590925"/>
            <a:ext cx="95250" cy="95250"/>
          </a:xfrm>
          <a:prstGeom prst="ellipse">
            <a:avLst/>
          </a:prstGeom>
          <a:solidFill>
            <a:srgbClr val="FF8300"/>
          </a:solidFill>
          <a:ln>
            <a:noFill/>
          </a:ln>
        </p:spPr>
        <p:txBody>
          <a:bodyPr rtlCol="0" anchor="ctr"/>
          <a:lstStyle/>
          <a:p>
            <a:pPr algn="ctr"/>
          </a:p>
        </p:txBody>
      </p:sp>
      <p:sp>
        <p:nvSpPr>
          <p:cNvPr id="23" name="TextBox 22"/>
          <p:cNvSpPr txBox="1"/>
          <p:nvPr/>
        </p:nvSpPr>
        <p:spPr>
          <a:xfrm>
            <a:off x="6819900" y="3505200"/>
            <a:ext cx="4572000" cy="514350"/>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A future assistant</a:t>
            </a:r>
            <a:r>
              <a:rPr sz="1425" b="0" i="0">
                <a:solidFill>
                  <a:srgbClr val="2B2B2B"/>
                </a:solidFill>
                <a:latin typeface="Arial"/>
              </a:rPr>
              <a:t> could read weather readings and propose changes. A person approves.</a:t>
            </a:r>
          </a:p>
        </p:txBody>
      </p:sp>
      <p:sp>
        <p:nvSpPr>
          <p:cNvPr id="24" name="Oval 23"/>
          <p:cNvSpPr/>
          <p:nvPr/>
        </p:nvSpPr>
        <p:spPr>
          <a:xfrm>
            <a:off x="6591300" y="4276725"/>
            <a:ext cx="95250" cy="95250"/>
          </a:xfrm>
          <a:prstGeom prst="ellipse">
            <a:avLst/>
          </a:prstGeom>
          <a:solidFill>
            <a:srgbClr val="FF8300"/>
          </a:solidFill>
          <a:ln>
            <a:noFill/>
          </a:ln>
        </p:spPr>
        <p:txBody>
          <a:bodyPr rtlCol="0" anchor="ctr"/>
          <a:lstStyle/>
          <a:p>
            <a:pPr algn="ctr"/>
          </a:p>
        </p:txBody>
      </p:sp>
      <p:sp>
        <p:nvSpPr>
          <p:cNvPr id="25" name="TextBox 24"/>
          <p:cNvSpPr txBox="1"/>
          <p:nvPr/>
        </p:nvSpPr>
        <p:spPr>
          <a:xfrm>
            <a:off x="6819900" y="4191000"/>
            <a:ext cx="4572000" cy="514350"/>
          </a:xfrm>
          <a:prstGeom prst="rect">
            <a:avLst/>
          </a:prstGeom>
          <a:noFill/>
        </p:spPr>
        <p:txBody>
          <a:bodyPr wrap="square" lIns="0" rIns="0" tIns="0" bIns="0" anchor="t">
            <a:noAutofit/>
          </a:bodyPr>
          <a:lstStyle/>
          <a:p>
            <a:pPr algn="l">
              <a:lnSpc>
                <a:spcPts val="2025"/>
              </a:lnSpc>
              <a:spcBef>
                <a:spcPts val="0"/>
              </a:spcBef>
              <a:spcAft>
                <a:spcPts val="0"/>
              </a:spcAft>
            </a:pPr>
            <a:r>
              <a:rPr sz="1425" b="1" i="0">
                <a:solidFill>
                  <a:srgbClr val="0C0C0C"/>
                </a:solidFill>
                <a:latin typeface="Arial"/>
              </a:rPr>
              <a:t>The weather safety answer</a:t>
            </a:r>
            <a:r>
              <a:rPr sz="1425" b="0" i="0">
                <a:solidFill>
                  <a:srgbClr val="2B2B2B"/>
                </a:solidFill>
                <a:latin typeface="Arial"/>
              </a:rPr>
              <a:t> comes from fixed rules. An assistant would only reword it.</a:t>
            </a:r>
          </a:p>
        </p:txBody>
      </p:sp>
      <p:sp>
        <p:nvSpPr>
          <p:cNvPr id="26" name="Oval 25"/>
          <p:cNvSpPr/>
          <p:nvPr/>
        </p:nvSpPr>
        <p:spPr>
          <a:xfrm>
            <a:off x="6591300" y="4962525"/>
            <a:ext cx="95250" cy="95250"/>
          </a:xfrm>
          <a:prstGeom prst="ellipse">
            <a:avLst/>
          </a:prstGeom>
          <a:solidFill>
            <a:srgbClr val="FF8300"/>
          </a:solidFill>
          <a:ln>
            <a:noFill/>
          </a:ln>
        </p:spPr>
        <p:txBody>
          <a:bodyPr rtlCol="0" anchor="ctr"/>
          <a:lstStyle/>
          <a:p>
            <a:pPr algn="ctr"/>
          </a:p>
        </p:txBody>
      </p:sp>
      <p:sp>
        <p:nvSpPr>
          <p:cNvPr id="27" name="TextBox 26"/>
          <p:cNvSpPr txBox="1"/>
          <p:nvPr/>
        </p:nvSpPr>
        <p:spPr>
          <a:xfrm>
            <a:off x="6819900" y="4876800"/>
            <a:ext cx="4572000" cy="257175"/>
          </a:xfrm>
          <a:prstGeom prst="rect">
            <a:avLst/>
          </a:prstGeom>
          <a:noFill/>
        </p:spPr>
        <p:txBody>
          <a:bodyPr wrap="square" lIns="0" rIns="0" tIns="0" bIns="0" anchor="t">
            <a:noAutofit/>
          </a:bodyPr>
          <a:lstStyle/>
          <a:p>
            <a:pPr algn="l">
              <a:lnSpc>
                <a:spcPts val="2025"/>
              </a:lnSpc>
              <a:spcBef>
                <a:spcPts val="0"/>
              </a:spcBef>
              <a:spcAft>
                <a:spcPts val="0"/>
              </a:spcAft>
            </a:pPr>
            <a:r>
              <a:rPr sz="1425" b="0" i="0">
                <a:solidFill>
                  <a:srgbClr val="2B2B2B"/>
                </a:solidFill>
                <a:latin typeface="Arial"/>
              </a:rPr>
              <a:t>No dates are promised.</a:t>
            </a:r>
          </a:p>
        </p:txBody>
      </p:sp>
      <p:sp>
        <p:nvSpPr>
          <p:cNvPr id="28" name="TextBox 27"/>
          <p:cNvSpPr txBox="1"/>
          <p:nvPr/>
        </p:nvSpPr>
        <p:spPr>
          <a:xfrm>
            <a:off x="609600" y="6496050"/>
            <a:ext cx="5791200" cy="152400"/>
          </a:xfrm>
          <a:prstGeom prst="rect">
            <a:avLst/>
          </a:prstGeom>
          <a:noFill/>
        </p:spPr>
        <p:txBody>
          <a:bodyPr wrap="square" lIns="0" rIns="0" tIns="0" bIns="0" anchor="t">
            <a:noAutofit/>
          </a:bodyPr>
          <a:lstStyle/>
          <a:p>
            <a:pPr algn="l">
              <a:lnSpc>
                <a:spcPts val="1200"/>
              </a:lnSpc>
              <a:spcBef>
                <a:spcPts val="0"/>
              </a:spcBef>
              <a:spcAft>
                <a:spcPts val="0"/>
              </a:spcAft>
            </a:pPr>
            <a:r>
              <a:rPr sz="900" b="0" i="0">
                <a:solidFill>
                  <a:srgbClr val="6B6B6B"/>
                </a:solidFill>
                <a:latin typeface="Arial"/>
              </a:rPr>
              <a:t>Connected Environment 1.0 · Internal</a:t>
            </a:r>
          </a:p>
        </p:txBody>
      </p:sp>
      <p:sp>
        <p:nvSpPr>
          <p:cNvPr id="29" name="TextBox 28"/>
          <p:cNvSpPr txBox="1"/>
          <p:nvPr/>
        </p:nvSpPr>
        <p:spPr>
          <a:xfrm>
            <a:off x="10553700" y="6496050"/>
            <a:ext cx="1028700" cy="152400"/>
          </a:xfrm>
          <a:prstGeom prst="rect">
            <a:avLst/>
          </a:prstGeom>
          <a:noFill/>
        </p:spPr>
        <p:txBody>
          <a:bodyPr wrap="square" lIns="0" rIns="0" tIns="0" bIns="0" anchor="t">
            <a:noAutofit/>
          </a:bodyPr>
          <a:lstStyle/>
          <a:p>
            <a:pPr algn="r">
              <a:lnSpc>
                <a:spcPts val="1200"/>
              </a:lnSpc>
              <a:spcBef>
                <a:spcPts val="0"/>
              </a:spcBef>
              <a:spcAft>
                <a:spcPts val="0"/>
              </a:spcAft>
            </a:pPr>
            <a:r>
              <a:rPr sz="900" b="0" i="0">
                <a:solidFill>
                  <a:srgbClr val="6B6B6B"/>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itle 1"/>
          <p:cNvSpPr>
            <a:spLocks noGrp="1"/>
          </p:cNvSpPr>
          <p:nvPr>
            <p:ph type="title"/>
          </p:nvPr>
        </p:nvSpPr>
        <p:spPr>
          <a:xfrm>
            <a:off x="609600" y="876300"/>
            <a:ext cx="11049000" cy="419100"/>
          </a:xfrm>
        </p:spPr>
        <p:txBody>
          <a:bodyPr wrap="square" lIns="0" rIns="0" tIns="0" bIns="0" anchor="t">
            <a:noAutofit/>
          </a:bodyPr>
          <a:lstStyle/>
          <a:p>
            <a:pPr algn="l">
              <a:lnSpc>
                <a:spcPts val="3300"/>
              </a:lnSpc>
              <a:spcBef>
                <a:spcPts val="0"/>
              </a:spcBef>
              <a:spcAft>
                <a:spcPts val="0"/>
              </a:spcAft>
            </a:pPr>
            <a:r>
              <a:rPr sz="2850" b="1" i="0">
                <a:solidFill>
                  <a:srgbClr val="0C0C0C"/>
                </a:solidFill>
                <a:latin typeface="Arial"/>
              </a:rPr>
              <a:t>Five short videos, and one place to start</a:t>
            </a:r>
          </a:p>
        </p:txBody>
      </p:sp>
      <p:sp>
        <p:nvSpPr>
          <p:cNvPr id="3" name="Rectangle 2"/>
          <p:cNvSpPr/>
          <p:nvPr/>
        </p:nvSpPr>
        <p:spPr>
          <a:xfrm>
            <a:off x="609600" y="495300"/>
            <a:ext cx="381000" cy="47625"/>
          </a:xfrm>
          <a:prstGeom prst="rect">
            <a:avLst/>
          </a:prstGeom>
          <a:solidFill>
            <a:srgbClr val="FF8300"/>
          </a:solidFill>
          <a:ln>
            <a:noFill/>
          </a:ln>
        </p:spPr>
        <p:txBody>
          <a:bodyPr rtlCol="0" anchor="ctr"/>
          <a:lstStyle/>
          <a:p>
            <a:pPr algn="ctr"/>
          </a:p>
        </p:txBody>
      </p:sp>
      <p:sp>
        <p:nvSpPr>
          <p:cNvPr id="4" name="TextBox 3"/>
          <p:cNvSpPr txBox="1"/>
          <p:nvPr/>
        </p:nvSpPr>
        <p:spPr>
          <a:xfrm>
            <a:off x="609600" y="647700"/>
            <a:ext cx="96012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WATCH AND TRY</a:t>
            </a:r>
          </a:p>
        </p:txBody>
      </p:sp>
      <p:sp>
        <p:nvSpPr>
          <p:cNvPr id="5" name="Rounded Rectangle 4"/>
          <p:cNvSpPr/>
          <p:nvPr/>
        </p:nvSpPr>
        <p:spPr>
          <a:xfrm>
            <a:off x="614362" y="1681162"/>
            <a:ext cx="6315075" cy="714375"/>
          </a:xfrm>
          <a:prstGeom prst="roundRect">
            <a:avLst>
              <a:gd name="adj" fmla="val 15333"/>
            </a:avLst>
          </a:prstGeom>
          <a:solidFill>
            <a:srgbClr val="FFFFFF"/>
          </a:solidFill>
          <a:ln w="9525">
            <a:solidFill>
              <a:srgbClr val="DCDCD7"/>
            </a:solidFill>
          </a:ln>
        </p:spPr>
        <p:txBody>
          <a:bodyPr rtlCol="0" anchor="ctr"/>
          <a:lstStyle/>
          <a:p>
            <a:pPr algn="ctr"/>
          </a:p>
        </p:txBody>
      </p:sp>
      <p:sp>
        <p:nvSpPr>
          <p:cNvPr id="6" name="Oval 5"/>
          <p:cNvSpPr/>
          <p:nvPr/>
        </p:nvSpPr>
        <p:spPr>
          <a:xfrm>
            <a:off x="800100" y="1905000"/>
            <a:ext cx="266700" cy="266700"/>
          </a:xfrm>
          <a:prstGeom prst="ellipse">
            <a:avLst/>
          </a:prstGeom>
          <a:solidFill>
            <a:srgbClr val="FF8300"/>
          </a:solidFill>
          <a:ln>
            <a:noFill/>
          </a:ln>
        </p:spPr>
        <p:txBody>
          <a:bodyPr rtlCol="0" anchor="ctr"/>
          <a:lstStyle/>
          <a:p>
            <a:pPr algn="ctr"/>
          </a:p>
        </p:txBody>
      </p:sp>
      <p:sp>
        <p:nvSpPr>
          <p:cNvPr id="7" name="TextBox 6"/>
          <p:cNvSpPr txBox="1"/>
          <p:nvPr/>
        </p:nvSpPr>
        <p:spPr>
          <a:xfrm>
            <a:off x="762000" y="190500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1</a:t>
            </a:r>
          </a:p>
        </p:txBody>
      </p:sp>
      <p:sp>
        <p:nvSpPr>
          <p:cNvPr id="8" name="TextBox 7"/>
          <p:cNvSpPr txBox="1"/>
          <p:nvPr/>
        </p:nvSpPr>
        <p:spPr>
          <a:xfrm>
            <a:off x="1219200" y="1790700"/>
            <a:ext cx="4552950" cy="247650"/>
          </a:xfrm>
          <a:prstGeom prst="rect">
            <a:avLst/>
          </a:prstGeom>
          <a:noFill/>
        </p:spPr>
        <p:txBody>
          <a:bodyPr wrap="square" lIns="0" rIns="0" tIns="0" bIns="0" anchor="t">
            <a:noAutofit/>
          </a:bodyPr>
          <a:lstStyle/>
          <a:p>
            <a:pPr algn="l">
              <a:lnSpc>
                <a:spcPts val="1950"/>
              </a:lnSpc>
              <a:spcBef>
                <a:spcPts val="0"/>
              </a:spcBef>
              <a:spcAft>
                <a:spcPts val="0"/>
              </a:spcAft>
            </a:pPr>
            <a:r>
              <a:rPr sz="1500" b="1" i="0">
                <a:solidFill>
                  <a:srgbClr val="0C0C0C"/>
                </a:solidFill>
                <a:latin typeface="Arial"/>
              </a:rPr>
              <a:t>Connected Environment overview</a:t>
            </a:r>
          </a:p>
        </p:txBody>
      </p:sp>
      <p:sp>
        <p:nvSpPr>
          <p:cNvPr id="9" name="TextBox 8"/>
          <p:cNvSpPr txBox="1"/>
          <p:nvPr/>
        </p:nvSpPr>
        <p:spPr>
          <a:xfrm>
            <a:off x="1219200" y="2076450"/>
            <a:ext cx="502920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One umbrella over weather, lightning and gas.</a:t>
            </a:r>
          </a:p>
        </p:txBody>
      </p:sp>
      <p:sp>
        <p:nvSpPr>
          <p:cNvPr id="10" name="Rounded Rectangle 9"/>
          <p:cNvSpPr/>
          <p:nvPr/>
        </p:nvSpPr>
        <p:spPr>
          <a:xfrm>
            <a:off x="6043612" y="1881188"/>
            <a:ext cx="695325" cy="314325"/>
          </a:xfrm>
          <a:prstGeom prst="roundRect">
            <a:avLst>
              <a:gd name="adj" fmla="val 50000"/>
            </a:avLst>
          </a:prstGeom>
          <a:solidFill>
            <a:srgbClr val="FFFFFF"/>
          </a:solidFill>
          <a:ln w="9525">
            <a:solidFill>
              <a:srgbClr val="DCDCD7"/>
            </a:solidFill>
          </a:ln>
        </p:spPr>
        <p:txBody>
          <a:bodyPr rtlCol="0" anchor="ctr"/>
          <a:lstStyle/>
          <a:p>
            <a:pPr algn="ctr"/>
          </a:p>
        </p:txBody>
      </p:sp>
      <p:sp>
        <p:nvSpPr>
          <p:cNvPr id="11" name="TextBox 10"/>
          <p:cNvSpPr txBox="1"/>
          <p:nvPr/>
        </p:nvSpPr>
        <p:spPr>
          <a:xfrm>
            <a:off x="6010275" y="1885950"/>
            <a:ext cx="762000" cy="304800"/>
          </a:xfrm>
          <a:prstGeom prst="rect">
            <a:avLst/>
          </a:prstGeom>
          <a:noFill/>
        </p:spPr>
        <p:txBody>
          <a:bodyPr wrap="none" lIns="0" rIns="0" tIns="0" bIns="0" anchor="t">
            <a:noAutofit/>
          </a:bodyPr>
          <a:lstStyle/>
          <a:p>
            <a:pPr algn="ctr">
              <a:lnSpc>
                <a:spcPts val="2550"/>
              </a:lnSpc>
              <a:spcBef>
                <a:spcPts val="0"/>
              </a:spcBef>
              <a:spcAft>
                <a:spcPts val="0"/>
              </a:spcAft>
            </a:pPr>
            <a:r>
              <a:rPr sz="1050" b="1" i="0">
                <a:solidFill>
                  <a:srgbClr val="0C0C0C"/>
                </a:solidFill>
                <a:latin typeface="Arial"/>
              </a:rPr>
              <a:t>3:21</a:t>
            </a:r>
          </a:p>
        </p:txBody>
      </p:sp>
      <p:sp>
        <p:nvSpPr>
          <p:cNvPr id="12" name="Rounded Rectangle 11"/>
          <p:cNvSpPr/>
          <p:nvPr/>
        </p:nvSpPr>
        <p:spPr>
          <a:xfrm>
            <a:off x="614362" y="2519362"/>
            <a:ext cx="6315075" cy="714375"/>
          </a:xfrm>
          <a:prstGeom prst="roundRect">
            <a:avLst>
              <a:gd name="adj" fmla="val 15333"/>
            </a:avLst>
          </a:prstGeom>
          <a:solidFill>
            <a:srgbClr val="FFFFFF"/>
          </a:solidFill>
          <a:ln w="9525">
            <a:solidFill>
              <a:srgbClr val="DCDCD7"/>
            </a:solidFill>
          </a:ln>
        </p:spPr>
        <p:txBody>
          <a:bodyPr rtlCol="0" anchor="ctr"/>
          <a:lstStyle/>
          <a:p>
            <a:pPr algn="ctr"/>
          </a:p>
        </p:txBody>
      </p:sp>
      <p:sp>
        <p:nvSpPr>
          <p:cNvPr id="13" name="Oval 12"/>
          <p:cNvSpPr/>
          <p:nvPr/>
        </p:nvSpPr>
        <p:spPr>
          <a:xfrm>
            <a:off x="800100" y="2743200"/>
            <a:ext cx="266700" cy="266700"/>
          </a:xfrm>
          <a:prstGeom prst="ellipse">
            <a:avLst/>
          </a:prstGeom>
          <a:solidFill>
            <a:srgbClr val="FF8300"/>
          </a:solidFill>
          <a:ln>
            <a:noFill/>
          </a:ln>
        </p:spPr>
        <p:txBody>
          <a:bodyPr rtlCol="0" anchor="ctr"/>
          <a:lstStyle/>
          <a:p>
            <a:pPr algn="ctr"/>
          </a:p>
        </p:txBody>
      </p:sp>
      <p:sp>
        <p:nvSpPr>
          <p:cNvPr id="14" name="TextBox 13"/>
          <p:cNvSpPr txBox="1"/>
          <p:nvPr/>
        </p:nvSpPr>
        <p:spPr>
          <a:xfrm>
            <a:off x="762000" y="274320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2</a:t>
            </a:r>
          </a:p>
        </p:txBody>
      </p:sp>
      <p:sp>
        <p:nvSpPr>
          <p:cNvPr id="15" name="TextBox 14"/>
          <p:cNvSpPr txBox="1"/>
          <p:nvPr/>
        </p:nvSpPr>
        <p:spPr>
          <a:xfrm>
            <a:off x="1219200" y="2628900"/>
            <a:ext cx="4552950" cy="247650"/>
          </a:xfrm>
          <a:prstGeom prst="rect">
            <a:avLst/>
          </a:prstGeom>
          <a:noFill/>
        </p:spPr>
        <p:txBody>
          <a:bodyPr wrap="square" lIns="0" rIns="0" tIns="0" bIns="0" anchor="t">
            <a:noAutofit/>
          </a:bodyPr>
          <a:lstStyle/>
          <a:p>
            <a:pPr algn="l">
              <a:lnSpc>
                <a:spcPts val="1950"/>
              </a:lnSpc>
              <a:spcBef>
                <a:spcPts val="0"/>
              </a:spcBef>
              <a:spcAft>
                <a:spcPts val="0"/>
              </a:spcAft>
            </a:pPr>
            <a:r>
              <a:rPr sz="1500" b="1" i="0">
                <a:solidFill>
                  <a:srgbClr val="0C0C0C"/>
                </a:solidFill>
                <a:latin typeface="Arial"/>
              </a:rPr>
              <a:t>Weather Station</a:t>
            </a:r>
          </a:p>
        </p:txBody>
      </p:sp>
      <p:sp>
        <p:nvSpPr>
          <p:cNvPr id="16" name="TextBox 15"/>
          <p:cNvSpPr txBox="1"/>
          <p:nvPr/>
        </p:nvSpPr>
        <p:spPr>
          <a:xfrm>
            <a:off x="1219200" y="2914650"/>
            <a:ext cx="502920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The verdict, steps, Reports and Site Safety Policy.</a:t>
            </a:r>
          </a:p>
        </p:txBody>
      </p:sp>
      <p:sp>
        <p:nvSpPr>
          <p:cNvPr id="17" name="Rounded Rectangle 16"/>
          <p:cNvSpPr/>
          <p:nvPr/>
        </p:nvSpPr>
        <p:spPr>
          <a:xfrm>
            <a:off x="6043612" y="2719388"/>
            <a:ext cx="695325" cy="314325"/>
          </a:xfrm>
          <a:prstGeom prst="roundRect">
            <a:avLst>
              <a:gd name="adj" fmla="val 50000"/>
            </a:avLst>
          </a:prstGeom>
          <a:solidFill>
            <a:srgbClr val="FFFFFF"/>
          </a:solidFill>
          <a:ln w="9525">
            <a:solidFill>
              <a:srgbClr val="DCDCD7"/>
            </a:solidFill>
          </a:ln>
        </p:spPr>
        <p:txBody>
          <a:bodyPr rtlCol="0" anchor="ctr"/>
          <a:lstStyle/>
          <a:p>
            <a:pPr algn="ctr"/>
          </a:p>
        </p:txBody>
      </p:sp>
      <p:sp>
        <p:nvSpPr>
          <p:cNvPr id="18" name="TextBox 17"/>
          <p:cNvSpPr txBox="1"/>
          <p:nvPr/>
        </p:nvSpPr>
        <p:spPr>
          <a:xfrm>
            <a:off x="6010275" y="2724150"/>
            <a:ext cx="762000" cy="304800"/>
          </a:xfrm>
          <a:prstGeom prst="rect">
            <a:avLst/>
          </a:prstGeom>
          <a:noFill/>
        </p:spPr>
        <p:txBody>
          <a:bodyPr wrap="none" lIns="0" rIns="0" tIns="0" bIns="0" anchor="t">
            <a:noAutofit/>
          </a:bodyPr>
          <a:lstStyle/>
          <a:p>
            <a:pPr algn="ctr">
              <a:lnSpc>
                <a:spcPts val="2550"/>
              </a:lnSpc>
              <a:spcBef>
                <a:spcPts val="0"/>
              </a:spcBef>
              <a:spcAft>
                <a:spcPts val="0"/>
              </a:spcAft>
            </a:pPr>
            <a:r>
              <a:rPr sz="1050" b="1" i="0">
                <a:solidFill>
                  <a:srgbClr val="0C0C0C"/>
                </a:solidFill>
                <a:latin typeface="Arial"/>
              </a:rPr>
              <a:t>2:18</a:t>
            </a:r>
          </a:p>
        </p:txBody>
      </p:sp>
      <p:sp>
        <p:nvSpPr>
          <p:cNvPr id="19" name="Rounded Rectangle 18"/>
          <p:cNvSpPr/>
          <p:nvPr/>
        </p:nvSpPr>
        <p:spPr>
          <a:xfrm>
            <a:off x="614362" y="3357562"/>
            <a:ext cx="6315075" cy="714375"/>
          </a:xfrm>
          <a:prstGeom prst="roundRect">
            <a:avLst>
              <a:gd name="adj" fmla="val 15333"/>
            </a:avLst>
          </a:prstGeom>
          <a:solidFill>
            <a:srgbClr val="FFFFFF"/>
          </a:solidFill>
          <a:ln w="9525">
            <a:solidFill>
              <a:srgbClr val="DCDCD7"/>
            </a:solidFill>
          </a:ln>
        </p:spPr>
        <p:txBody>
          <a:bodyPr rtlCol="0" anchor="ctr"/>
          <a:lstStyle/>
          <a:p>
            <a:pPr algn="ctr"/>
          </a:p>
        </p:txBody>
      </p:sp>
      <p:sp>
        <p:nvSpPr>
          <p:cNvPr id="20" name="Oval 19"/>
          <p:cNvSpPr/>
          <p:nvPr/>
        </p:nvSpPr>
        <p:spPr>
          <a:xfrm>
            <a:off x="800100" y="3581400"/>
            <a:ext cx="266700" cy="266700"/>
          </a:xfrm>
          <a:prstGeom prst="ellipse">
            <a:avLst/>
          </a:prstGeom>
          <a:solidFill>
            <a:srgbClr val="FF8300"/>
          </a:solidFill>
          <a:ln>
            <a:noFill/>
          </a:ln>
        </p:spPr>
        <p:txBody>
          <a:bodyPr rtlCol="0" anchor="ctr"/>
          <a:lstStyle/>
          <a:p>
            <a:pPr algn="ctr"/>
          </a:p>
        </p:txBody>
      </p:sp>
      <p:sp>
        <p:nvSpPr>
          <p:cNvPr id="21" name="TextBox 20"/>
          <p:cNvSpPr txBox="1"/>
          <p:nvPr/>
        </p:nvSpPr>
        <p:spPr>
          <a:xfrm>
            <a:off x="762000" y="358140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3</a:t>
            </a:r>
          </a:p>
        </p:txBody>
      </p:sp>
      <p:sp>
        <p:nvSpPr>
          <p:cNvPr id="22" name="TextBox 21"/>
          <p:cNvSpPr txBox="1"/>
          <p:nvPr/>
        </p:nvSpPr>
        <p:spPr>
          <a:xfrm>
            <a:off x="1219200" y="3467100"/>
            <a:ext cx="4552950" cy="247650"/>
          </a:xfrm>
          <a:prstGeom prst="rect">
            <a:avLst/>
          </a:prstGeom>
          <a:noFill/>
        </p:spPr>
        <p:txBody>
          <a:bodyPr wrap="square" lIns="0" rIns="0" tIns="0" bIns="0" anchor="t">
            <a:noAutofit/>
          </a:bodyPr>
          <a:lstStyle/>
          <a:p>
            <a:pPr algn="l">
              <a:lnSpc>
                <a:spcPts val="1950"/>
              </a:lnSpc>
              <a:spcBef>
                <a:spcPts val="0"/>
              </a:spcBef>
              <a:spcAft>
                <a:spcPts val="0"/>
              </a:spcAft>
            </a:pPr>
            <a:r>
              <a:rPr sz="1500" b="1" i="0">
                <a:solidFill>
                  <a:srgbClr val="0C0C0C"/>
                </a:solidFill>
                <a:latin typeface="Arial"/>
              </a:rPr>
              <a:t>Lightning</a:t>
            </a:r>
          </a:p>
        </p:txBody>
      </p:sp>
      <p:sp>
        <p:nvSpPr>
          <p:cNvPr id="23" name="TextBox 22"/>
          <p:cNvSpPr txBox="1"/>
          <p:nvPr/>
        </p:nvSpPr>
        <p:spPr>
          <a:xfrm>
            <a:off x="1219200" y="3752850"/>
            <a:ext cx="502920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A backup alert view, alert distances and history.</a:t>
            </a:r>
          </a:p>
        </p:txBody>
      </p:sp>
      <p:sp>
        <p:nvSpPr>
          <p:cNvPr id="24" name="Rounded Rectangle 23"/>
          <p:cNvSpPr/>
          <p:nvPr/>
        </p:nvSpPr>
        <p:spPr>
          <a:xfrm>
            <a:off x="6043612" y="3557588"/>
            <a:ext cx="695325" cy="314325"/>
          </a:xfrm>
          <a:prstGeom prst="roundRect">
            <a:avLst>
              <a:gd name="adj" fmla="val 50000"/>
            </a:avLst>
          </a:prstGeom>
          <a:solidFill>
            <a:srgbClr val="FFFFFF"/>
          </a:solidFill>
          <a:ln w="9525">
            <a:solidFill>
              <a:srgbClr val="DCDCD7"/>
            </a:solidFill>
          </a:ln>
        </p:spPr>
        <p:txBody>
          <a:bodyPr rtlCol="0" anchor="ctr"/>
          <a:lstStyle/>
          <a:p>
            <a:pPr algn="ctr"/>
          </a:p>
        </p:txBody>
      </p:sp>
      <p:sp>
        <p:nvSpPr>
          <p:cNvPr id="25" name="TextBox 24"/>
          <p:cNvSpPr txBox="1"/>
          <p:nvPr/>
        </p:nvSpPr>
        <p:spPr>
          <a:xfrm>
            <a:off x="6010275" y="3562350"/>
            <a:ext cx="762000" cy="304800"/>
          </a:xfrm>
          <a:prstGeom prst="rect">
            <a:avLst/>
          </a:prstGeom>
          <a:noFill/>
        </p:spPr>
        <p:txBody>
          <a:bodyPr wrap="none" lIns="0" rIns="0" tIns="0" bIns="0" anchor="t">
            <a:noAutofit/>
          </a:bodyPr>
          <a:lstStyle/>
          <a:p>
            <a:pPr algn="ctr">
              <a:lnSpc>
                <a:spcPts val="2550"/>
              </a:lnSpc>
              <a:spcBef>
                <a:spcPts val="0"/>
              </a:spcBef>
              <a:spcAft>
                <a:spcPts val="0"/>
              </a:spcAft>
            </a:pPr>
            <a:r>
              <a:rPr sz="1050" b="1" i="0">
                <a:solidFill>
                  <a:srgbClr val="0C0C0C"/>
                </a:solidFill>
                <a:latin typeface="Arial"/>
              </a:rPr>
              <a:t>2:08</a:t>
            </a:r>
          </a:p>
        </p:txBody>
      </p:sp>
      <p:sp>
        <p:nvSpPr>
          <p:cNvPr id="26" name="Rounded Rectangle 25"/>
          <p:cNvSpPr/>
          <p:nvPr/>
        </p:nvSpPr>
        <p:spPr>
          <a:xfrm>
            <a:off x="614362" y="4195762"/>
            <a:ext cx="6315075" cy="714375"/>
          </a:xfrm>
          <a:prstGeom prst="roundRect">
            <a:avLst>
              <a:gd name="adj" fmla="val 15333"/>
            </a:avLst>
          </a:prstGeom>
          <a:solidFill>
            <a:srgbClr val="FFFFFF"/>
          </a:solidFill>
          <a:ln w="9525">
            <a:solidFill>
              <a:srgbClr val="DCDCD7"/>
            </a:solidFill>
          </a:ln>
        </p:spPr>
        <p:txBody>
          <a:bodyPr rtlCol="0" anchor="ctr"/>
          <a:lstStyle/>
          <a:p>
            <a:pPr algn="ctr"/>
          </a:p>
        </p:txBody>
      </p:sp>
      <p:sp>
        <p:nvSpPr>
          <p:cNvPr id="27" name="Oval 26"/>
          <p:cNvSpPr/>
          <p:nvPr/>
        </p:nvSpPr>
        <p:spPr>
          <a:xfrm>
            <a:off x="800100" y="4419600"/>
            <a:ext cx="266700" cy="266700"/>
          </a:xfrm>
          <a:prstGeom prst="ellipse">
            <a:avLst/>
          </a:prstGeom>
          <a:solidFill>
            <a:srgbClr val="FF8300"/>
          </a:solidFill>
          <a:ln>
            <a:noFill/>
          </a:ln>
        </p:spPr>
        <p:txBody>
          <a:bodyPr rtlCol="0" anchor="ctr"/>
          <a:lstStyle/>
          <a:p>
            <a:pPr algn="ctr"/>
          </a:p>
        </p:txBody>
      </p:sp>
      <p:sp>
        <p:nvSpPr>
          <p:cNvPr id="28" name="TextBox 27"/>
          <p:cNvSpPr txBox="1"/>
          <p:nvPr/>
        </p:nvSpPr>
        <p:spPr>
          <a:xfrm>
            <a:off x="762000" y="441960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4</a:t>
            </a:r>
          </a:p>
        </p:txBody>
      </p:sp>
      <p:sp>
        <p:nvSpPr>
          <p:cNvPr id="29" name="TextBox 28"/>
          <p:cNvSpPr txBox="1"/>
          <p:nvPr/>
        </p:nvSpPr>
        <p:spPr>
          <a:xfrm>
            <a:off x="1219200" y="4305300"/>
            <a:ext cx="4552950" cy="247650"/>
          </a:xfrm>
          <a:prstGeom prst="rect">
            <a:avLst/>
          </a:prstGeom>
          <a:noFill/>
        </p:spPr>
        <p:txBody>
          <a:bodyPr wrap="square" lIns="0" rIns="0" tIns="0" bIns="0" anchor="t">
            <a:noAutofit/>
          </a:bodyPr>
          <a:lstStyle/>
          <a:p>
            <a:pPr algn="l">
              <a:lnSpc>
                <a:spcPts val="1950"/>
              </a:lnSpc>
              <a:spcBef>
                <a:spcPts val="0"/>
              </a:spcBef>
              <a:spcAft>
                <a:spcPts val="0"/>
              </a:spcAft>
            </a:pPr>
            <a:r>
              <a:rPr sz="1500" b="1" i="0">
                <a:solidFill>
                  <a:srgbClr val="0C0C0C"/>
                </a:solidFill>
                <a:latin typeface="Arial"/>
              </a:rPr>
              <a:t>Gas</a:t>
            </a:r>
          </a:p>
        </p:txBody>
      </p:sp>
      <p:sp>
        <p:nvSpPr>
          <p:cNvPr id="30" name="TextBox 29"/>
          <p:cNvSpPr txBox="1"/>
          <p:nvPr/>
        </p:nvSpPr>
        <p:spPr>
          <a:xfrm>
            <a:off x="1219200" y="4591050"/>
            <a:ext cx="502920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Overview, Check, alerts and compliance limits.</a:t>
            </a:r>
          </a:p>
        </p:txBody>
      </p:sp>
      <p:sp>
        <p:nvSpPr>
          <p:cNvPr id="31" name="Rounded Rectangle 30"/>
          <p:cNvSpPr/>
          <p:nvPr/>
        </p:nvSpPr>
        <p:spPr>
          <a:xfrm>
            <a:off x="6043612" y="4395788"/>
            <a:ext cx="695325" cy="314325"/>
          </a:xfrm>
          <a:prstGeom prst="roundRect">
            <a:avLst>
              <a:gd name="adj" fmla="val 50000"/>
            </a:avLst>
          </a:prstGeom>
          <a:solidFill>
            <a:srgbClr val="FFFFFF"/>
          </a:solidFill>
          <a:ln w="9525">
            <a:solidFill>
              <a:srgbClr val="DCDCD7"/>
            </a:solidFill>
          </a:ln>
        </p:spPr>
        <p:txBody>
          <a:bodyPr rtlCol="0" anchor="ctr"/>
          <a:lstStyle/>
          <a:p>
            <a:pPr algn="ctr"/>
          </a:p>
        </p:txBody>
      </p:sp>
      <p:sp>
        <p:nvSpPr>
          <p:cNvPr id="32" name="TextBox 31"/>
          <p:cNvSpPr txBox="1"/>
          <p:nvPr/>
        </p:nvSpPr>
        <p:spPr>
          <a:xfrm>
            <a:off x="6010275" y="4400550"/>
            <a:ext cx="762000" cy="304800"/>
          </a:xfrm>
          <a:prstGeom prst="rect">
            <a:avLst/>
          </a:prstGeom>
          <a:noFill/>
        </p:spPr>
        <p:txBody>
          <a:bodyPr wrap="none" lIns="0" rIns="0" tIns="0" bIns="0" anchor="t">
            <a:noAutofit/>
          </a:bodyPr>
          <a:lstStyle/>
          <a:p>
            <a:pPr algn="ctr">
              <a:lnSpc>
                <a:spcPts val="2550"/>
              </a:lnSpc>
              <a:spcBef>
                <a:spcPts val="0"/>
              </a:spcBef>
              <a:spcAft>
                <a:spcPts val="0"/>
              </a:spcAft>
            </a:pPr>
            <a:r>
              <a:rPr sz="1050" b="1" i="0">
                <a:solidFill>
                  <a:srgbClr val="0C0C0C"/>
                </a:solidFill>
                <a:latin typeface="Arial"/>
              </a:rPr>
              <a:t>2:32</a:t>
            </a:r>
          </a:p>
        </p:txBody>
      </p:sp>
      <p:sp>
        <p:nvSpPr>
          <p:cNvPr id="33" name="Rounded Rectangle 32"/>
          <p:cNvSpPr/>
          <p:nvPr/>
        </p:nvSpPr>
        <p:spPr>
          <a:xfrm>
            <a:off x="614362" y="5033962"/>
            <a:ext cx="6315075" cy="714375"/>
          </a:xfrm>
          <a:prstGeom prst="roundRect">
            <a:avLst>
              <a:gd name="adj" fmla="val 15333"/>
            </a:avLst>
          </a:prstGeom>
          <a:solidFill>
            <a:srgbClr val="FFFFFF"/>
          </a:solidFill>
          <a:ln w="9525">
            <a:solidFill>
              <a:srgbClr val="DCDCD7"/>
            </a:solidFill>
          </a:ln>
        </p:spPr>
        <p:txBody>
          <a:bodyPr rtlCol="0" anchor="ctr"/>
          <a:lstStyle/>
          <a:p>
            <a:pPr algn="ctr"/>
          </a:p>
        </p:txBody>
      </p:sp>
      <p:sp>
        <p:nvSpPr>
          <p:cNvPr id="34" name="Oval 33"/>
          <p:cNvSpPr/>
          <p:nvPr/>
        </p:nvSpPr>
        <p:spPr>
          <a:xfrm>
            <a:off x="800100" y="5257800"/>
            <a:ext cx="266700" cy="266700"/>
          </a:xfrm>
          <a:prstGeom prst="ellipse">
            <a:avLst/>
          </a:prstGeom>
          <a:solidFill>
            <a:srgbClr val="FF8300"/>
          </a:solidFill>
          <a:ln>
            <a:noFill/>
          </a:ln>
        </p:spPr>
        <p:txBody>
          <a:bodyPr rtlCol="0" anchor="ctr"/>
          <a:lstStyle/>
          <a:p>
            <a:pPr algn="ctr"/>
          </a:p>
        </p:txBody>
      </p:sp>
      <p:sp>
        <p:nvSpPr>
          <p:cNvPr id="35" name="TextBox 34"/>
          <p:cNvSpPr txBox="1"/>
          <p:nvPr/>
        </p:nvSpPr>
        <p:spPr>
          <a:xfrm>
            <a:off x="762000" y="525780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5</a:t>
            </a:r>
          </a:p>
        </p:txBody>
      </p:sp>
      <p:sp>
        <p:nvSpPr>
          <p:cNvPr id="36" name="TextBox 35"/>
          <p:cNvSpPr txBox="1"/>
          <p:nvPr/>
        </p:nvSpPr>
        <p:spPr>
          <a:xfrm>
            <a:off x="1219200" y="5143500"/>
            <a:ext cx="4552950" cy="247650"/>
          </a:xfrm>
          <a:prstGeom prst="rect">
            <a:avLst/>
          </a:prstGeom>
          <a:noFill/>
        </p:spPr>
        <p:txBody>
          <a:bodyPr wrap="square" lIns="0" rIns="0" tIns="0" bIns="0" anchor="t">
            <a:noAutofit/>
          </a:bodyPr>
          <a:lstStyle/>
          <a:p>
            <a:pPr algn="l">
              <a:lnSpc>
                <a:spcPts val="1950"/>
              </a:lnSpc>
              <a:spcBef>
                <a:spcPts val="0"/>
              </a:spcBef>
              <a:spcAft>
                <a:spcPts val="0"/>
              </a:spcAft>
            </a:pPr>
            <a:r>
              <a:rPr sz="1500" b="1" i="0">
                <a:solidFill>
                  <a:srgbClr val="0C0C0C"/>
                </a:solidFill>
                <a:latin typeface="Arial"/>
              </a:rPr>
              <a:t>Setup tour</a:t>
            </a:r>
          </a:p>
        </p:txBody>
      </p:sp>
      <p:sp>
        <p:nvSpPr>
          <p:cNvPr id="37" name="TextBox 36"/>
          <p:cNvSpPr txBox="1"/>
          <p:nvPr/>
        </p:nvSpPr>
        <p:spPr>
          <a:xfrm>
            <a:off x="1219200" y="5429250"/>
            <a:ext cx="502920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Explore, feature, enable and configure, with voice-over.</a:t>
            </a:r>
          </a:p>
        </p:txBody>
      </p:sp>
      <p:sp>
        <p:nvSpPr>
          <p:cNvPr id="38" name="Rounded Rectangle 37"/>
          <p:cNvSpPr/>
          <p:nvPr/>
        </p:nvSpPr>
        <p:spPr>
          <a:xfrm>
            <a:off x="6043612" y="5233988"/>
            <a:ext cx="695325" cy="314325"/>
          </a:xfrm>
          <a:prstGeom prst="roundRect">
            <a:avLst>
              <a:gd name="adj" fmla="val 50000"/>
            </a:avLst>
          </a:prstGeom>
          <a:solidFill>
            <a:srgbClr val="FFFFFF"/>
          </a:solidFill>
          <a:ln w="9525">
            <a:solidFill>
              <a:srgbClr val="DCDCD7"/>
            </a:solidFill>
          </a:ln>
        </p:spPr>
        <p:txBody>
          <a:bodyPr rtlCol="0" anchor="ctr"/>
          <a:lstStyle/>
          <a:p>
            <a:pPr algn="ctr"/>
          </a:p>
        </p:txBody>
      </p:sp>
      <p:sp>
        <p:nvSpPr>
          <p:cNvPr id="39" name="TextBox 38"/>
          <p:cNvSpPr txBox="1"/>
          <p:nvPr/>
        </p:nvSpPr>
        <p:spPr>
          <a:xfrm>
            <a:off x="6010275" y="5238750"/>
            <a:ext cx="762000" cy="304800"/>
          </a:xfrm>
          <a:prstGeom prst="rect">
            <a:avLst/>
          </a:prstGeom>
          <a:noFill/>
        </p:spPr>
        <p:txBody>
          <a:bodyPr wrap="none" lIns="0" rIns="0" tIns="0" bIns="0" anchor="t">
            <a:noAutofit/>
          </a:bodyPr>
          <a:lstStyle/>
          <a:p>
            <a:pPr algn="ctr">
              <a:lnSpc>
                <a:spcPts val="2550"/>
              </a:lnSpc>
              <a:spcBef>
                <a:spcPts val="0"/>
              </a:spcBef>
              <a:spcAft>
                <a:spcPts val="0"/>
              </a:spcAft>
            </a:pPr>
            <a:r>
              <a:rPr sz="1050" b="1" i="0">
                <a:solidFill>
                  <a:srgbClr val="0C0C0C"/>
                </a:solidFill>
                <a:latin typeface="Arial"/>
              </a:rPr>
              <a:t>4:33</a:t>
            </a:r>
          </a:p>
        </p:txBody>
      </p:sp>
      <p:sp>
        <p:nvSpPr>
          <p:cNvPr id="40" name="Rounded Rectangle 39"/>
          <p:cNvSpPr/>
          <p:nvPr/>
        </p:nvSpPr>
        <p:spPr>
          <a:xfrm>
            <a:off x="7319962" y="1681162"/>
            <a:ext cx="4257675" cy="4067175"/>
          </a:xfrm>
          <a:prstGeom prst="roundRect">
            <a:avLst>
              <a:gd name="adj" fmla="val 2693"/>
            </a:avLst>
          </a:prstGeom>
          <a:solidFill>
            <a:srgbClr val="FFFFFF"/>
          </a:solidFill>
          <a:ln w="9525">
            <a:solidFill>
              <a:srgbClr val="DCDCD7"/>
            </a:solidFill>
          </a:ln>
        </p:spPr>
        <p:txBody>
          <a:bodyPr rtlCol="0" anchor="ctr"/>
          <a:lstStyle/>
          <a:p>
            <a:pPr algn="ctr"/>
          </a:p>
        </p:txBody>
      </p:sp>
      <p:sp>
        <p:nvSpPr>
          <p:cNvPr id="41" name="Rounded Rectangle 40"/>
          <p:cNvSpPr/>
          <p:nvPr/>
        </p:nvSpPr>
        <p:spPr>
          <a:xfrm>
            <a:off x="7315200" y="1676400"/>
            <a:ext cx="4267200" cy="57150"/>
          </a:xfrm>
          <a:prstGeom prst="roundRect">
            <a:avLst>
              <a:gd name="adj" fmla="val 50000"/>
            </a:avLst>
          </a:prstGeom>
          <a:solidFill>
            <a:srgbClr val="FF8300"/>
          </a:solidFill>
          <a:ln>
            <a:noFill/>
          </a:ln>
        </p:spPr>
        <p:txBody>
          <a:bodyPr rtlCol="0" anchor="ctr"/>
          <a:lstStyle/>
          <a:p>
            <a:pPr algn="ctr"/>
          </a:p>
        </p:txBody>
      </p:sp>
      <p:sp>
        <p:nvSpPr>
          <p:cNvPr id="42" name="TextBox 41"/>
          <p:cNvSpPr txBox="1"/>
          <p:nvPr/>
        </p:nvSpPr>
        <p:spPr>
          <a:xfrm>
            <a:off x="7581900" y="1924050"/>
            <a:ext cx="3886200" cy="295275"/>
          </a:xfrm>
          <a:prstGeom prst="rect">
            <a:avLst/>
          </a:prstGeom>
          <a:noFill/>
        </p:spPr>
        <p:txBody>
          <a:bodyPr wrap="square" lIns="0" rIns="0" tIns="0" bIns="0" anchor="t">
            <a:noAutofit/>
          </a:bodyPr>
          <a:lstStyle/>
          <a:p>
            <a:pPr algn="l">
              <a:lnSpc>
                <a:spcPts val="2325"/>
              </a:lnSpc>
              <a:spcBef>
                <a:spcPts val="0"/>
              </a:spcBef>
              <a:spcAft>
                <a:spcPts val="0"/>
              </a:spcAft>
            </a:pPr>
            <a:r>
              <a:rPr sz="1875" b="1" i="0">
                <a:solidFill>
                  <a:srgbClr val="0C0C0C"/>
                </a:solidFill>
                <a:latin typeface="Arial"/>
              </a:rPr>
              <a:t>Try it</a:t>
            </a:r>
          </a:p>
        </p:txBody>
      </p:sp>
      <p:sp>
        <p:nvSpPr>
          <p:cNvPr id="43" name="Oval 42"/>
          <p:cNvSpPr/>
          <p:nvPr/>
        </p:nvSpPr>
        <p:spPr>
          <a:xfrm>
            <a:off x="7581900" y="2381250"/>
            <a:ext cx="266700" cy="266700"/>
          </a:xfrm>
          <a:prstGeom prst="ellipse">
            <a:avLst/>
          </a:prstGeom>
          <a:solidFill>
            <a:srgbClr val="FF8300"/>
          </a:solidFill>
          <a:ln>
            <a:noFill/>
          </a:ln>
        </p:spPr>
        <p:txBody>
          <a:bodyPr rtlCol="0" anchor="ctr"/>
          <a:lstStyle/>
          <a:p>
            <a:pPr algn="ctr"/>
          </a:p>
        </p:txBody>
      </p:sp>
      <p:sp>
        <p:nvSpPr>
          <p:cNvPr id="44" name="TextBox 43"/>
          <p:cNvSpPr txBox="1"/>
          <p:nvPr/>
        </p:nvSpPr>
        <p:spPr>
          <a:xfrm>
            <a:off x="7543800" y="238125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1</a:t>
            </a:r>
          </a:p>
        </p:txBody>
      </p:sp>
      <p:sp>
        <p:nvSpPr>
          <p:cNvPr id="45" name="TextBox 44"/>
          <p:cNvSpPr txBox="1"/>
          <p:nvPr/>
        </p:nvSpPr>
        <p:spPr>
          <a:xfrm>
            <a:off x="7981950" y="2381250"/>
            <a:ext cx="3409950" cy="219075"/>
          </a:xfrm>
          <a:prstGeom prst="rect">
            <a:avLst/>
          </a:prstGeom>
          <a:noFill/>
        </p:spPr>
        <p:txBody>
          <a:bodyPr wrap="square" lIns="0" rIns="0" tIns="0" bIns="0" anchor="t">
            <a:noAutofit/>
          </a:bodyPr>
          <a:lstStyle/>
          <a:p>
            <a:pPr algn="l">
              <a:lnSpc>
                <a:spcPts val="1725"/>
              </a:lnSpc>
              <a:spcBef>
                <a:spcPts val="0"/>
              </a:spcBef>
              <a:spcAft>
                <a:spcPts val="0"/>
              </a:spcAft>
            </a:pPr>
            <a:r>
              <a:rPr sz="1200" b="1" i="0">
                <a:solidFill>
                  <a:srgbClr val="0C0C0C"/>
                </a:solidFill>
                <a:latin typeface="Arial"/>
              </a:rPr>
              <a:t>Open your project</a:t>
            </a:r>
            <a:r>
              <a:rPr sz="1200" b="0" i="0">
                <a:solidFill>
                  <a:srgbClr val="2B2B2B"/>
                </a:solidFill>
                <a:latin typeface="Arial"/>
              </a:rPr>
              <a:t> in the portal.</a:t>
            </a:r>
          </a:p>
        </p:txBody>
      </p:sp>
      <p:sp>
        <p:nvSpPr>
          <p:cNvPr id="46" name="Oval 45"/>
          <p:cNvSpPr/>
          <p:nvPr/>
        </p:nvSpPr>
        <p:spPr>
          <a:xfrm>
            <a:off x="7581900" y="2819400"/>
            <a:ext cx="266700" cy="266700"/>
          </a:xfrm>
          <a:prstGeom prst="ellipse">
            <a:avLst/>
          </a:prstGeom>
          <a:solidFill>
            <a:srgbClr val="FF8300"/>
          </a:solidFill>
          <a:ln>
            <a:noFill/>
          </a:ln>
        </p:spPr>
        <p:txBody>
          <a:bodyPr rtlCol="0" anchor="ctr"/>
          <a:lstStyle/>
          <a:p>
            <a:pPr algn="ctr"/>
          </a:p>
        </p:txBody>
      </p:sp>
      <p:sp>
        <p:nvSpPr>
          <p:cNvPr id="47" name="TextBox 46"/>
          <p:cNvSpPr txBox="1"/>
          <p:nvPr/>
        </p:nvSpPr>
        <p:spPr>
          <a:xfrm>
            <a:off x="7543800" y="281940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2</a:t>
            </a:r>
          </a:p>
        </p:txBody>
      </p:sp>
      <p:sp>
        <p:nvSpPr>
          <p:cNvPr id="48" name="TextBox 47"/>
          <p:cNvSpPr txBox="1"/>
          <p:nvPr/>
        </p:nvSpPr>
        <p:spPr>
          <a:xfrm>
            <a:off x="7981950" y="2819400"/>
            <a:ext cx="3409950" cy="438150"/>
          </a:xfrm>
          <a:prstGeom prst="rect">
            <a:avLst/>
          </a:prstGeom>
          <a:noFill/>
        </p:spPr>
        <p:txBody>
          <a:bodyPr wrap="square" lIns="0" rIns="0" tIns="0" bIns="0" anchor="t">
            <a:noAutofit/>
          </a:bodyPr>
          <a:lstStyle/>
          <a:p>
            <a:pPr algn="l">
              <a:lnSpc>
                <a:spcPts val="1725"/>
              </a:lnSpc>
              <a:spcBef>
                <a:spcPts val="0"/>
              </a:spcBef>
              <a:spcAft>
                <a:spcPts val="0"/>
              </a:spcAft>
            </a:pPr>
            <a:r>
              <a:rPr sz="1200" b="1" i="0">
                <a:solidFill>
                  <a:srgbClr val="0C0C0C"/>
                </a:solidFill>
                <a:latin typeface="Arial"/>
              </a:rPr>
              <a:t>In the left rail,</a:t>
            </a:r>
            <a:r>
              <a:rPr sz="1200" b="0" i="0">
                <a:solidFill>
                  <a:srgbClr val="2B2B2B"/>
                </a:solidFill>
                <a:latin typeface="Arial"/>
              </a:rPr>
              <a:t> click the sun-and-cloud icon: Connected Environment, if your project has it.</a:t>
            </a:r>
          </a:p>
        </p:txBody>
      </p:sp>
      <p:sp>
        <p:nvSpPr>
          <p:cNvPr id="49" name="Oval 48"/>
          <p:cNvSpPr/>
          <p:nvPr/>
        </p:nvSpPr>
        <p:spPr>
          <a:xfrm>
            <a:off x="7581900" y="3429000"/>
            <a:ext cx="266700" cy="266700"/>
          </a:xfrm>
          <a:prstGeom prst="ellipse">
            <a:avLst/>
          </a:prstGeom>
          <a:solidFill>
            <a:srgbClr val="FF8300"/>
          </a:solidFill>
          <a:ln>
            <a:noFill/>
          </a:ln>
        </p:spPr>
        <p:txBody>
          <a:bodyPr rtlCol="0" anchor="ctr"/>
          <a:lstStyle/>
          <a:p>
            <a:pPr algn="ctr"/>
          </a:p>
        </p:txBody>
      </p:sp>
      <p:sp>
        <p:nvSpPr>
          <p:cNvPr id="50" name="TextBox 49"/>
          <p:cNvSpPr txBox="1"/>
          <p:nvPr/>
        </p:nvSpPr>
        <p:spPr>
          <a:xfrm>
            <a:off x="7543800" y="342900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3</a:t>
            </a:r>
          </a:p>
        </p:txBody>
      </p:sp>
      <p:sp>
        <p:nvSpPr>
          <p:cNvPr id="51" name="TextBox 50"/>
          <p:cNvSpPr txBox="1"/>
          <p:nvPr/>
        </p:nvSpPr>
        <p:spPr>
          <a:xfrm>
            <a:off x="7981950" y="3429000"/>
            <a:ext cx="3409950" cy="438150"/>
          </a:xfrm>
          <a:prstGeom prst="rect">
            <a:avLst/>
          </a:prstGeom>
          <a:noFill/>
        </p:spPr>
        <p:txBody>
          <a:bodyPr wrap="square" lIns="0" rIns="0" tIns="0" bIns="0" anchor="t">
            <a:noAutofit/>
          </a:bodyPr>
          <a:lstStyle/>
          <a:p>
            <a:pPr algn="l">
              <a:lnSpc>
                <a:spcPts val="1725"/>
              </a:lnSpc>
              <a:spcBef>
                <a:spcPts val="0"/>
              </a:spcBef>
              <a:spcAft>
                <a:spcPts val="0"/>
              </a:spcAft>
            </a:pPr>
            <a:r>
              <a:rPr sz="1200" b="1" i="0">
                <a:solidFill>
                  <a:srgbClr val="0C0C0C"/>
                </a:solidFill>
                <a:latin typeface="Arial"/>
              </a:rPr>
              <a:t>Read the top line first.</a:t>
            </a:r>
            <a:r>
              <a:rPr sz="1200" b="0" i="0">
                <a:solidFill>
                  <a:srgbClr val="2B2B2B"/>
                </a:solidFill>
                <a:latin typeface="Arial"/>
              </a:rPr>
              <a:t> Weather verdict, Lightning banner, Gas status.</a:t>
            </a:r>
          </a:p>
        </p:txBody>
      </p:sp>
      <p:sp>
        <p:nvSpPr>
          <p:cNvPr id="52" name="Oval 51"/>
          <p:cNvSpPr/>
          <p:nvPr/>
        </p:nvSpPr>
        <p:spPr>
          <a:xfrm>
            <a:off x="7581900" y="4038600"/>
            <a:ext cx="266700" cy="266700"/>
          </a:xfrm>
          <a:prstGeom prst="ellipse">
            <a:avLst/>
          </a:prstGeom>
          <a:solidFill>
            <a:srgbClr val="FF8300"/>
          </a:solidFill>
          <a:ln>
            <a:noFill/>
          </a:ln>
        </p:spPr>
        <p:txBody>
          <a:bodyPr rtlCol="0" anchor="ctr"/>
          <a:lstStyle/>
          <a:p>
            <a:pPr algn="ctr"/>
          </a:p>
        </p:txBody>
      </p:sp>
      <p:sp>
        <p:nvSpPr>
          <p:cNvPr id="53" name="TextBox 52"/>
          <p:cNvSpPr txBox="1"/>
          <p:nvPr/>
        </p:nvSpPr>
        <p:spPr>
          <a:xfrm>
            <a:off x="7543800" y="403860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4</a:t>
            </a:r>
          </a:p>
        </p:txBody>
      </p:sp>
      <p:sp>
        <p:nvSpPr>
          <p:cNvPr id="54" name="TextBox 53"/>
          <p:cNvSpPr txBox="1"/>
          <p:nvPr/>
        </p:nvSpPr>
        <p:spPr>
          <a:xfrm>
            <a:off x="7981950" y="4038600"/>
            <a:ext cx="3409950" cy="219075"/>
          </a:xfrm>
          <a:prstGeom prst="rect">
            <a:avLst/>
          </a:prstGeom>
          <a:noFill/>
        </p:spPr>
        <p:txBody>
          <a:bodyPr wrap="square" lIns="0" rIns="0" tIns="0" bIns="0" anchor="t">
            <a:noAutofit/>
          </a:bodyPr>
          <a:lstStyle/>
          <a:p>
            <a:pPr algn="l">
              <a:lnSpc>
                <a:spcPts val="1725"/>
              </a:lnSpc>
              <a:spcBef>
                <a:spcPts val="0"/>
              </a:spcBef>
              <a:spcAft>
                <a:spcPts val="0"/>
              </a:spcAft>
            </a:pPr>
            <a:r>
              <a:rPr sz="1200" b="1" i="0">
                <a:solidFill>
                  <a:srgbClr val="0C0C0C"/>
                </a:solidFill>
                <a:latin typeface="Arial"/>
              </a:rPr>
              <a:t>Ask.</a:t>
            </a:r>
            <a:r>
              <a:rPr sz="1200" b="0" i="0">
                <a:solidFill>
                  <a:srgbClr val="2B2B2B"/>
                </a:solidFill>
                <a:latin typeface="Arial"/>
              </a:rPr>
              <a:t> Questions now, or after.</a:t>
            </a:r>
          </a:p>
        </p:txBody>
      </p:sp>
      <p:sp>
        <p:nvSpPr>
          <p:cNvPr id="55" name="Rounded Rectangle 54"/>
          <p:cNvSpPr/>
          <p:nvPr/>
        </p:nvSpPr>
        <p:spPr>
          <a:xfrm>
            <a:off x="7472362" y="4538662"/>
            <a:ext cx="3952875" cy="1057275"/>
          </a:xfrm>
          <a:prstGeom prst="roundRect">
            <a:avLst>
              <a:gd name="adj" fmla="val 10360"/>
            </a:avLst>
          </a:prstGeom>
          <a:solidFill>
            <a:srgbClr val="FFF1E0"/>
          </a:solidFill>
          <a:ln w="9525">
            <a:solidFill>
              <a:srgbClr val="F3C894"/>
            </a:solidFill>
          </a:ln>
        </p:spPr>
        <p:txBody>
          <a:bodyPr rtlCol="0" anchor="ctr"/>
          <a:lstStyle/>
          <a:p>
            <a:pPr algn="ctr"/>
          </a:p>
        </p:txBody>
      </p:sp>
      <p:sp>
        <p:nvSpPr>
          <p:cNvPr id="56" name="Rounded Rectangle 55"/>
          <p:cNvSpPr/>
          <p:nvPr/>
        </p:nvSpPr>
        <p:spPr>
          <a:xfrm>
            <a:off x="7624762" y="4672012"/>
            <a:ext cx="981075" cy="276225"/>
          </a:xfrm>
          <a:prstGeom prst="roundRect">
            <a:avLst>
              <a:gd name="adj" fmla="val 50000"/>
            </a:avLst>
          </a:prstGeom>
          <a:solidFill>
            <a:srgbClr val="FFFFFF"/>
          </a:solidFill>
          <a:ln w="9525">
            <a:solidFill>
              <a:srgbClr val="B85C00"/>
            </a:solidFill>
          </a:ln>
        </p:spPr>
        <p:txBody>
          <a:bodyPr rtlCol="0" anchor="ctr"/>
          <a:lstStyle/>
          <a:p>
            <a:pPr algn="ctr"/>
          </a:p>
        </p:txBody>
      </p:sp>
      <p:sp>
        <p:nvSpPr>
          <p:cNvPr id="57" name="TextBox 56"/>
          <p:cNvSpPr txBox="1"/>
          <p:nvPr/>
        </p:nvSpPr>
        <p:spPr>
          <a:xfrm>
            <a:off x="7591425" y="4676775"/>
            <a:ext cx="1047750" cy="266700"/>
          </a:xfrm>
          <a:prstGeom prst="rect">
            <a:avLst/>
          </a:prstGeom>
          <a:noFill/>
        </p:spPr>
        <p:txBody>
          <a:bodyPr wrap="none" lIns="0" rIns="0" tIns="0" bIns="0" anchor="t">
            <a:noAutofit/>
          </a:bodyPr>
          <a:lstStyle/>
          <a:p>
            <a:pPr algn="ctr">
              <a:lnSpc>
                <a:spcPts val="2100"/>
              </a:lnSpc>
              <a:spcBef>
                <a:spcPts val="0"/>
              </a:spcBef>
              <a:spcAft>
                <a:spcPts val="0"/>
              </a:spcAft>
            </a:pPr>
            <a:r>
              <a:rPr sz="825" b="1" i="0" spc="75">
                <a:solidFill>
                  <a:srgbClr val="B85C00"/>
                </a:solidFill>
                <a:latin typeface="Arial"/>
              </a:rPr>
              <a:t>CAREFUL</a:t>
            </a:r>
          </a:p>
        </p:txBody>
      </p:sp>
      <p:sp>
        <p:nvSpPr>
          <p:cNvPr id="58" name="TextBox 57"/>
          <p:cNvSpPr txBox="1"/>
          <p:nvPr/>
        </p:nvSpPr>
        <p:spPr>
          <a:xfrm>
            <a:off x="7620000" y="5048250"/>
            <a:ext cx="3733800" cy="457200"/>
          </a:xfrm>
          <a:prstGeom prst="rect">
            <a:avLst/>
          </a:prstGeom>
          <a:noFill/>
        </p:spPr>
        <p:txBody>
          <a:bodyPr wrap="square" lIns="0" rIns="0" tIns="0" bIns="0" anchor="t">
            <a:noAutofit/>
          </a:bodyPr>
          <a:lstStyle/>
          <a:p>
            <a:pPr algn="l">
              <a:lnSpc>
                <a:spcPts val="1800"/>
              </a:lnSpc>
              <a:spcBef>
                <a:spcPts val="0"/>
              </a:spcBef>
              <a:spcAft>
                <a:spcPts val="0"/>
              </a:spcAft>
            </a:pPr>
            <a:r>
              <a:rPr sz="1200" b="0" i="0">
                <a:solidFill>
                  <a:srgbClr val="2B2B2B"/>
                </a:solidFill>
                <a:latin typeface="Arial"/>
              </a:rPr>
              <a:t>Look, do not switch. Enabling a product or changing a policy changes a real project.</a:t>
            </a:r>
          </a:p>
        </p:txBody>
      </p:sp>
      <p:sp>
        <p:nvSpPr>
          <p:cNvPr id="59" name="TextBox 58"/>
          <p:cNvSpPr txBox="1"/>
          <p:nvPr/>
        </p:nvSpPr>
        <p:spPr>
          <a:xfrm>
            <a:off x="609600" y="5943600"/>
            <a:ext cx="1104900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All five videos show live production screens, read only.</a:t>
            </a:r>
          </a:p>
        </p:txBody>
      </p:sp>
      <p:sp>
        <p:nvSpPr>
          <p:cNvPr id="60" name="TextBox 59"/>
          <p:cNvSpPr txBox="1"/>
          <p:nvPr/>
        </p:nvSpPr>
        <p:spPr>
          <a:xfrm>
            <a:off x="609600" y="6496050"/>
            <a:ext cx="5791200" cy="152400"/>
          </a:xfrm>
          <a:prstGeom prst="rect">
            <a:avLst/>
          </a:prstGeom>
          <a:noFill/>
        </p:spPr>
        <p:txBody>
          <a:bodyPr wrap="square" lIns="0" rIns="0" tIns="0" bIns="0" anchor="t">
            <a:noAutofit/>
          </a:bodyPr>
          <a:lstStyle/>
          <a:p>
            <a:pPr algn="l">
              <a:lnSpc>
                <a:spcPts val="1200"/>
              </a:lnSpc>
              <a:spcBef>
                <a:spcPts val="0"/>
              </a:spcBef>
              <a:spcAft>
                <a:spcPts val="0"/>
              </a:spcAft>
            </a:pPr>
            <a:r>
              <a:rPr sz="900" b="0" i="0">
                <a:solidFill>
                  <a:srgbClr val="6B6B6B"/>
                </a:solidFill>
                <a:latin typeface="Arial"/>
              </a:rPr>
              <a:t>Connected Environment 1.0 · Internal</a:t>
            </a:r>
          </a:p>
        </p:txBody>
      </p:sp>
      <p:sp>
        <p:nvSpPr>
          <p:cNvPr id="61" name="TextBox 60"/>
          <p:cNvSpPr txBox="1"/>
          <p:nvPr/>
        </p:nvSpPr>
        <p:spPr>
          <a:xfrm>
            <a:off x="10553700" y="6496050"/>
            <a:ext cx="1028700" cy="152400"/>
          </a:xfrm>
          <a:prstGeom prst="rect">
            <a:avLst/>
          </a:prstGeom>
          <a:noFill/>
        </p:spPr>
        <p:txBody>
          <a:bodyPr wrap="square" lIns="0" rIns="0" tIns="0" bIns="0" anchor="t">
            <a:noAutofit/>
          </a:bodyPr>
          <a:lstStyle/>
          <a:p>
            <a:pPr algn="r">
              <a:lnSpc>
                <a:spcPts val="1200"/>
              </a:lnSpc>
              <a:spcBef>
                <a:spcPts val="0"/>
              </a:spcBef>
              <a:spcAft>
                <a:spcPts val="0"/>
              </a:spcAft>
            </a:pPr>
            <a:r>
              <a:rPr sz="900" b="0" i="0">
                <a:solidFill>
                  <a:srgbClr val="6B6B6B"/>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itle 1"/>
          <p:cNvSpPr>
            <a:spLocks noGrp="1"/>
          </p:cNvSpPr>
          <p:nvPr>
            <p:ph type="title"/>
          </p:nvPr>
        </p:nvSpPr>
        <p:spPr>
          <a:xfrm>
            <a:off x="609600" y="876300"/>
            <a:ext cx="11049000" cy="419100"/>
          </a:xfrm>
        </p:spPr>
        <p:txBody>
          <a:bodyPr wrap="square" lIns="0" rIns="0" tIns="0" bIns="0" anchor="t">
            <a:noAutofit/>
          </a:bodyPr>
          <a:lstStyle/>
          <a:p>
            <a:pPr algn="l">
              <a:lnSpc>
                <a:spcPts val="3300"/>
              </a:lnSpc>
              <a:spcBef>
                <a:spcPts val="0"/>
              </a:spcBef>
              <a:spcAft>
                <a:spcPts val="0"/>
              </a:spcAft>
            </a:pPr>
            <a:r>
              <a:rPr sz="2850" b="1" i="0">
                <a:solidFill>
                  <a:srgbClr val="0C0C0C"/>
                </a:solidFill>
                <a:latin typeface="Arial"/>
              </a:rPr>
              <a:t>How products are enabled and configured</a:t>
            </a:r>
          </a:p>
        </p:txBody>
      </p:sp>
      <p:sp>
        <p:nvSpPr>
          <p:cNvPr id="3" name="Rectangle 2"/>
          <p:cNvSpPr/>
          <p:nvPr/>
        </p:nvSpPr>
        <p:spPr>
          <a:xfrm>
            <a:off x="609600" y="495300"/>
            <a:ext cx="381000" cy="47625"/>
          </a:xfrm>
          <a:prstGeom prst="rect">
            <a:avLst/>
          </a:prstGeom>
          <a:solidFill>
            <a:srgbClr val="FF8300"/>
          </a:solidFill>
          <a:ln>
            <a:noFill/>
          </a:ln>
        </p:spPr>
        <p:txBody>
          <a:bodyPr rtlCol="0" anchor="ctr"/>
          <a:lstStyle/>
          <a:p>
            <a:pPr algn="ctr"/>
          </a:p>
        </p:txBody>
      </p:sp>
      <p:sp>
        <p:nvSpPr>
          <p:cNvPr id="4" name="TextBox 3"/>
          <p:cNvSpPr txBox="1"/>
          <p:nvPr/>
        </p:nvSpPr>
        <p:spPr>
          <a:xfrm>
            <a:off x="609600" y="647700"/>
            <a:ext cx="96012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APPENDIX · SETUP</a:t>
            </a:r>
          </a:p>
        </p:txBody>
      </p:sp>
      <p:sp>
        <p:nvSpPr>
          <p:cNvPr id="5" name="Rounded Rectangle 4"/>
          <p:cNvSpPr/>
          <p:nvPr/>
        </p:nvSpPr>
        <p:spPr>
          <a:xfrm>
            <a:off x="614362" y="1681162"/>
            <a:ext cx="2581275" cy="3609975"/>
          </a:xfrm>
          <a:prstGeom prst="roundRect">
            <a:avLst>
              <a:gd name="adj" fmla="val 4243"/>
            </a:avLst>
          </a:prstGeom>
          <a:solidFill>
            <a:srgbClr val="FFFFFF"/>
          </a:solidFill>
          <a:ln w="9525">
            <a:solidFill>
              <a:srgbClr val="DCDCD7"/>
            </a:solidFill>
          </a:ln>
        </p:spPr>
        <p:txBody>
          <a:bodyPr rtlCol="0" anchor="ctr"/>
          <a:lstStyle/>
          <a:p>
            <a:pPr algn="ctr"/>
          </a:p>
        </p:txBody>
      </p:sp>
      <p:sp>
        <p:nvSpPr>
          <p:cNvPr id="6" name="Oval 5"/>
          <p:cNvSpPr/>
          <p:nvPr/>
        </p:nvSpPr>
        <p:spPr>
          <a:xfrm>
            <a:off x="781050" y="1847850"/>
            <a:ext cx="266700" cy="266700"/>
          </a:xfrm>
          <a:prstGeom prst="ellipse">
            <a:avLst/>
          </a:prstGeom>
          <a:solidFill>
            <a:srgbClr val="FF8300"/>
          </a:solidFill>
          <a:ln>
            <a:noFill/>
          </a:ln>
        </p:spPr>
        <p:txBody>
          <a:bodyPr rtlCol="0" anchor="ctr"/>
          <a:lstStyle/>
          <a:p>
            <a:pPr algn="ctr"/>
          </a:p>
        </p:txBody>
      </p:sp>
      <p:sp>
        <p:nvSpPr>
          <p:cNvPr id="7" name="TextBox 6"/>
          <p:cNvSpPr txBox="1"/>
          <p:nvPr/>
        </p:nvSpPr>
        <p:spPr>
          <a:xfrm>
            <a:off x="742950" y="184785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1</a:t>
            </a:r>
          </a:p>
        </p:txBody>
      </p:sp>
      <p:sp>
        <p:nvSpPr>
          <p:cNvPr id="8" name="TextBox 7"/>
          <p:cNvSpPr txBox="1"/>
          <p:nvPr/>
        </p:nvSpPr>
        <p:spPr>
          <a:xfrm>
            <a:off x="1143000" y="1847850"/>
            <a:ext cx="1981200" cy="228600"/>
          </a:xfrm>
          <a:prstGeom prst="rect">
            <a:avLst/>
          </a:prstGeom>
          <a:noFill/>
        </p:spPr>
        <p:txBody>
          <a:bodyPr wrap="square" lIns="0" rIns="0" tIns="0" bIns="0" anchor="t">
            <a:noAutofit/>
          </a:bodyPr>
          <a:lstStyle/>
          <a:p>
            <a:pPr algn="l">
              <a:lnSpc>
                <a:spcPts val="1800"/>
              </a:lnSpc>
              <a:spcBef>
                <a:spcPts val="0"/>
              </a:spcBef>
              <a:spcAft>
                <a:spcPts val="0"/>
              </a:spcAft>
            </a:pPr>
            <a:r>
              <a:rPr sz="1350" b="1" i="0">
                <a:solidFill>
                  <a:srgbClr val="0C0C0C"/>
                </a:solidFill>
                <a:latin typeface="Arial"/>
              </a:rPr>
              <a:t>Choose what to feature</a:t>
            </a:r>
          </a:p>
        </p:txBody>
      </p:sp>
      <p:sp>
        <p:nvSpPr>
          <p:cNvPr id="9" name="TextBox 8"/>
          <p:cNvSpPr txBox="1"/>
          <p:nvPr/>
        </p:nvSpPr>
        <p:spPr>
          <a:xfrm>
            <a:off x="781050" y="2400300"/>
            <a:ext cx="2362200" cy="142875"/>
          </a:xfrm>
          <a:prstGeom prst="rect">
            <a:avLst/>
          </a:prstGeom>
          <a:noFill/>
        </p:spPr>
        <p:txBody>
          <a:bodyPr wrap="square" lIns="0" rIns="0" tIns="0" bIns="0" anchor="t">
            <a:noAutofit/>
          </a:bodyPr>
          <a:lstStyle/>
          <a:p>
            <a:pPr algn="l">
              <a:lnSpc>
                <a:spcPts val="1125"/>
              </a:lnSpc>
              <a:spcBef>
                <a:spcPts val="0"/>
              </a:spcBef>
              <a:spcAft>
                <a:spcPts val="0"/>
              </a:spcAft>
            </a:pPr>
            <a:r>
              <a:rPr sz="825" b="1" i="0" spc="38">
                <a:solidFill>
                  <a:srgbClr val="B85C00"/>
                </a:solidFill>
                <a:latin typeface="Arial"/>
              </a:rPr>
              <a:t>WEATHER STATION PAGE, GEAR</a:t>
            </a:r>
          </a:p>
        </p:txBody>
      </p:sp>
      <p:pic>
        <p:nvPicPr>
          <p:cNvPr id="10" name="Picture 9" descr="ws-gear-thumb.png"/>
          <p:cNvPicPr>
            <a:picLocks noChangeAspect="1"/>
          </p:cNvPicPr>
          <p:nvPr/>
        </p:nvPicPr>
        <p:blipFill>
          <a:blip r:embed="rId2"/>
          <a:stretch>
            <a:fillRect/>
          </a:stretch>
        </p:blipFill>
        <p:spPr>
          <a:xfrm>
            <a:off x="790575" y="2771775"/>
            <a:ext cx="2228850" cy="1228725"/>
          </a:xfrm>
          <a:prstGeom prst="rect">
            <a:avLst/>
          </a:prstGeom>
        </p:spPr>
      </p:pic>
      <p:sp>
        <p:nvSpPr>
          <p:cNvPr id="11" name="Rectangle 10"/>
          <p:cNvSpPr/>
          <p:nvPr/>
        </p:nvSpPr>
        <p:spPr>
          <a:xfrm>
            <a:off x="785812" y="2767012"/>
            <a:ext cx="2238375" cy="1238250"/>
          </a:xfrm>
          <a:prstGeom prst="rect">
            <a:avLst/>
          </a:prstGeom>
          <a:noFill/>
          <a:ln w="9525">
            <a:solidFill>
              <a:srgbClr val="C9C9C4"/>
            </a:solidFill>
          </a:ln>
        </p:spPr>
        <p:txBody>
          <a:bodyPr rtlCol="0" anchor="ctr"/>
          <a:lstStyle/>
          <a:p>
            <a:pPr algn="ctr"/>
          </a:p>
        </p:txBody>
      </p:sp>
      <p:sp>
        <p:nvSpPr>
          <p:cNvPr id="12" name="Oval 11"/>
          <p:cNvSpPr/>
          <p:nvPr/>
        </p:nvSpPr>
        <p:spPr>
          <a:xfrm>
            <a:off x="781050" y="4257675"/>
            <a:ext cx="95250" cy="95250"/>
          </a:xfrm>
          <a:prstGeom prst="ellipse">
            <a:avLst/>
          </a:prstGeom>
          <a:solidFill>
            <a:srgbClr val="FF8300"/>
          </a:solidFill>
          <a:ln>
            <a:noFill/>
          </a:ln>
        </p:spPr>
        <p:txBody>
          <a:bodyPr rtlCol="0" anchor="ctr"/>
          <a:lstStyle/>
          <a:p>
            <a:pPr algn="ctr"/>
          </a:p>
        </p:txBody>
      </p:sp>
      <p:sp>
        <p:nvSpPr>
          <p:cNvPr id="13" name="TextBox 12"/>
          <p:cNvSpPr txBox="1"/>
          <p:nvPr/>
        </p:nvSpPr>
        <p:spPr>
          <a:xfrm>
            <a:off x="1009650" y="4171950"/>
            <a:ext cx="2095500" cy="361950"/>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Select parameters: one switch per reading.</a:t>
            </a:r>
          </a:p>
        </p:txBody>
      </p:sp>
      <p:sp>
        <p:nvSpPr>
          <p:cNvPr id="14" name="Oval 13"/>
          <p:cNvSpPr/>
          <p:nvPr/>
        </p:nvSpPr>
        <p:spPr>
          <a:xfrm>
            <a:off x="781050" y="4695825"/>
            <a:ext cx="95250" cy="95250"/>
          </a:xfrm>
          <a:prstGeom prst="ellipse">
            <a:avLst/>
          </a:prstGeom>
          <a:solidFill>
            <a:srgbClr val="FF8300"/>
          </a:solidFill>
          <a:ln>
            <a:noFill/>
          </a:ln>
        </p:spPr>
        <p:txBody>
          <a:bodyPr rtlCol="0" anchor="ctr"/>
          <a:lstStyle/>
          <a:p>
            <a:pPr algn="ctr"/>
          </a:p>
        </p:txBody>
      </p:sp>
      <p:sp>
        <p:nvSpPr>
          <p:cNvPr id="15" name="TextBox 14"/>
          <p:cNvSpPr txBox="1"/>
          <p:nvPr/>
        </p:nvSpPr>
        <p:spPr>
          <a:xfrm>
            <a:off x="1009650" y="4610100"/>
            <a:ext cx="2095500" cy="361950"/>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Each card can also move or leave the area.</a:t>
            </a:r>
          </a:p>
        </p:txBody>
      </p:sp>
      <p:sp>
        <p:nvSpPr>
          <p:cNvPr id="16" name="Rounded Rectangle 15"/>
          <p:cNvSpPr/>
          <p:nvPr/>
        </p:nvSpPr>
        <p:spPr>
          <a:xfrm>
            <a:off x="3395662" y="1681162"/>
            <a:ext cx="2581275" cy="3609975"/>
          </a:xfrm>
          <a:prstGeom prst="roundRect">
            <a:avLst>
              <a:gd name="adj" fmla="val 4243"/>
            </a:avLst>
          </a:prstGeom>
          <a:solidFill>
            <a:srgbClr val="FFFFFF"/>
          </a:solidFill>
          <a:ln w="9525">
            <a:solidFill>
              <a:srgbClr val="DCDCD7"/>
            </a:solidFill>
          </a:ln>
        </p:spPr>
        <p:txBody>
          <a:bodyPr rtlCol="0" anchor="ctr"/>
          <a:lstStyle/>
          <a:p>
            <a:pPr algn="ctr"/>
          </a:p>
        </p:txBody>
      </p:sp>
      <p:sp>
        <p:nvSpPr>
          <p:cNvPr id="17" name="Oval 16"/>
          <p:cNvSpPr/>
          <p:nvPr/>
        </p:nvSpPr>
        <p:spPr>
          <a:xfrm>
            <a:off x="3562350" y="1847850"/>
            <a:ext cx="266700" cy="266700"/>
          </a:xfrm>
          <a:prstGeom prst="ellipse">
            <a:avLst/>
          </a:prstGeom>
          <a:solidFill>
            <a:srgbClr val="FF8300"/>
          </a:solidFill>
          <a:ln>
            <a:noFill/>
          </a:ln>
        </p:spPr>
        <p:txBody>
          <a:bodyPr rtlCol="0" anchor="ctr"/>
          <a:lstStyle/>
          <a:p>
            <a:pPr algn="ctr"/>
          </a:p>
        </p:txBody>
      </p:sp>
      <p:sp>
        <p:nvSpPr>
          <p:cNvPr id="18" name="TextBox 17"/>
          <p:cNvSpPr txBox="1"/>
          <p:nvPr/>
        </p:nvSpPr>
        <p:spPr>
          <a:xfrm>
            <a:off x="3524250" y="184785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2</a:t>
            </a:r>
          </a:p>
        </p:txBody>
      </p:sp>
      <p:sp>
        <p:nvSpPr>
          <p:cNvPr id="19" name="TextBox 18"/>
          <p:cNvSpPr txBox="1"/>
          <p:nvPr/>
        </p:nvSpPr>
        <p:spPr>
          <a:xfrm>
            <a:off x="3924300" y="1847850"/>
            <a:ext cx="1981200" cy="228600"/>
          </a:xfrm>
          <a:prstGeom prst="rect">
            <a:avLst/>
          </a:prstGeom>
          <a:noFill/>
        </p:spPr>
        <p:txBody>
          <a:bodyPr wrap="square" lIns="0" rIns="0" tIns="0" bIns="0" anchor="t">
            <a:noAutofit/>
          </a:bodyPr>
          <a:lstStyle/>
          <a:p>
            <a:pPr algn="l">
              <a:lnSpc>
                <a:spcPts val="1800"/>
              </a:lnSpc>
              <a:spcBef>
                <a:spcPts val="0"/>
              </a:spcBef>
              <a:spcAft>
                <a:spcPts val="0"/>
              </a:spcAft>
            </a:pPr>
            <a:r>
              <a:rPr sz="1350" b="1" i="0">
                <a:solidFill>
                  <a:srgbClr val="0C0C0C"/>
                </a:solidFill>
                <a:latin typeface="Arial"/>
              </a:rPr>
              <a:t>Enable products</a:t>
            </a:r>
          </a:p>
        </p:txBody>
      </p:sp>
      <p:sp>
        <p:nvSpPr>
          <p:cNvPr id="20" name="TextBox 19"/>
          <p:cNvSpPr txBox="1"/>
          <p:nvPr/>
        </p:nvSpPr>
        <p:spPr>
          <a:xfrm>
            <a:off x="3562350" y="2400300"/>
            <a:ext cx="2362200" cy="142875"/>
          </a:xfrm>
          <a:prstGeom prst="rect">
            <a:avLst/>
          </a:prstGeom>
          <a:noFill/>
        </p:spPr>
        <p:txBody>
          <a:bodyPr wrap="square" lIns="0" rIns="0" tIns="0" bIns="0" anchor="t">
            <a:noAutofit/>
          </a:bodyPr>
          <a:lstStyle/>
          <a:p>
            <a:pPr algn="l">
              <a:lnSpc>
                <a:spcPts val="1125"/>
              </a:lnSpc>
              <a:spcBef>
                <a:spcPts val="0"/>
              </a:spcBef>
              <a:spcAft>
                <a:spcPts val="0"/>
              </a:spcAft>
            </a:pPr>
            <a:r>
              <a:rPr sz="825" b="1" i="0" spc="38">
                <a:solidFill>
                  <a:srgbClr val="B85C00"/>
                </a:solidFill>
                <a:latin typeface="Arial"/>
              </a:rPr>
              <a:t>SETTINGS, CONNECTED PRODUCTS</a:t>
            </a:r>
          </a:p>
        </p:txBody>
      </p:sp>
      <p:sp>
        <p:nvSpPr>
          <p:cNvPr id="21" name="TextBox 20"/>
          <p:cNvSpPr txBox="1"/>
          <p:nvPr/>
        </p:nvSpPr>
        <p:spPr>
          <a:xfrm>
            <a:off x="3619500" y="2847975"/>
            <a:ext cx="131445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2B2B2B"/>
                </a:solidFill>
                <a:latin typeface="Arial"/>
              </a:rPr>
              <a:t>Weather Station</a:t>
            </a:r>
          </a:p>
        </p:txBody>
      </p:sp>
      <p:sp>
        <p:nvSpPr>
          <p:cNvPr id="22" name="Rounded Rectangle 21"/>
          <p:cNvSpPr/>
          <p:nvPr/>
        </p:nvSpPr>
        <p:spPr>
          <a:xfrm>
            <a:off x="5257800" y="2819400"/>
            <a:ext cx="381000" cy="209550"/>
          </a:xfrm>
          <a:prstGeom prst="roundRect">
            <a:avLst>
              <a:gd name="adj" fmla="val 50000"/>
            </a:avLst>
          </a:prstGeom>
          <a:solidFill>
            <a:srgbClr val="1F3A8A"/>
          </a:solidFill>
          <a:ln>
            <a:noFill/>
          </a:ln>
        </p:spPr>
        <p:txBody>
          <a:bodyPr rtlCol="0" anchor="ctr"/>
          <a:lstStyle/>
          <a:p>
            <a:pPr algn="ctr"/>
          </a:p>
        </p:txBody>
      </p:sp>
      <p:sp>
        <p:nvSpPr>
          <p:cNvPr id="23" name="Oval 22"/>
          <p:cNvSpPr/>
          <p:nvPr/>
        </p:nvSpPr>
        <p:spPr>
          <a:xfrm>
            <a:off x="5448300" y="2838450"/>
            <a:ext cx="171450" cy="171450"/>
          </a:xfrm>
          <a:prstGeom prst="ellipse">
            <a:avLst/>
          </a:prstGeom>
          <a:solidFill>
            <a:srgbClr val="FFFFFF"/>
          </a:solidFill>
          <a:ln>
            <a:noFill/>
          </a:ln>
        </p:spPr>
        <p:txBody>
          <a:bodyPr rtlCol="0" anchor="ctr"/>
          <a:lstStyle/>
          <a:p>
            <a:pPr algn="ctr"/>
          </a:p>
        </p:txBody>
      </p:sp>
      <p:sp>
        <p:nvSpPr>
          <p:cNvPr id="24" name="TextBox 23"/>
          <p:cNvSpPr txBox="1"/>
          <p:nvPr/>
        </p:nvSpPr>
        <p:spPr>
          <a:xfrm>
            <a:off x="3619500" y="3228975"/>
            <a:ext cx="131445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2B2B2B"/>
                </a:solidFill>
                <a:latin typeface="Arial"/>
              </a:rPr>
              <a:t>Gas</a:t>
            </a:r>
          </a:p>
        </p:txBody>
      </p:sp>
      <p:sp>
        <p:nvSpPr>
          <p:cNvPr id="25" name="Rounded Rectangle 24"/>
          <p:cNvSpPr/>
          <p:nvPr/>
        </p:nvSpPr>
        <p:spPr>
          <a:xfrm>
            <a:off x="5257800" y="3200400"/>
            <a:ext cx="381000" cy="209550"/>
          </a:xfrm>
          <a:prstGeom prst="roundRect">
            <a:avLst>
              <a:gd name="adj" fmla="val 50000"/>
            </a:avLst>
          </a:prstGeom>
          <a:solidFill>
            <a:srgbClr val="C9C9C4"/>
          </a:solidFill>
          <a:ln>
            <a:noFill/>
          </a:ln>
        </p:spPr>
        <p:txBody>
          <a:bodyPr rtlCol="0" anchor="ctr"/>
          <a:lstStyle/>
          <a:p>
            <a:pPr algn="ctr"/>
          </a:p>
        </p:txBody>
      </p:sp>
      <p:sp>
        <p:nvSpPr>
          <p:cNvPr id="26" name="Oval 25"/>
          <p:cNvSpPr/>
          <p:nvPr/>
        </p:nvSpPr>
        <p:spPr>
          <a:xfrm>
            <a:off x="5276850" y="3219450"/>
            <a:ext cx="171450" cy="171450"/>
          </a:xfrm>
          <a:prstGeom prst="ellipse">
            <a:avLst/>
          </a:prstGeom>
          <a:solidFill>
            <a:srgbClr val="FFFFFF"/>
          </a:solidFill>
          <a:ln>
            <a:noFill/>
          </a:ln>
        </p:spPr>
        <p:txBody>
          <a:bodyPr rtlCol="0" anchor="ctr"/>
          <a:lstStyle/>
          <a:p>
            <a:pPr algn="ctr"/>
          </a:p>
        </p:txBody>
      </p:sp>
      <p:sp>
        <p:nvSpPr>
          <p:cNvPr id="27" name="TextBox 26"/>
          <p:cNvSpPr txBox="1"/>
          <p:nvPr/>
        </p:nvSpPr>
        <p:spPr>
          <a:xfrm>
            <a:off x="3619500" y="3609975"/>
            <a:ext cx="131445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2B2B2B"/>
                </a:solidFill>
                <a:latin typeface="Arial"/>
              </a:rPr>
              <a:t>Lightning</a:t>
            </a:r>
          </a:p>
        </p:txBody>
      </p:sp>
      <p:sp>
        <p:nvSpPr>
          <p:cNvPr id="28" name="Rounded Rectangle 27"/>
          <p:cNvSpPr/>
          <p:nvPr/>
        </p:nvSpPr>
        <p:spPr>
          <a:xfrm>
            <a:off x="5257800" y="3581400"/>
            <a:ext cx="381000" cy="209550"/>
          </a:xfrm>
          <a:prstGeom prst="roundRect">
            <a:avLst>
              <a:gd name="adj" fmla="val 50000"/>
            </a:avLst>
          </a:prstGeom>
          <a:solidFill>
            <a:srgbClr val="C9C9C4"/>
          </a:solidFill>
          <a:ln>
            <a:noFill/>
          </a:ln>
        </p:spPr>
        <p:txBody>
          <a:bodyPr rtlCol="0" anchor="ctr"/>
          <a:lstStyle/>
          <a:p>
            <a:pPr algn="ctr"/>
          </a:p>
        </p:txBody>
      </p:sp>
      <p:sp>
        <p:nvSpPr>
          <p:cNvPr id="29" name="Oval 28"/>
          <p:cNvSpPr/>
          <p:nvPr/>
        </p:nvSpPr>
        <p:spPr>
          <a:xfrm>
            <a:off x="5276850" y="3600450"/>
            <a:ext cx="171450" cy="171450"/>
          </a:xfrm>
          <a:prstGeom prst="ellipse">
            <a:avLst/>
          </a:prstGeom>
          <a:solidFill>
            <a:srgbClr val="FFFFFF"/>
          </a:solidFill>
          <a:ln>
            <a:noFill/>
          </a:ln>
        </p:spPr>
        <p:txBody>
          <a:bodyPr rtlCol="0" anchor="ctr"/>
          <a:lstStyle/>
          <a:p>
            <a:pPr algn="ctr"/>
          </a:p>
        </p:txBody>
      </p:sp>
      <p:sp>
        <p:nvSpPr>
          <p:cNvPr id="30" name="Oval 29"/>
          <p:cNvSpPr/>
          <p:nvPr/>
        </p:nvSpPr>
        <p:spPr>
          <a:xfrm>
            <a:off x="3562350" y="4257675"/>
            <a:ext cx="95250" cy="95250"/>
          </a:xfrm>
          <a:prstGeom prst="ellipse">
            <a:avLst/>
          </a:prstGeom>
          <a:solidFill>
            <a:srgbClr val="FF8300"/>
          </a:solidFill>
          <a:ln>
            <a:noFill/>
          </a:ln>
        </p:spPr>
        <p:txBody>
          <a:bodyPr rtlCol="0" anchor="ctr"/>
          <a:lstStyle/>
          <a:p>
            <a:pPr algn="ctr"/>
          </a:p>
        </p:txBody>
      </p:sp>
      <p:sp>
        <p:nvSpPr>
          <p:cNvPr id="31" name="TextBox 30"/>
          <p:cNvSpPr txBox="1"/>
          <p:nvPr/>
        </p:nvSpPr>
        <p:spPr>
          <a:xfrm>
            <a:off x="3790950" y="4171950"/>
            <a:ext cx="2095500" cy="361950"/>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One Active or Inactive switch per product.</a:t>
            </a:r>
          </a:p>
        </p:txBody>
      </p:sp>
      <p:sp>
        <p:nvSpPr>
          <p:cNvPr id="32" name="Oval 31"/>
          <p:cNvSpPr/>
          <p:nvPr/>
        </p:nvSpPr>
        <p:spPr>
          <a:xfrm>
            <a:off x="3562350" y="4695825"/>
            <a:ext cx="95250" cy="95250"/>
          </a:xfrm>
          <a:prstGeom prst="ellipse">
            <a:avLst/>
          </a:prstGeom>
          <a:solidFill>
            <a:srgbClr val="FF8300"/>
          </a:solidFill>
          <a:ln>
            <a:noFill/>
          </a:ln>
        </p:spPr>
        <p:txBody>
          <a:bodyPr rtlCol="0" anchor="ctr"/>
          <a:lstStyle/>
          <a:p>
            <a:pPr algn="ctr"/>
          </a:p>
        </p:txBody>
      </p:sp>
      <p:sp>
        <p:nvSpPr>
          <p:cNvPr id="33" name="TextBox 32"/>
          <p:cNvSpPr txBox="1"/>
          <p:nvPr/>
        </p:nvSpPr>
        <p:spPr>
          <a:xfrm>
            <a:off x="3790950" y="4610100"/>
            <a:ext cx="2095500" cy="18097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Changes a real project.</a:t>
            </a:r>
          </a:p>
        </p:txBody>
      </p:sp>
      <p:sp>
        <p:nvSpPr>
          <p:cNvPr id="34" name="Rounded Rectangle 33"/>
          <p:cNvSpPr/>
          <p:nvPr/>
        </p:nvSpPr>
        <p:spPr>
          <a:xfrm>
            <a:off x="6176962" y="1681162"/>
            <a:ext cx="2581275" cy="3609975"/>
          </a:xfrm>
          <a:prstGeom prst="roundRect">
            <a:avLst>
              <a:gd name="adj" fmla="val 4243"/>
            </a:avLst>
          </a:prstGeom>
          <a:solidFill>
            <a:srgbClr val="FFFFFF"/>
          </a:solidFill>
          <a:ln w="9525">
            <a:solidFill>
              <a:srgbClr val="DCDCD7"/>
            </a:solidFill>
          </a:ln>
        </p:spPr>
        <p:txBody>
          <a:bodyPr rtlCol="0" anchor="ctr"/>
          <a:lstStyle/>
          <a:p>
            <a:pPr algn="ctr"/>
          </a:p>
        </p:txBody>
      </p:sp>
      <p:sp>
        <p:nvSpPr>
          <p:cNvPr id="35" name="Oval 34"/>
          <p:cNvSpPr/>
          <p:nvPr/>
        </p:nvSpPr>
        <p:spPr>
          <a:xfrm>
            <a:off x="6343650" y="1847850"/>
            <a:ext cx="266700" cy="266700"/>
          </a:xfrm>
          <a:prstGeom prst="ellipse">
            <a:avLst/>
          </a:prstGeom>
          <a:solidFill>
            <a:srgbClr val="FF8300"/>
          </a:solidFill>
          <a:ln>
            <a:noFill/>
          </a:ln>
        </p:spPr>
        <p:txBody>
          <a:bodyPr rtlCol="0" anchor="ctr"/>
          <a:lstStyle/>
          <a:p>
            <a:pPr algn="ctr"/>
          </a:p>
        </p:txBody>
      </p:sp>
      <p:sp>
        <p:nvSpPr>
          <p:cNvPr id="36" name="TextBox 35"/>
          <p:cNvSpPr txBox="1"/>
          <p:nvPr/>
        </p:nvSpPr>
        <p:spPr>
          <a:xfrm>
            <a:off x="6305550" y="184785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3</a:t>
            </a:r>
          </a:p>
        </p:txBody>
      </p:sp>
      <p:sp>
        <p:nvSpPr>
          <p:cNvPr id="37" name="TextBox 36"/>
          <p:cNvSpPr txBox="1"/>
          <p:nvPr/>
        </p:nvSpPr>
        <p:spPr>
          <a:xfrm>
            <a:off x="6705600" y="1847850"/>
            <a:ext cx="1981200" cy="457200"/>
          </a:xfrm>
          <a:prstGeom prst="rect">
            <a:avLst/>
          </a:prstGeom>
          <a:noFill/>
        </p:spPr>
        <p:txBody>
          <a:bodyPr wrap="square" lIns="0" rIns="0" tIns="0" bIns="0" anchor="t">
            <a:noAutofit/>
          </a:bodyPr>
          <a:lstStyle/>
          <a:p>
            <a:pPr algn="l">
              <a:lnSpc>
                <a:spcPts val="1800"/>
              </a:lnSpc>
              <a:spcBef>
                <a:spcPts val="0"/>
              </a:spcBef>
              <a:spcAft>
                <a:spcPts val="0"/>
              </a:spcAft>
            </a:pPr>
            <a:r>
              <a:rPr sz="1350" b="1" i="0">
                <a:solidFill>
                  <a:srgbClr val="0C0C0C"/>
                </a:solidFill>
                <a:latin typeface="Arial"/>
              </a:rPr>
              <a:t>Configure Weather Station</a:t>
            </a:r>
          </a:p>
        </p:txBody>
      </p:sp>
      <p:sp>
        <p:nvSpPr>
          <p:cNvPr id="38" name="TextBox 37"/>
          <p:cNvSpPr txBox="1"/>
          <p:nvPr/>
        </p:nvSpPr>
        <p:spPr>
          <a:xfrm>
            <a:off x="6343650" y="2400300"/>
            <a:ext cx="2362200" cy="142875"/>
          </a:xfrm>
          <a:prstGeom prst="rect">
            <a:avLst/>
          </a:prstGeom>
          <a:noFill/>
        </p:spPr>
        <p:txBody>
          <a:bodyPr wrap="square" lIns="0" rIns="0" tIns="0" bIns="0" anchor="t">
            <a:noAutofit/>
          </a:bodyPr>
          <a:lstStyle/>
          <a:p>
            <a:pPr algn="l">
              <a:lnSpc>
                <a:spcPts val="1125"/>
              </a:lnSpc>
              <a:spcBef>
                <a:spcPts val="0"/>
              </a:spcBef>
              <a:spcAft>
                <a:spcPts val="0"/>
              </a:spcAft>
            </a:pPr>
            <a:r>
              <a:rPr sz="825" b="1" i="0" spc="38">
                <a:solidFill>
                  <a:srgbClr val="B85C00"/>
                </a:solidFill>
                <a:latin typeface="Arial"/>
              </a:rPr>
              <a:t>SETTINGS, WEATHER STATION</a:t>
            </a:r>
          </a:p>
        </p:txBody>
      </p:sp>
      <p:pic>
        <p:nvPicPr>
          <p:cNvPr id="39" name="Picture 38" descr="ws-limits-thumb.png"/>
          <p:cNvPicPr>
            <a:picLocks noChangeAspect="1"/>
          </p:cNvPicPr>
          <p:nvPr/>
        </p:nvPicPr>
        <p:blipFill>
          <a:blip r:embed="rId3"/>
          <a:stretch>
            <a:fillRect/>
          </a:stretch>
        </p:blipFill>
        <p:spPr>
          <a:xfrm>
            <a:off x="6353175" y="2781300"/>
            <a:ext cx="2228850" cy="1219200"/>
          </a:xfrm>
          <a:prstGeom prst="rect">
            <a:avLst/>
          </a:prstGeom>
        </p:spPr>
      </p:pic>
      <p:sp>
        <p:nvSpPr>
          <p:cNvPr id="40" name="Rectangle 39"/>
          <p:cNvSpPr/>
          <p:nvPr/>
        </p:nvSpPr>
        <p:spPr>
          <a:xfrm>
            <a:off x="6348412" y="2776538"/>
            <a:ext cx="2238375" cy="1228725"/>
          </a:xfrm>
          <a:prstGeom prst="rect">
            <a:avLst/>
          </a:prstGeom>
          <a:noFill/>
          <a:ln w="9525">
            <a:solidFill>
              <a:srgbClr val="C9C9C4"/>
            </a:solidFill>
          </a:ln>
        </p:spPr>
        <p:txBody>
          <a:bodyPr rtlCol="0" anchor="ctr"/>
          <a:lstStyle/>
          <a:p>
            <a:pPr algn="ctr"/>
          </a:p>
        </p:txBody>
      </p:sp>
      <p:sp>
        <p:nvSpPr>
          <p:cNvPr id="41" name="Oval 40"/>
          <p:cNvSpPr/>
          <p:nvPr/>
        </p:nvSpPr>
        <p:spPr>
          <a:xfrm>
            <a:off x="6343650" y="4257675"/>
            <a:ext cx="95250" cy="95250"/>
          </a:xfrm>
          <a:prstGeom prst="ellipse">
            <a:avLst/>
          </a:prstGeom>
          <a:solidFill>
            <a:srgbClr val="FF8300"/>
          </a:solidFill>
          <a:ln>
            <a:noFill/>
          </a:ln>
        </p:spPr>
        <p:txBody>
          <a:bodyPr rtlCol="0" anchor="ctr"/>
          <a:lstStyle/>
          <a:p>
            <a:pPr algn="ctr"/>
          </a:p>
        </p:txBody>
      </p:sp>
      <p:sp>
        <p:nvSpPr>
          <p:cNvPr id="42" name="TextBox 41"/>
          <p:cNvSpPr txBox="1"/>
          <p:nvPr/>
        </p:nvSpPr>
        <p:spPr>
          <a:xfrm>
            <a:off x="6572250" y="4171950"/>
            <a:ext cx="2095500" cy="542925"/>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Site Safety Policy: limits, heat index bands, method, change history.</a:t>
            </a:r>
          </a:p>
        </p:txBody>
      </p:sp>
      <p:sp>
        <p:nvSpPr>
          <p:cNvPr id="43" name="Oval 42"/>
          <p:cNvSpPr/>
          <p:nvPr/>
        </p:nvSpPr>
        <p:spPr>
          <a:xfrm>
            <a:off x="6343650" y="4876800"/>
            <a:ext cx="95250" cy="95250"/>
          </a:xfrm>
          <a:prstGeom prst="ellipse">
            <a:avLst/>
          </a:prstGeom>
          <a:solidFill>
            <a:srgbClr val="FF8300"/>
          </a:solidFill>
          <a:ln>
            <a:noFill/>
          </a:ln>
        </p:spPr>
        <p:txBody>
          <a:bodyPr rtlCol="0" anchor="ctr"/>
          <a:lstStyle/>
          <a:p>
            <a:pPr algn="ctr"/>
          </a:p>
        </p:txBody>
      </p:sp>
      <p:sp>
        <p:nvSpPr>
          <p:cNvPr id="44" name="TextBox 43"/>
          <p:cNvSpPr txBox="1"/>
          <p:nvPr/>
        </p:nvSpPr>
        <p:spPr>
          <a:xfrm>
            <a:off x="6572250" y="4791075"/>
            <a:ext cx="2095500" cy="361950"/>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Changes when work stops, for the whole project.</a:t>
            </a:r>
          </a:p>
        </p:txBody>
      </p:sp>
      <p:sp>
        <p:nvSpPr>
          <p:cNvPr id="45" name="Rounded Rectangle 44"/>
          <p:cNvSpPr/>
          <p:nvPr/>
        </p:nvSpPr>
        <p:spPr>
          <a:xfrm>
            <a:off x="8958262" y="1681162"/>
            <a:ext cx="2581275" cy="3609975"/>
          </a:xfrm>
          <a:prstGeom prst="roundRect">
            <a:avLst>
              <a:gd name="adj" fmla="val 4243"/>
            </a:avLst>
          </a:prstGeom>
          <a:solidFill>
            <a:srgbClr val="FFFFFF"/>
          </a:solidFill>
          <a:ln w="9525">
            <a:solidFill>
              <a:srgbClr val="DCDCD7"/>
            </a:solidFill>
          </a:ln>
        </p:spPr>
        <p:txBody>
          <a:bodyPr rtlCol="0" anchor="ctr"/>
          <a:lstStyle/>
          <a:p>
            <a:pPr algn="ctr"/>
          </a:p>
        </p:txBody>
      </p:sp>
      <p:sp>
        <p:nvSpPr>
          <p:cNvPr id="46" name="Oval 45"/>
          <p:cNvSpPr/>
          <p:nvPr/>
        </p:nvSpPr>
        <p:spPr>
          <a:xfrm>
            <a:off x="9124950" y="1847850"/>
            <a:ext cx="266700" cy="266700"/>
          </a:xfrm>
          <a:prstGeom prst="ellipse">
            <a:avLst/>
          </a:prstGeom>
          <a:solidFill>
            <a:srgbClr val="FF8300"/>
          </a:solidFill>
          <a:ln>
            <a:noFill/>
          </a:ln>
        </p:spPr>
        <p:txBody>
          <a:bodyPr rtlCol="0" anchor="ctr"/>
          <a:lstStyle/>
          <a:p>
            <a:pPr algn="ctr"/>
          </a:p>
        </p:txBody>
      </p:sp>
      <p:sp>
        <p:nvSpPr>
          <p:cNvPr id="47" name="TextBox 46"/>
          <p:cNvSpPr txBox="1"/>
          <p:nvPr/>
        </p:nvSpPr>
        <p:spPr>
          <a:xfrm>
            <a:off x="9086850" y="1847850"/>
            <a:ext cx="342900" cy="266700"/>
          </a:xfrm>
          <a:prstGeom prst="rect">
            <a:avLst/>
          </a:prstGeom>
          <a:noFill/>
        </p:spPr>
        <p:txBody>
          <a:bodyPr wrap="square" lIns="0" rIns="0" tIns="0" bIns="0" anchor="t">
            <a:noAutofit/>
          </a:bodyPr>
          <a:lstStyle/>
          <a:p>
            <a:pPr algn="ctr">
              <a:lnSpc>
                <a:spcPts val="2100"/>
              </a:lnSpc>
              <a:spcBef>
                <a:spcPts val="0"/>
              </a:spcBef>
              <a:spcAft>
                <a:spcPts val="0"/>
              </a:spcAft>
            </a:pPr>
            <a:r>
              <a:rPr sz="1125" b="1" i="0">
                <a:solidFill>
                  <a:srgbClr val="FFFFFF"/>
                </a:solidFill>
                <a:latin typeface="Arial"/>
              </a:rPr>
              <a:t>4</a:t>
            </a:r>
          </a:p>
        </p:txBody>
      </p:sp>
      <p:sp>
        <p:nvSpPr>
          <p:cNvPr id="48" name="TextBox 47"/>
          <p:cNvSpPr txBox="1"/>
          <p:nvPr/>
        </p:nvSpPr>
        <p:spPr>
          <a:xfrm>
            <a:off x="9486900" y="1847850"/>
            <a:ext cx="1981200" cy="228600"/>
          </a:xfrm>
          <a:prstGeom prst="rect">
            <a:avLst/>
          </a:prstGeom>
          <a:noFill/>
        </p:spPr>
        <p:txBody>
          <a:bodyPr wrap="square" lIns="0" rIns="0" tIns="0" bIns="0" anchor="t">
            <a:noAutofit/>
          </a:bodyPr>
          <a:lstStyle/>
          <a:p>
            <a:pPr algn="l">
              <a:lnSpc>
                <a:spcPts val="1800"/>
              </a:lnSpc>
              <a:spcBef>
                <a:spcPts val="0"/>
              </a:spcBef>
              <a:spcAft>
                <a:spcPts val="0"/>
              </a:spcAft>
            </a:pPr>
            <a:r>
              <a:rPr sz="1350" b="1" i="0">
                <a:solidFill>
                  <a:srgbClr val="0C0C0C"/>
                </a:solidFill>
                <a:latin typeface="Arial"/>
              </a:rPr>
              <a:t>Configure Lightning</a:t>
            </a:r>
          </a:p>
        </p:txBody>
      </p:sp>
      <p:sp>
        <p:nvSpPr>
          <p:cNvPr id="49" name="TextBox 48"/>
          <p:cNvSpPr txBox="1"/>
          <p:nvPr/>
        </p:nvSpPr>
        <p:spPr>
          <a:xfrm>
            <a:off x="9124950" y="2400300"/>
            <a:ext cx="2362200" cy="142875"/>
          </a:xfrm>
          <a:prstGeom prst="rect">
            <a:avLst/>
          </a:prstGeom>
          <a:noFill/>
        </p:spPr>
        <p:txBody>
          <a:bodyPr wrap="square" lIns="0" rIns="0" tIns="0" bIns="0" anchor="t">
            <a:noAutofit/>
          </a:bodyPr>
          <a:lstStyle/>
          <a:p>
            <a:pPr algn="l">
              <a:lnSpc>
                <a:spcPts val="1125"/>
              </a:lnSpc>
              <a:spcBef>
                <a:spcPts val="0"/>
              </a:spcBef>
              <a:spcAft>
                <a:spcPts val="0"/>
              </a:spcAft>
            </a:pPr>
            <a:r>
              <a:rPr sz="825" b="1" i="0" spc="38">
                <a:solidFill>
                  <a:srgbClr val="B85C00"/>
                </a:solidFill>
                <a:latin typeface="Arial"/>
              </a:rPr>
              <a:t>SETTINGS, LIGHTNING</a:t>
            </a:r>
          </a:p>
        </p:txBody>
      </p:sp>
      <p:pic>
        <p:nvPicPr>
          <p:cNvPr id="50" name="Picture 49" descr="lt-settings.png"/>
          <p:cNvPicPr>
            <a:picLocks noChangeAspect="1"/>
          </p:cNvPicPr>
          <p:nvPr/>
        </p:nvPicPr>
        <p:blipFill>
          <a:blip r:embed="rId4"/>
          <a:stretch>
            <a:fillRect/>
          </a:stretch>
        </p:blipFill>
        <p:spPr>
          <a:xfrm>
            <a:off x="9134475" y="2981325"/>
            <a:ext cx="2228850" cy="819150"/>
          </a:xfrm>
          <a:prstGeom prst="rect">
            <a:avLst/>
          </a:prstGeom>
        </p:spPr>
      </p:pic>
      <p:sp>
        <p:nvSpPr>
          <p:cNvPr id="51" name="Rectangle 50"/>
          <p:cNvSpPr/>
          <p:nvPr/>
        </p:nvSpPr>
        <p:spPr>
          <a:xfrm>
            <a:off x="9129712" y="2976562"/>
            <a:ext cx="2238375" cy="828675"/>
          </a:xfrm>
          <a:prstGeom prst="rect">
            <a:avLst/>
          </a:prstGeom>
          <a:noFill/>
          <a:ln w="9525">
            <a:solidFill>
              <a:srgbClr val="C9C9C4"/>
            </a:solidFill>
          </a:ln>
        </p:spPr>
        <p:txBody>
          <a:bodyPr rtlCol="0" anchor="ctr"/>
          <a:lstStyle/>
          <a:p>
            <a:pPr algn="ctr"/>
          </a:p>
        </p:txBody>
      </p:sp>
      <p:sp>
        <p:nvSpPr>
          <p:cNvPr id="52" name="Oval 51"/>
          <p:cNvSpPr/>
          <p:nvPr/>
        </p:nvSpPr>
        <p:spPr>
          <a:xfrm>
            <a:off x="9124950" y="4257675"/>
            <a:ext cx="95250" cy="95250"/>
          </a:xfrm>
          <a:prstGeom prst="ellipse">
            <a:avLst/>
          </a:prstGeom>
          <a:solidFill>
            <a:srgbClr val="FF8300"/>
          </a:solidFill>
          <a:ln>
            <a:noFill/>
          </a:ln>
        </p:spPr>
        <p:txBody>
          <a:bodyPr rtlCol="0" anchor="ctr"/>
          <a:lstStyle/>
          <a:p>
            <a:pPr algn="ctr"/>
          </a:p>
        </p:txBody>
      </p:sp>
      <p:sp>
        <p:nvSpPr>
          <p:cNvPr id="53" name="TextBox 52"/>
          <p:cNvSpPr txBox="1"/>
          <p:nvPr/>
        </p:nvSpPr>
        <p:spPr>
          <a:xfrm>
            <a:off x="9353550" y="4171950"/>
            <a:ext cx="2095500" cy="361950"/>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Edit alerting radii: red, yellow, all-clear delay.</a:t>
            </a:r>
          </a:p>
        </p:txBody>
      </p:sp>
      <p:sp>
        <p:nvSpPr>
          <p:cNvPr id="54" name="Oval 53"/>
          <p:cNvSpPr/>
          <p:nvPr/>
        </p:nvSpPr>
        <p:spPr>
          <a:xfrm>
            <a:off x="9124950" y="4695825"/>
            <a:ext cx="95250" cy="95250"/>
          </a:xfrm>
          <a:prstGeom prst="ellipse">
            <a:avLst/>
          </a:prstGeom>
          <a:solidFill>
            <a:srgbClr val="FF8300"/>
          </a:solidFill>
          <a:ln>
            <a:noFill/>
          </a:ln>
        </p:spPr>
        <p:txBody>
          <a:bodyPr rtlCol="0" anchor="ctr"/>
          <a:lstStyle/>
          <a:p>
            <a:pPr algn="ctr"/>
          </a:p>
        </p:txBody>
      </p:sp>
      <p:sp>
        <p:nvSpPr>
          <p:cNvPr id="55" name="TextBox 54"/>
          <p:cNvSpPr txBox="1"/>
          <p:nvPr/>
        </p:nvSpPr>
        <p:spPr>
          <a:xfrm>
            <a:off x="9353550" y="4610100"/>
            <a:ext cx="2095500" cy="361950"/>
          </a:xfrm>
          <a:prstGeom prst="rect">
            <a:avLst/>
          </a:prstGeom>
          <a:noFill/>
        </p:spPr>
        <p:txBody>
          <a:bodyPr wrap="square" lIns="0" rIns="0" tIns="0" bIns="0" anchor="t">
            <a:noAutofit/>
          </a:bodyPr>
          <a:lstStyle/>
          <a:p>
            <a:pPr algn="l">
              <a:lnSpc>
                <a:spcPts val="1425"/>
              </a:lnSpc>
              <a:spcBef>
                <a:spcPts val="0"/>
              </a:spcBef>
              <a:spcAft>
                <a:spcPts val="0"/>
              </a:spcAft>
            </a:pPr>
            <a:r>
              <a:rPr sz="1050" b="0" i="0">
                <a:solidFill>
                  <a:srgbClr val="6B6B6B"/>
                </a:solidFill>
                <a:latin typeface="Arial"/>
              </a:rPr>
              <a:t>Set location: click the map or type coordinates.</a:t>
            </a:r>
          </a:p>
        </p:txBody>
      </p:sp>
      <p:sp>
        <p:nvSpPr>
          <p:cNvPr id="56" name="TextBox 55"/>
          <p:cNvSpPr txBox="1"/>
          <p:nvPr/>
        </p:nvSpPr>
        <p:spPr>
          <a:xfrm>
            <a:off x="609600" y="5524500"/>
            <a:ext cx="11049000" cy="209550"/>
          </a:xfrm>
          <a:prstGeom prst="rect">
            <a:avLst/>
          </a:prstGeom>
          <a:noFill/>
        </p:spPr>
        <p:txBody>
          <a:bodyPr wrap="square" lIns="0" rIns="0" tIns="0" bIns="0" anchor="t">
            <a:noAutofit/>
          </a:bodyPr>
          <a:lstStyle/>
          <a:p>
            <a:pPr algn="l">
              <a:lnSpc>
                <a:spcPts val="1650"/>
              </a:lnSpc>
              <a:spcBef>
                <a:spcPts val="0"/>
              </a:spcBef>
              <a:spcAft>
                <a:spcPts val="0"/>
              </a:spcAft>
            </a:pPr>
            <a:r>
              <a:rPr sz="1200" b="1" i="0">
                <a:solidFill>
                  <a:srgbClr val="0C0C0C"/>
                </a:solidFill>
                <a:latin typeface="Arial"/>
              </a:rPr>
              <a:t>Gas</a:t>
            </a:r>
            <a:r>
              <a:rPr sz="1200" b="0" i="0">
                <a:solidFill>
                  <a:srgbClr val="2B2B2B"/>
                </a:solidFill>
                <a:latin typeface="Arial"/>
              </a:rPr>
              <a:t> has no settings page. Its limits are shown, read only, on the Compliance page. The setup tour video (4:33) walks through all of this.</a:t>
            </a:r>
          </a:p>
        </p:txBody>
      </p:sp>
      <p:sp>
        <p:nvSpPr>
          <p:cNvPr id="57" name="TextBox 56"/>
          <p:cNvSpPr txBox="1"/>
          <p:nvPr/>
        </p:nvSpPr>
        <p:spPr>
          <a:xfrm>
            <a:off x="609600" y="6496050"/>
            <a:ext cx="5791200" cy="152400"/>
          </a:xfrm>
          <a:prstGeom prst="rect">
            <a:avLst/>
          </a:prstGeom>
          <a:noFill/>
        </p:spPr>
        <p:txBody>
          <a:bodyPr wrap="square" lIns="0" rIns="0" tIns="0" bIns="0" anchor="t">
            <a:noAutofit/>
          </a:bodyPr>
          <a:lstStyle/>
          <a:p>
            <a:pPr algn="l">
              <a:lnSpc>
                <a:spcPts val="1200"/>
              </a:lnSpc>
              <a:spcBef>
                <a:spcPts val="0"/>
              </a:spcBef>
              <a:spcAft>
                <a:spcPts val="0"/>
              </a:spcAft>
            </a:pPr>
            <a:r>
              <a:rPr sz="900" b="0" i="0">
                <a:solidFill>
                  <a:srgbClr val="6B6B6B"/>
                </a:solidFill>
                <a:latin typeface="Arial"/>
              </a:rPr>
              <a:t>Connected Environment 1.0 · Internal</a:t>
            </a:r>
          </a:p>
        </p:txBody>
      </p:sp>
      <p:sp>
        <p:nvSpPr>
          <p:cNvPr id="58" name="TextBox 57"/>
          <p:cNvSpPr txBox="1"/>
          <p:nvPr/>
        </p:nvSpPr>
        <p:spPr>
          <a:xfrm>
            <a:off x="10553700" y="6496050"/>
            <a:ext cx="1028700" cy="152400"/>
          </a:xfrm>
          <a:prstGeom prst="rect">
            <a:avLst/>
          </a:prstGeom>
          <a:noFill/>
        </p:spPr>
        <p:txBody>
          <a:bodyPr wrap="square" lIns="0" rIns="0" tIns="0" bIns="0" anchor="t">
            <a:noAutofit/>
          </a:bodyPr>
          <a:lstStyle/>
          <a:p>
            <a:pPr algn="r">
              <a:lnSpc>
                <a:spcPts val="1200"/>
              </a:lnSpc>
              <a:spcBef>
                <a:spcPts val="0"/>
              </a:spcBef>
              <a:spcAft>
                <a:spcPts val="0"/>
              </a:spcAft>
            </a:pPr>
            <a:r>
              <a:rPr sz="900" b="0" i="0">
                <a:solidFill>
                  <a:srgbClr val="6B6B6B"/>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itle 1"/>
          <p:cNvSpPr>
            <a:spLocks noGrp="1"/>
          </p:cNvSpPr>
          <p:nvPr>
            <p:ph type="title"/>
          </p:nvPr>
        </p:nvSpPr>
        <p:spPr>
          <a:xfrm>
            <a:off x="609600" y="876300"/>
            <a:ext cx="11049000" cy="419100"/>
          </a:xfrm>
        </p:spPr>
        <p:txBody>
          <a:bodyPr wrap="square" lIns="0" rIns="0" tIns="0" bIns="0" anchor="t">
            <a:noAutofit/>
          </a:bodyPr>
          <a:lstStyle/>
          <a:p>
            <a:pPr algn="l">
              <a:lnSpc>
                <a:spcPts val="3300"/>
              </a:lnSpc>
              <a:spcBef>
                <a:spcPts val="0"/>
              </a:spcBef>
              <a:spcAft>
                <a:spcPts val="0"/>
              </a:spcAft>
            </a:pPr>
            <a:r>
              <a:rPr sz="2850" b="1" i="0">
                <a:solidFill>
                  <a:srgbClr val="0C0C0C"/>
                </a:solidFill>
                <a:latin typeface="Arial"/>
              </a:rPr>
              <a:t>What we say, and what we do not say</a:t>
            </a:r>
          </a:p>
        </p:txBody>
      </p:sp>
      <p:sp>
        <p:nvSpPr>
          <p:cNvPr id="3" name="Rectangle 2"/>
          <p:cNvSpPr/>
          <p:nvPr/>
        </p:nvSpPr>
        <p:spPr>
          <a:xfrm>
            <a:off x="609600" y="495300"/>
            <a:ext cx="381000" cy="47625"/>
          </a:xfrm>
          <a:prstGeom prst="rect">
            <a:avLst/>
          </a:prstGeom>
          <a:solidFill>
            <a:srgbClr val="FF8300"/>
          </a:solidFill>
          <a:ln>
            <a:noFill/>
          </a:ln>
        </p:spPr>
        <p:txBody>
          <a:bodyPr rtlCol="0" anchor="ctr"/>
          <a:lstStyle/>
          <a:p>
            <a:pPr algn="ctr"/>
          </a:p>
        </p:txBody>
      </p:sp>
      <p:sp>
        <p:nvSpPr>
          <p:cNvPr id="4" name="TextBox 3"/>
          <p:cNvSpPr txBox="1"/>
          <p:nvPr/>
        </p:nvSpPr>
        <p:spPr>
          <a:xfrm>
            <a:off x="609600" y="647700"/>
            <a:ext cx="96012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APPENDIX · CAREFUL WORDING</a:t>
            </a:r>
          </a:p>
        </p:txBody>
      </p:sp>
      <p:sp>
        <p:nvSpPr>
          <p:cNvPr id="5" name="Rounded Rectangle 4"/>
          <p:cNvSpPr/>
          <p:nvPr/>
        </p:nvSpPr>
        <p:spPr>
          <a:xfrm>
            <a:off x="614362" y="1681162"/>
            <a:ext cx="5248275" cy="3609975"/>
          </a:xfrm>
          <a:prstGeom prst="roundRect">
            <a:avLst>
              <a:gd name="adj" fmla="val 3034"/>
            </a:avLst>
          </a:prstGeom>
          <a:solidFill>
            <a:srgbClr val="FFFFFF"/>
          </a:solidFill>
          <a:ln w="9525">
            <a:solidFill>
              <a:srgbClr val="DCDCD7"/>
            </a:solidFill>
          </a:ln>
        </p:spPr>
        <p:txBody>
          <a:bodyPr rtlCol="0" anchor="ctr"/>
          <a:lstStyle/>
          <a:p>
            <a:pPr algn="ctr"/>
          </a:p>
        </p:txBody>
      </p:sp>
      <p:sp>
        <p:nvSpPr>
          <p:cNvPr id="6" name="Rounded Rectangle 5"/>
          <p:cNvSpPr/>
          <p:nvPr/>
        </p:nvSpPr>
        <p:spPr>
          <a:xfrm>
            <a:off x="609600" y="1676400"/>
            <a:ext cx="5257800" cy="57150"/>
          </a:xfrm>
          <a:prstGeom prst="roundRect">
            <a:avLst>
              <a:gd name="adj" fmla="val 50000"/>
            </a:avLst>
          </a:prstGeom>
          <a:solidFill>
            <a:srgbClr val="1E9E5A"/>
          </a:solidFill>
          <a:ln>
            <a:noFill/>
          </a:ln>
        </p:spPr>
        <p:txBody>
          <a:bodyPr rtlCol="0" anchor="ctr"/>
          <a:lstStyle/>
          <a:p>
            <a:pPr algn="ctr"/>
          </a:p>
        </p:txBody>
      </p:sp>
      <p:sp>
        <p:nvSpPr>
          <p:cNvPr id="7" name="TextBox 6"/>
          <p:cNvSpPr txBox="1"/>
          <p:nvPr/>
        </p:nvSpPr>
        <p:spPr>
          <a:xfrm>
            <a:off x="876300" y="1924050"/>
            <a:ext cx="4838700" cy="295275"/>
          </a:xfrm>
          <a:prstGeom prst="rect">
            <a:avLst/>
          </a:prstGeom>
          <a:noFill/>
        </p:spPr>
        <p:txBody>
          <a:bodyPr wrap="square" lIns="0" rIns="0" tIns="0" bIns="0" anchor="t">
            <a:noAutofit/>
          </a:bodyPr>
          <a:lstStyle/>
          <a:p>
            <a:pPr algn="l">
              <a:lnSpc>
                <a:spcPts val="2325"/>
              </a:lnSpc>
              <a:spcBef>
                <a:spcPts val="0"/>
              </a:spcBef>
              <a:spcAft>
                <a:spcPts val="0"/>
              </a:spcAft>
            </a:pPr>
            <a:r>
              <a:rPr sz="1875" b="1" i="0">
                <a:solidFill>
                  <a:srgbClr val="0C0C0C"/>
                </a:solidFill>
                <a:latin typeface="Arial"/>
              </a:rPr>
              <a:t>Say</a:t>
            </a:r>
          </a:p>
        </p:txBody>
      </p:sp>
      <p:sp>
        <p:nvSpPr>
          <p:cNvPr id="8" name="Oval 7"/>
          <p:cNvSpPr/>
          <p:nvPr/>
        </p:nvSpPr>
        <p:spPr>
          <a:xfrm>
            <a:off x="876300" y="2505075"/>
            <a:ext cx="95250" cy="95250"/>
          </a:xfrm>
          <a:prstGeom prst="ellipse">
            <a:avLst/>
          </a:prstGeom>
          <a:solidFill>
            <a:srgbClr val="FF8300"/>
          </a:solidFill>
          <a:ln>
            <a:noFill/>
          </a:ln>
        </p:spPr>
        <p:txBody>
          <a:bodyPr rtlCol="0" anchor="ctr"/>
          <a:lstStyle/>
          <a:p>
            <a:pPr algn="ctr"/>
          </a:p>
        </p:txBody>
      </p:sp>
      <p:sp>
        <p:nvSpPr>
          <p:cNvPr id="9" name="TextBox 8"/>
          <p:cNvSpPr txBox="1"/>
          <p:nvPr/>
        </p:nvSpPr>
        <p:spPr>
          <a:xfrm>
            <a:off x="1104900" y="2419350"/>
            <a:ext cx="4572000" cy="514350"/>
          </a:xfrm>
          <a:prstGeom prst="rect">
            <a:avLst/>
          </a:prstGeom>
          <a:noFill/>
        </p:spPr>
        <p:txBody>
          <a:bodyPr wrap="square" lIns="0" rIns="0" tIns="0" bIns="0" anchor="t">
            <a:noAutofit/>
          </a:bodyPr>
          <a:lstStyle/>
          <a:p>
            <a:pPr algn="l">
              <a:lnSpc>
                <a:spcPts val="2025"/>
              </a:lnSpc>
              <a:spcBef>
                <a:spcPts val="0"/>
              </a:spcBef>
              <a:spcAft>
                <a:spcPts val="0"/>
              </a:spcAft>
            </a:pPr>
            <a:r>
              <a:rPr sz="1425" b="0" i="0">
                <a:solidFill>
                  <a:srgbClr val="2B2B2B"/>
                </a:solidFill>
                <a:latin typeface="Arial"/>
              </a:rPr>
              <a:t>Connected Environment 1.0 is live. Weather Station, Lightning and Gas are in it today.</a:t>
            </a:r>
          </a:p>
        </p:txBody>
      </p:sp>
      <p:sp>
        <p:nvSpPr>
          <p:cNvPr id="10" name="Oval 9"/>
          <p:cNvSpPr/>
          <p:nvPr/>
        </p:nvSpPr>
        <p:spPr>
          <a:xfrm>
            <a:off x="876300" y="3171825"/>
            <a:ext cx="95250" cy="95250"/>
          </a:xfrm>
          <a:prstGeom prst="ellipse">
            <a:avLst/>
          </a:prstGeom>
          <a:solidFill>
            <a:srgbClr val="FF8300"/>
          </a:solidFill>
          <a:ln>
            <a:noFill/>
          </a:ln>
        </p:spPr>
        <p:txBody>
          <a:bodyPr rtlCol="0" anchor="ctr"/>
          <a:lstStyle/>
          <a:p>
            <a:pPr algn="ctr"/>
          </a:p>
        </p:txBody>
      </p:sp>
      <p:sp>
        <p:nvSpPr>
          <p:cNvPr id="11" name="TextBox 10"/>
          <p:cNvSpPr txBox="1"/>
          <p:nvPr/>
        </p:nvSpPr>
        <p:spPr>
          <a:xfrm>
            <a:off x="1104900" y="3086100"/>
            <a:ext cx="4572000" cy="514350"/>
          </a:xfrm>
          <a:prstGeom prst="rect">
            <a:avLst/>
          </a:prstGeom>
          <a:noFill/>
        </p:spPr>
        <p:txBody>
          <a:bodyPr wrap="square" lIns="0" rIns="0" tIns="0" bIns="0" anchor="t">
            <a:noAutofit/>
          </a:bodyPr>
          <a:lstStyle/>
          <a:p>
            <a:pPr algn="l">
              <a:lnSpc>
                <a:spcPts val="2025"/>
              </a:lnSpc>
              <a:spcBef>
                <a:spcPts val="0"/>
              </a:spcBef>
              <a:spcAft>
                <a:spcPts val="0"/>
              </a:spcAft>
            </a:pPr>
            <a:r>
              <a:rPr sz="1425" b="0" i="0">
                <a:solidFill>
                  <a:srgbClr val="2B2B2B"/>
                </a:solidFill>
                <a:latin typeface="Arial"/>
              </a:rPr>
              <a:t>Lightning is a backup. The site's cabinet lights and sounder come first.</a:t>
            </a:r>
          </a:p>
        </p:txBody>
      </p:sp>
      <p:sp>
        <p:nvSpPr>
          <p:cNvPr id="12" name="Oval 11"/>
          <p:cNvSpPr/>
          <p:nvPr/>
        </p:nvSpPr>
        <p:spPr>
          <a:xfrm>
            <a:off x="876300" y="3838575"/>
            <a:ext cx="95250" cy="95250"/>
          </a:xfrm>
          <a:prstGeom prst="ellipse">
            <a:avLst/>
          </a:prstGeom>
          <a:solidFill>
            <a:srgbClr val="FF8300"/>
          </a:solidFill>
          <a:ln>
            <a:noFill/>
          </a:ln>
        </p:spPr>
        <p:txBody>
          <a:bodyPr rtlCol="0" anchor="ctr"/>
          <a:lstStyle/>
          <a:p>
            <a:pPr algn="ctr"/>
          </a:p>
        </p:txBody>
      </p:sp>
      <p:sp>
        <p:nvSpPr>
          <p:cNvPr id="13" name="TextBox 12"/>
          <p:cNvSpPr txBox="1"/>
          <p:nvPr/>
        </p:nvSpPr>
        <p:spPr>
          <a:xfrm>
            <a:off x="1104900" y="3752850"/>
            <a:ext cx="4572000" cy="514350"/>
          </a:xfrm>
          <a:prstGeom prst="rect">
            <a:avLst/>
          </a:prstGeom>
          <a:noFill/>
        </p:spPr>
        <p:txBody>
          <a:bodyPr wrap="square" lIns="0" rIns="0" tIns="0" bIns="0" anchor="t">
            <a:noAutofit/>
          </a:bodyPr>
          <a:lstStyle/>
          <a:p>
            <a:pPr algn="l">
              <a:lnSpc>
                <a:spcPts val="2025"/>
              </a:lnSpc>
              <a:spcBef>
                <a:spcPts val="0"/>
              </a:spcBef>
              <a:spcAft>
                <a:spcPts val="0"/>
              </a:spcAft>
            </a:pPr>
            <a:r>
              <a:rPr sz="1425" b="0" i="0">
                <a:solidFill>
                  <a:srgbClr val="2B2B2B"/>
                </a:solidFill>
                <a:latin typeface="Arial"/>
              </a:rPr>
              <a:t>Gas acknowledge and close are recorded in WakeCap only.</a:t>
            </a:r>
          </a:p>
        </p:txBody>
      </p:sp>
      <p:sp>
        <p:nvSpPr>
          <p:cNvPr id="14" name="Oval 13"/>
          <p:cNvSpPr/>
          <p:nvPr/>
        </p:nvSpPr>
        <p:spPr>
          <a:xfrm>
            <a:off x="876300" y="4505325"/>
            <a:ext cx="95250" cy="95250"/>
          </a:xfrm>
          <a:prstGeom prst="ellipse">
            <a:avLst/>
          </a:prstGeom>
          <a:solidFill>
            <a:srgbClr val="FF8300"/>
          </a:solidFill>
          <a:ln>
            <a:noFill/>
          </a:ln>
        </p:spPr>
        <p:txBody>
          <a:bodyPr rtlCol="0" anchor="ctr"/>
          <a:lstStyle/>
          <a:p>
            <a:pPr algn="ctr"/>
          </a:p>
        </p:txBody>
      </p:sp>
      <p:sp>
        <p:nvSpPr>
          <p:cNvPr id="15" name="TextBox 14"/>
          <p:cNvSpPr txBox="1"/>
          <p:nvPr/>
        </p:nvSpPr>
        <p:spPr>
          <a:xfrm>
            <a:off x="1104900" y="4419600"/>
            <a:ext cx="4572000" cy="257175"/>
          </a:xfrm>
          <a:prstGeom prst="rect">
            <a:avLst/>
          </a:prstGeom>
          <a:noFill/>
        </p:spPr>
        <p:txBody>
          <a:bodyPr wrap="square" lIns="0" rIns="0" tIns="0" bIns="0" anchor="t">
            <a:noAutofit/>
          </a:bodyPr>
          <a:lstStyle/>
          <a:p>
            <a:pPr algn="l">
              <a:lnSpc>
                <a:spcPts val="2025"/>
              </a:lnSpc>
              <a:spcBef>
                <a:spcPts val="0"/>
              </a:spcBef>
              <a:spcAft>
                <a:spcPts val="0"/>
              </a:spcAft>
            </a:pPr>
            <a:r>
              <a:rPr sz="1425" b="0" i="0">
                <a:solidFill>
                  <a:srgbClr val="2B2B2B"/>
                </a:solidFill>
                <a:latin typeface="Arial"/>
              </a:rPr>
              <a:t>The AI assistant is direction only.</a:t>
            </a:r>
          </a:p>
        </p:txBody>
      </p:sp>
      <p:sp>
        <p:nvSpPr>
          <p:cNvPr id="16" name="Oval 15"/>
          <p:cNvSpPr/>
          <p:nvPr/>
        </p:nvSpPr>
        <p:spPr>
          <a:xfrm>
            <a:off x="876300" y="4914900"/>
            <a:ext cx="95250" cy="95250"/>
          </a:xfrm>
          <a:prstGeom prst="ellipse">
            <a:avLst/>
          </a:prstGeom>
          <a:solidFill>
            <a:srgbClr val="FF8300"/>
          </a:solidFill>
          <a:ln>
            <a:noFill/>
          </a:ln>
        </p:spPr>
        <p:txBody>
          <a:bodyPr rtlCol="0" anchor="ctr"/>
          <a:lstStyle/>
          <a:p>
            <a:pPr algn="ctr"/>
          </a:p>
        </p:txBody>
      </p:sp>
      <p:sp>
        <p:nvSpPr>
          <p:cNvPr id="17" name="TextBox 16"/>
          <p:cNvSpPr txBox="1"/>
          <p:nvPr/>
        </p:nvSpPr>
        <p:spPr>
          <a:xfrm>
            <a:off x="1104900" y="4829175"/>
            <a:ext cx="4572000" cy="514350"/>
          </a:xfrm>
          <a:prstGeom prst="rect">
            <a:avLst/>
          </a:prstGeom>
          <a:noFill/>
        </p:spPr>
        <p:txBody>
          <a:bodyPr wrap="square" lIns="0" rIns="0" tIns="0" bIns="0" anchor="t">
            <a:noAutofit/>
          </a:bodyPr>
          <a:lstStyle/>
          <a:p>
            <a:pPr algn="l">
              <a:lnSpc>
                <a:spcPts val="2025"/>
              </a:lnSpc>
              <a:spcBef>
                <a:spcPts val="0"/>
              </a:spcBef>
              <a:spcAft>
                <a:spcPts val="0"/>
              </a:spcAft>
            </a:pPr>
            <a:r>
              <a:rPr sz="1425" b="0" i="0">
                <a:solidFill>
                  <a:srgbClr val="2B2B2B"/>
                </a:solidFill>
                <a:latin typeface="Arial"/>
              </a:rPr>
              <a:t>New environment products go under it. (Direction, no dates.)</a:t>
            </a:r>
          </a:p>
        </p:txBody>
      </p:sp>
      <p:sp>
        <p:nvSpPr>
          <p:cNvPr id="18" name="Rounded Rectangle 17"/>
          <p:cNvSpPr/>
          <p:nvPr/>
        </p:nvSpPr>
        <p:spPr>
          <a:xfrm>
            <a:off x="6329362" y="1681162"/>
            <a:ext cx="5248275" cy="3609975"/>
          </a:xfrm>
          <a:prstGeom prst="roundRect">
            <a:avLst>
              <a:gd name="adj" fmla="val 3034"/>
            </a:avLst>
          </a:prstGeom>
          <a:solidFill>
            <a:srgbClr val="FFFFFF"/>
          </a:solidFill>
          <a:ln w="9525">
            <a:solidFill>
              <a:srgbClr val="DCDCD7"/>
            </a:solidFill>
          </a:ln>
        </p:spPr>
        <p:txBody>
          <a:bodyPr rtlCol="0" anchor="ctr"/>
          <a:lstStyle/>
          <a:p>
            <a:pPr algn="ctr"/>
          </a:p>
        </p:txBody>
      </p:sp>
      <p:sp>
        <p:nvSpPr>
          <p:cNvPr id="19" name="Rounded Rectangle 18"/>
          <p:cNvSpPr/>
          <p:nvPr/>
        </p:nvSpPr>
        <p:spPr>
          <a:xfrm>
            <a:off x="6324600" y="1676400"/>
            <a:ext cx="5257800" cy="57150"/>
          </a:xfrm>
          <a:prstGeom prst="roundRect">
            <a:avLst>
              <a:gd name="adj" fmla="val 50000"/>
            </a:avLst>
          </a:prstGeom>
          <a:solidFill>
            <a:srgbClr val="D64545"/>
          </a:solidFill>
          <a:ln>
            <a:noFill/>
          </a:ln>
        </p:spPr>
        <p:txBody>
          <a:bodyPr rtlCol="0" anchor="ctr"/>
          <a:lstStyle/>
          <a:p>
            <a:pPr algn="ctr"/>
          </a:p>
        </p:txBody>
      </p:sp>
      <p:sp>
        <p:nvSpPr>
          <p:cNvPr id="20" name="TextBox 19"/>
          <p:cNvSpPr txBox="1"/>
          <p:nvPr/>
        </p:nvSpPr>
        <p:spPr>
          <a:xfrm>
            <a:off x="6591300" y="1924050"/>
            <a:ext cx="4838700" cy="295275"/>
          </a:xfrm>
          <a:prstGeom prst="rect">
            <a:avLst/>
          </a:prstGeom>
          <a:noFill/>
        </p:spPr>
        <p:txBody>
          <a:bodyPr wrap="square" lIns="0" rIns="0" tIns="0" bIns="0" anchor="t">
            <a:noAutofit/>
          </a:bodyPr>
          <a:lstStyle/>
          <a:p>
            <a:pPr algn="l">
              <a:lnSpc>
                <a:spcPts val="2325"/>
              </a:lnSpc>
              <a:spcBef>
                <a:spcPts val="0"/>
              </a:spcBef>
              <a:spcAft>
                <a:spcPts val="0"/>
              </a:spcAft>
            </a:pPr>
            <a:r>
              <a:rPr sz="1875" b="1" i="0">
                <a:solidFill>
                  <a:srgbClr val="0C0C0C"/>
                </a:solidFill>
                <a:latin typeface="Arial"/>
              </a:rPr>
              <a:t>Do not say</a:t>
            </a:r>
          </a:p>
        </p:txBody>
      </p:sp>
      <p:sp>
        <p:nvSpPr>
          <p:cNvPr id="21" name="Oval 20"/>
          <p:cNvSpPr/>
          <p:nvPr/>
        </p:nvSpPr>
        <p:spPr>
          <a:xfrm>
            <a:off x="6591300" y="2505075"/>
            <a:ext cx="95250" cy="95250"/>
          </a:xfrm>
          <a:prstGeom prst="ellipse">
            <a:avLst/>
          </a:prstGeom>
          <a:solidFill>
            <a:srgbClr val="FF8300"/>
          </a:solidFill>
          <a:ln>
            <a:noFill/>
          </a:ln>
        </p:spPr>
        <p:txBody>
          <a:bodyPr rtlCol="0" anchor="ctr"/>
          <a:lstStyle/>
          <a:p>
            <a:pPr algn="ctr"/>
          </a:p>
        </p:txBody>
      </p:sp>
      <p:sp>
        <p:nvSpPr>
          <p:cNvPr id="22" name="TextBox 21"/>
          <p:cNvSpPr txBox="1"/>
          <p:nvPr/>
        </p:nvSpPr>
        <p:spPr>
          <a:xfrm>
            <a:off x="6819900" y="2419350"/>
            <a:ext cx="4572000" cy="257175"/>
          </a:xfrm>
          <a:prstGeom prst="rect">
            <a:avLst/>
          </a:prstGeom>
          <a:noFill/>
        </p:spPr>
        <p:txBody>
          <a:bodyPr wrap="square" lIns="0" rIns="0" tIns="0" bIns="0" anchor="t">
            <a:noAutofit/>
          </a:bodyPr>
          <a:lstStyle/>
          <a:p>
            <a:pPr algn="l">
              <a:lnSpc>
                <a:spcPts val="2025"/>
              </a:lnSpc>
              <a:spcBef>
                <a:spcPts val="0"/>
              </a:spcBef>
              <a:spcAft>
                <a:spcPts val="0"/>
              </a:spcAft>
            </a:pPr>
            <a:r>
              <a:rPr sz="1425" b="0" i="0">
                <a:solidFill>
                  <a:srgbClr val="2B2B2B"/>
                </a:solidFill>
                <a:latin typeface="Arial"/>
              </a:rPr>
              <a:t>That a site is safe.</a:t>
            </a:r>
          </a:p>
        </p:txBody>
      </p:sp>
      <p:sp>
        <p:nvSpPr>
          <p:cNvPr id="23" name="Oval 22"/>
          <p:cNvSpPr/>
          <p:nvPr/>
        </p:nvSpPr>
        <p:spPr>
          <a:xfrm>
            <a:off x="6591300" y="2914650"/>
            <a:ext cx="95250" cy="95250"/>
          </a:xfrm>
          <a:prstGeom prst="ellipse">
            <a:avLst/>
          </a:prstGeom>
          <a:solidFill>
            <a:srgbClr val="FF8300"/>
          </a:solidFill>
          <a:ln>
            <a:noFill/>
          </a:ln>
        </p:spPr>
        <p:txBody>
          <a:bodyPr rtlCol="0" anchor="ctr"/>
          <a:lstStyle/>
          <a:p>
            <a:pPr algn="ctr"/>
          </a:p>
        </p:txBody>
      </p:sp>
      <p:sp>
        <p:nvSpPr>
          <p:cNvPr id="24" name="TextBox 23"/>
          <p:cNvSpPr txBox="1"/>
          <p:nvPr/>
        </p:nvSpPr>
        <p:spPr>
          <a:xfrm>
            <a:off x="6819900" y="2828925"/>
            <a:ext cx="4572000" cy="257175"/>
          </a:xfrm>
          <a:prstGeom prst="rect">
            <a:avLst/>
          </a:prstGeom>
          <a:noFill/>
        </p:spPr>
        <p:txBody>
          <a:bodyPr wrap="square" lIns="0" rIns="0" tIns="0" bIns="0" anchor="t">
            <a:noAutofit/>
          </a:bodyPr>
          <a:lstStyle/>
          <a:p>
            <a:pPr algn="l">
              <a:lnSpc>
                <a:spcPts val="2025"/>
              </a:lnSpc>
              <a:spcBef>
                <a:spcPts val="0"/>
              </a:spcBef>
              <a:spcAft>
                <a:spcPts val="0"/>
              </a:spcAft>
            </a:pPr>
            <a:r>
              <a:rPr sz="1425" b="0" i="0">
                <a:solidFill>
                  <a:srgbClr val="2B2B2B"/>
                </a:solidFill>
                <a:latin typeface="Arial"/>
              </a:rPr>
              <a:t>One rule set, or one audit trail.</a:t>
            </a:r>
          </a:p>
        </p:txBody>
      </p:sp>
      <p:sp>
        <p:nvSpPr>
          <p:cNvPr id="25" name="Oval 24"/>
          <p:cNvSpPr/>
          <p:nvPr/>
        </p:nvSpPr>
        <p:spPr>
          <a:xfrm>
            <a:off x="6591300" y="3324225"/>
            <a:ext cx="95250" cy="95250"/>
          </a:xfrm>
          <a:prstGeom prst="ellipse">
            <a:avLst/>
          </a:prstGeom>
          <a:solidFill>
            <a:srgbClr val="FF8300"/>
          </a:solidFill>
          <a:ln>
            <a:noFill/>
          </a:ln>
        </p:spPr>
        <p:txBody>
          <a:bodyPr rtlCol="0" anchor="ctr"/>
          <a:lstStyle/>
          <a:p>
            <a:pPr algn="ctr"/>
          </a:p>
        </p:txBody>
      </p:sp>
      <p:sp>
        <p:nvSpPr>
          <p:cNvPr id="26" name="TextBox 25"/>
          <p:cNvSpPr txBox="1"/>
          <p:nvPr/>
        </p:nvSpPr>
        <p:spPr>
          <a:xfrm>
            <a:off x="6819900" y="3238500"/>
            <a:ext cx="4572000" cy="257175"/>
          </a:xfrm>
          <a:prstGeom prst="rect">
            <a:avLst/>
          </a:prstGeom>
          <a:noFill/>
        </p:spPr>
        <p:txBody>
          <a:bodyPr wrap="square" lIns="0" rIns="0" tIns="0" bIns="0" anchor="t">
            <a:noAutofit/>
          </a:bodyPr>
          <a:lstStyle/>
          <a:p>
            <a:pPr algn="l">
              <a:lnSpc>
                <a:spcPts val="2025"/>
              </a:lnSpc>
              <a:spcBef>
                <a:spcPts val="0"/>
              </a:spcBef>
              <a:spcAft>
                <a:spcPts val="0"/>
              </a:spcAft>
            </a:pPr>
            <a:r>
              <a:rPr sz="1425" b="0" i="0">
                <a:solidFill>
                  <a:srgbClr val="2B2B2B"/>
                </a:solidFill>
                <a:latin typeface="Arial"/>
              </a:rPr>
              <a:t>A go-live date, or any expansion plan.</a:t>
            </a:r>
          </a:p>
        </p:txBody>
      </p:sp>
      <p:sp>
        <p:nvSpPr>
          <p:cNvPr id="27" name="Oval 26"/>
          <p:cNvSpPr/>
          <p:nvPr/>
        </p:nvSpPr>
        <p:spPr>
          <a:xfrm>
            <a:off x="6591300" y="3733800"/>
            <a:ext cx="95250" cy="95250"/>
          </a:xfrm>
          <a:prstGeom prst="ellipse">
            <a:avLst/>
          </a:prstGeom>
          <a:solidFill>
            <a:srgbClr val="FF8300"/>
          </a:solidFill>
          <a:ln>
            <a:noFill/>
          </a:ln>
        </p:spPr>
        <p:txBody>
          <a:bodyPr rtlCol="0" anchor="ctr"/>
          <a:lstStyle/>
          <a:p>
            <a:pPr algn="ctr"/>
          </a:p>
        </p:txBody>
      </p:sp>
      <p:sp>
        <p:nvSpPr>
          <p:cNvPr id="28" name="TextBox 27"/>
          <p:cNvSpPr txBox="1"/>
          <p:nvPr/>
        </p:nvSpPr>
        <p:spPr>
          <a:xfrm>
            <a:off x="6819900" y="3648075"/>
            <a:ext cx="4572000" cy="257175"/>
          </a:xfrm>
          <a:prstGeom prst="rect">
            <a:avLst/>
          </a:prstGeom>
          <a:noFill/>
        </p:spPr>
        <p:txBody>
          <a:bodyPr wrap="square" lIns="0" rIns="0" tIns="0" bIns="0" anchor="t">
            <a:noAutofit/>
          </a:bodyPr>
          <a:lstStyle/>
          <a:p>
            <a:pPr algn="l">
              <a:lnSpc>
                <a:spcPts val="2025"/>
              </a:lnSpc>
              <a:spcBef>
                <a:spcPts val="0"/>
              </a:spcBef>
              <a:spcAft>
                <a:spcPts val="0"/>
              </a:spcAft>
            </a:pPr>
            <a:r>
              <a:rPr sz="1425" b="0" i="0">
                <a:solidFill>
                  <a:srgbClr val="2B2B2B"/>
                </a:solidFill>
                <a:latin typeface="Arial"/>
              </a:rPr>
              <a:t>That the assistant approves or runs anything.</a:t>
            </a:r>
          </a:p>
        </p:txBody>
      </p:sp>
      <p:sp>
        <p:nvSpPr>
          <p:cNvPr id="29" name="Oval 28"/>
          <p:cNvSpPr/>
          <p:nvPr/>
        </p:nvSpPr>
        <p:spPr>
          <a:xfrm>
            <a:off x="6591300" y="4143375"/>
            <a:ext cx="95250" cy="95250"/>
          </a:xfrm>
          <a:prstGeom prst="ellipse">
            <a:avLst/>
          </a:prstGeom>
          <a:solidFill>
            <a:srgbClr val="FF8300"/>
          </a:solidFill>
          <a:ln>
            <a:noFill/>
          </a:ln>
        </p:spPr>
        <p:txBody>
          <a:bodyPr rtlCol="0" anchor="ctr"/>
          <a:lstStyle/>
          <a:p>
            <a:pPr algn="ctr"/>
          </a:p>
        </p:txBody>
      </p:sp>
      <p:sp>
        <p:nvSpPr>
          <p:cNvPr id="30" name="TextBox 29"/>
          <p:cNvSpPr txBox="1"/>
          <p:nvPr/>
        </p:nvSpPr>
        <p:spPr>
          <a:xfrm>
            <a:off x="6819900" y="4057650"/>
            <a:ext cx="4572000" cy="257175"/>
          </a:xfrm>
          <a:prstGeom prst="rect">
            <a:avLst/>
          </a:prstGeom>
          <a:noFill/>
        </p:spPr>
        <p:txBody>
          <a:bodyPr wrap="square" lIns="0" rIns="0" tIns="0" bIns="0" anchor="t">
            <a:noAutofit/>
          </a:bodyPr>
          <a:lstStyle/>
          <a:p>
            <a:pPr algn="l">
              <a:lnSpc>
                <a:spcPts val="2025"/>
              </a:lnSpc>
              <a:spcBef>
                <a:spcPts val="0"/>
              </a:spcBef>
              <a:spcAft>
                <a:spcPts val="0"/>
              </a:spcAft>
            </a:pPr>
            <a:r>
              <a:rPr sz="1425" b="0" i="0">
                <a:solidFill>
                  <a:srgbClr val="2B2B2B"/>
                </a:solidFill>
                <a:latin typeface="Arial"/>
              </a:rPr>
              <a:t>That gas exposure or compliance figures exist today.</a:t>
            </a:r>
          </a:p>
        </p:txBody>
      </p:sp>
      <p:sp>
        <p:nvSpPr>
          <p:cNvPr id="31" name="TextBox 30"/>
          <p:cNvSpPr txBox="1"/>
          <p:nvPr/>
        </p:nvSpPr>
        <p:spPr>
          <a:xfrm>
            <a:off x="609600" y="6496050"/>
            <a:ext cx="5791200" cy="152400"/>
          </a:xfrm>
          <a:prstGeom prst="rect">
            <a:avLst/>
          </a:prstGeom>
          <a:noFill/>
        </p:spPr>
        <p:txBody>
          <a:bodyPr wrap="square" lIns="0" rIns="0" tIns="0" bIns="0" anchor="t">
            <a:noAutofit/>
          </a:bodyPr>
          <a:lstStyle/>
          <a:p>
            <a:pPr algn="l">
              <a:lnSpc>
                <a:spcPts val="1200"/>
              </a:lnSpc>
              <a:spcBef>
                <a:spcPts val="0"/>
              </a:spcBef>
              <a:spcAft>
                <a:spcPts val="0"/>
              </a:spcAft>
            </a:pPr>
            <a:r>
              <a:rPr sz="900" b="0" i="0">
                <a:solidFill>
                  <a:srgbClr val="6B6B6B"/>
                </a:solidFill>
                <a:latin typeface="Arial"/>
              </a:rPr>
              <a:t>Connected Environment 1.0 · Internal</a:t>
            </a:r>
          </a:p>
        </p:txBody>
      </p:sp>
      <p:sp>
        <p:nvSpPr>
          <p:cNvPr id="32" name="TextBox 31"/>
          <p:cNvSpPr txBox="1"/>
          <p:nvPr/>
        </p:nvSpPr>
        <p:spPr>
          <a:xfrm>
            <a:off x="10553700" y="6496050"/>
            <a:ext cx="1028700" cy="152400"/>
          </a:xfrm>
          <a:prstGeom prst="rect">
            <a:avLst/>
          </a:prstGeom>
          <a:noFill/>
        </p:spPr>
        <p:txBody>
          <a:bodyPr wrap="square" lIns="0" rIns="0" tIns="0" bIns="0" anchor="t">
            <a:noAutofit/>
          </a:bodyPr>
          <a:lstStyle/>
          <a:p>
            <a:pPr algn="r">
              <a:lnSpc>
                <a:spcPts val="1200"/>
              </a:lnSpc>
              <a:spcBef>
                <a:spcPts val="0"/>
              </a:spcBef>
              <a:spcAft>
                <a:spcPts val="0"/>
              </a:spcAft>
            </a:pPr>
            <a:r>
              <a:rPr sz="900" b="0" i="0">
                <a:solidFill>
                  <a:srgbClr val="6B6B6B"/>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itle 1"/>
          <p:cNvSpPr>
            <a:spLocks noGrp="1"/>
          </p:cNvSpPr>
          <p:nvPr>
            <p:ph type="title"/>
          </p:nvPr>
        </p:nvSpPr>
        <p:spPr>
          <a:xfrm>
            <a:off x="609600" y="876300"/>
            <a:ext cx="11049000" cy="419100"/>
          </a:xfrm>
        </p:spPr>
        <p:txBody>
          <a:bodyPr wrap="square" lIns="0" rIns="0" tIns="0" bIns="0" anchor="t">
            <a:noAutofit/>
          </a:bodyPr>
          <a:lstStyle/>
          <a:p>
            <a:pPr algn="l">
              <a:lnSpc>
                <a:spcPts val="3300"/>
              </a:lnSpc>
              <a:spcBef>
                <a:spcPts val="0"/>
              </a:spcBef>
              <a:spcAft>
                <a:spcPts val="0"/>
              </a:spcAft>
            </a:pPr>
            <a:r>
              <a:rPr sz="2850" b="1" i="0">
                <a:solidFill>
                  <a:srgbClr val="0C0C0C"/>
                </a:solidFill>
                <a:latin typeface="Arial"/>
              </a:rPr>
              <a:t>Terms used in the videos and on the screens</a:t>
            </a:r>
          </a:p>
        </p:txBody>
      </p:sp>
      <p:sp>
        <p:nvSpPr>
          <p:cNvPr id="3" name="Rectangle 2"/>
          <p:cNvSpPr/>
          <p:nvPr/>
        </p:nvSpPr>
        <p:spPr>
          <a:xfrm>
            <a:off x="609600" y="495300"/>
            <a:ext cx="381000" cy="47625"/>
          </a:xfrm>
          <a:prstGeom prst="rect">
            <a:avLst/>
          </a:prstGeom>
          <a:solidFill>
            <a:srgbClr val="FF8300"/>
          </a:solidFill>
          <a:ln>
            <a:noFill/>
          </a:ln>
        </p:spPr>
        <p:txBody>
          <a:bodyPr rtlCol="0" anchor="ctr"/>
          <a:lstStyle/>
          <a:p>
            <a:pPr algn="ctr"/>
          </a:p>
        </p:txBody>
      </p:sp>
      <p:sp>
        <p:nvSpPr>
          <p:cNvPr id="4" name="TextBox 3"/>
          <p:cNvSpPr txBox="1"/>
          <p:nvPr/>
        </p:nvSpPr>
        <p:spPr>
          <a:xfrm>
            <a:off x="609600" y="647700"/>
            <a:ext cx="9601200" cy="161925"/>
          </a:xfrm>
          <a:prstGeom prst="rect">
            <a:avLst/>
          </a:prstGeom>
          <a:noFill/>
        </p:spPr>
        <p:txBody>
          <a:bodyPr wrap="square" lIns="0" rIns="0" tIns="0" bIns="0" anchor="t">
            <a:noAutofit/>
          </a:bodyPr>
          <a:lstStyle/>
          <a:p>
            <a:pPr algn="l">
              <a:lnSpc>
                <a:spcPts val="1275"/>
              </a:lnSpc>
              <a:spcBef>
                <a:spcPts val="0"/>
              </a:spcBef>
              <a:spcAft>
                <a:spcPts val="0"/>
              </a:spcAft>
            </a:pPr>
            <a:r>
              <a:rPr sz="975" b="1" i="0" spc="112">
                <a:solidFill>
                  <a:srgbClr val="B85C00"/>
                </a:solidFill>
                <a:latin typeface="Arial"/>
              </a:rPr>
              <a:t>APPENDIX · GLOSSARY</a:t>
            </a:r>
          </a:p>
        </p:txBody>
      </p:sp>
      <p:sp>
        <p:nvSpPr>
          <p:cNvPr id="5" name="Rounded Rectangle 4"/>
          <p:cNvSpPr/>
          <p:nvPr/>
        </p:nvSpPr>
        <p:spPr>
          <a:xfrm>
            <a:off x="614362" y="1681162"/>
            <a:ext cx="5400675" cy="923925"/>
          </a:xfrm>
          <a:prstGeom prst="roundRect">
            <a:avLst>
              <a:gd name="adj" fmla="val 11855"/>
            </a:avLst>
          </a:prstGeom>
          <a:solidFill>
            <a:srgbClr val="FFFFFF"/>
          </a:solidFill>
          <a:ln w="9525">
            <a:solidFill>
              <a:srgbClr val="DCDCD7"/>
            </a:solidFill>
          </a:ln>
        </p:spPr>
        <p:txBody>
          <a:bodyPr rtlCol="0" anchor="ctr"/>
          <a:lstStyle/>
          <a:p>
            <a:pPr algn="ctr"/>
          </a:p>
        </p:txBody>
      </p:sp>
      <p:sp>
        <p:nvSpPr>
          <p:cNvPr id="6" name="TextBox 5"/>
          <p:cNvSpPr txBox="1"/>
          <p:nvPr/>
        </p:nvSpPr>
        <p:spPr>
          <a:xfrm>
            <a:off x="838200" y="1809750"/>
            <a:ext cx="5029200" cy="228600"/>
          </a:xfrm>
          <a:prstGeom prst="rect">
            <a:avLst/>
          </a:prstGeom>
          <a:noFill/>
        </p:spPr>
        <p:txBody>
          <a:bodyPr wrap="square" lIns="0" rIns="0" tIns="0" bIns="0" anchor="t">
            <a:noAutofit/>
          </a:bodyPr>
          <a:lstStyle/>
          <a:p>
            <a:pPr algn="l">
              <a:lnSpc>
                <a:spcPts val="1800"/>
              </a:lnSpc>
              <a:spcBef>
                <a:spcPts val="0"/>
              </a:spcBef>
              <a:spcAft>
                <a:spcPts val="0"/>
              </a:spcAft>
            </a:pPr>
            <a:r>
              <a:rPr sz="1425" b="1" i="0">
                <a:solidFill>
                  <a:srgbClr val="0C0C0C"/>
                </a:solidFill>
                <a:latin typeface="Arial"/>
              </a:rPr>
              <a:t>Verdict strip</a:t>
            </a:r>
          </a:p>
        </p:txBody>
      </p:sp>
      <p:sp>
        <p:nvSpPr>
          <p:cNvPr id="7" name="TextBox 6"/>
          <p:cNvSpPr txBox="1"/>
          <p:nvPr/>
        </p:nvSpPr>
        <p:spPr>
          <a:xfrm>
            <a:off x="838200" y="2095500"/>
            <a:ext cx="5029200" cy="400050"/>
          </a:xfrm>
          <a:prstGeom prst="rect">
            <a:avLst/>
          </a:prstGeom>
          <a:noFill/>
        </p:spPr>
        <p:txBody>
          <a:bodyPr wrap="square" lIns="0" rIns="0" tIns="0" bIns="0" anchor="t">
            <a:noAutofit/>
          </a:bodyPr>
          <a:lstStyle/>
          <a:p>
            <a:pPr algn="l">
              <a:lnSpc>
                <a:spcPts val="1575"/>
              </a:lnSpc>
              <a:spcBef>
                <a:spcPts val="0"/>
              </a:spcBef>
              <a:spcAft>
                <a:spcPts val="0"/>
              </a:spcAft>
            </a:pPr>
            <a:r>
              <a:rPr sz="1125" b="0" i="0">
                <a:solidFill>
                  <a:srgbClr val="2B2B2B"/>
                </a:solidFill>
                <a:latin typeface="Arial"/>
              </a:rPr>
              <a:t>The bar across the top of Weather Station: the state in words, and the steps to take.</a:t>
            </a:r>
          </a:p>
        </p:txBody>
      </p:sp>
      <p:sp>
        <p:nvSpPr>
          <p:cNvPr id="8" name="Rounded Rectangle 7"/>
          <p:cNvSpPr/>
          <p:nvPr/>
        </p:nvSpPr>
        <p:spPr>
          <a:xfrm>
            <a:off x="6176962" y="1681162"/>
            <a:ext cx="5400675" cy="923925"/>
          </a:xfrm>
          <a:prstGeom prst="roundRect">
            <a:avLst>
              <a:gd name="adj" fmla="val 11855"/>
            </a:avLst>
          </a:prstGeom>
          <a:solidFill>
            <a:srgbClr val="FFFFFF"/>
          </a:solidFill>
          <a:ln w="9525">
            <a:solidFill>
              <a:srgbClr val="DCDCD7"/>
            </a:solidFill>
          </a:ln>
        </p:spPr>
        <p:txBody>
          <a:bodyPr rtlCol="0" anchor="ctr"/>
          <a:lstStyle/>
          <a:p>
            <a:pPr algn="ctr"/>
          </a:p>
        </p:txBody>
      </p:sp>
      <p:sp>
        <p:nvSpPr>
          <p:cNvPr id="9" name="TextBox 8"/>
          <p:cNvSpPr txBox="1"/>
          <p:nvPr/>
        </p:nvSpPr>
        <p:spPr>
          <a:xfrm>
            <a:off x="6400800" y="1809750"/>
            <a:ext cx="5029200" cy="228600"/>
          </a:xfrm>
          <a:prstGeom prst="rect">
            <a:avLst/>
          </a:prstGeom>
          <a:noFill/>
        </p:spPr>
        <p:txBody>
          <a:bodyPr wrap="square" lIns="0" rIns="0" tIns="0" bIns="0" anchor="t">
            <a:noAutofit/>
          </a:bodyPr>
          <a:lstStyle/>
          <a:p>
            <a:pPr algn="l">
              <a:lnSpc>
                <a:spcPts val="1800"/>
              </a:lnSpc>
              <a:spcBef>
                <a:spcPts val="0"/>
              </a:spcBef>
              <a:spcAft>
                <a:spcPts val="0"/>
              </a:spcAft>
            </a:pPr>
            <a:r>
              <a:rPr sz="1425" b="1" i="0">
                <a:solidFill>
                  <a:srgbClr val="0C0C0C"/>
                </a:solidFill>
                <a:latin typeface="Arial"/>
              </a:rPr>
              <a:t>Heat index</a:t>
            </a:r>
          </a:p>
        </p:txBody>
      </p:sp>
      <p:sp>
        <p:nvSpPr>
          <p:cNvPr id="10" name="TextBox 9"/>
          <p:cNvSpPr txBox="1"/>
          <p:nvPr/>
        </p:nvSpPr>
        <p:spPr>
          <a:xfrm>
            <a:off x="6400800" y="2095500"/>
            <a:ext cx="5029200" cy="200025"/>
          </a:xfrm>
          <a:prstGeom prst="rect">
            <a:avLst/>
          </a:prstGeom>
          <a:noFill/>
        </p:spPr>
        <p:txBody>
          <a:bodyPr wrap="square" lIns="0" rIns="0" tIns="0" bIns="0" anchor="t">
            <a:noAutofit/>
          </a:bodyPr>
          <a:lstStyle/>
          <a:p>
            <a:pPr algn="l">
              <a:lnSpc>
                <a:spcPts val="1575"/>
              </a:lnSpc>
              <a:spcBef>
                <a:spcPts val="0"/>
              </a:spcBef>
              <a:spcAft>
                <a:spcPts val="0"/>
              </a:spcAft>
            </a:pPr>
            <a:r>
              <a:rPr sz="1125" b="0" i="0">
                <a:solidFill>
                  <a:srgbClr val="2B2B2B"/>
                </a:solidFill>
                <a:latin typeface="Arial"/>
              </a:rPr>
              <a:t>The heat number the policy uses, with a band such as Danger.</a:t>
            </a:r>
          </a:p>
        </p:txBody>
      </p:sp>
      <p:sp>
        <p:nvSpPr>
          <p:cNvPr id="11" name="Rounded Rectangle 10"/>
          <p:cNvSpPr/>
          <p:nvPr/>
        </p:nvSpPr>
        <p:spPr>
          <a:xfrm>
            <a:off x="614362" y="2747962"/>
            <a:ext cx="5400675" cy="923925"/>
          </a:xfrm>
          <a:prstGeom prst="roundRect">
            <a:avLst>
              <a:gd name="adj" fmla="val 11855"/>
            </a:avLst>
          </a:prstGeom>
          <a:solidFill>
            <a:srgbClr val="FFFFFF"/>
          </a:solidFill>
          <a:ln w="9525">
            <a:solidFill>
              <a:srgbClr val="DCDCD7"/>
            </a:solidFill>
          </a:ln>
        </p:spPr>
        <p:txBody>
          <a:bodyPr rtlCol="0" anchor="ctr"/>
          <a:lstStyle/>
          <a:p>
            <a:pPr algn="ctr"/>
          </a:p>
        </p:txBody>
      </p:sp>
      <p:sp>
        <p:nvSpPr>
          <p:cNvPr id="12" name="TextBox 11"/>
          <p:cNvSpPr txBox="1"/>
          <p:nvPr/>
        </p:nvSpPr>
        <p:spPr>
          <a:xfrm>
            <a:off x="838200" y="2876550"/>
            <a:ext cx="5029200" cy="228600"/>
          </a:xfrm>
          <a:prstGeom prst="rect">
            <a:avLst/>
          </a:prstGeom>
          <a:noFill/>
        </p:spPr>
        <p:txBody>
          <a:bodyPr wrap="square" lIns="0" rIns="0" tIns="0" bIns="0" anchor="t">
            <a:noAutofit/>
          </a:bodyPr>
          <a:lstStyle/>
          <a:p>
            <a:pPr algn="l">
              <a:lnSpc>
                <a:spcPts val="1800"/>
              </a:lnSpc>
              <a:spcBef>
                <a:spcPts val="0"/>
              </a:spcBef>
              <a:spcAft>
                <a:spcPts val="0"/>
              </a:spcAft>
            </a:pPr>
            <a:r>
              <a:rPr sz="1425" b="1" i="0">
                <a:solidFill>
                  <a:srgbClr val="0C0C0C"/>
                </a:solidFill>
                <a:latin typeface="Arial"/>
              </a:rPr>
              <a:t>Readiness</a:t>
            </a:r>
          </a:p>
        </p:txBody>
      </p:sp>
      <p:sp>
        <p:nvSpPr>
          <p:cNvPr id="13" name="TextBox 12"/>
          <p:cNvSpPr txBox="1"/>
          <p:nvPr/>
        </p:nvSpPr>
        <p:spPr>
          <a:xfrm>
            <a:off x="838200" y="3162300"/>
            <a:ext cx="5029200" cy="400050"/>
          </a:xfrm>
          <a:prstGeom prst="rect">
            <a:avLst/>
          </a:prstGeom>
          <a:noFill/>
        </p:spPr>
        <p:txBody>
          <a:bodyPr wrap="square" lIns="0" rIns="0" tIns="0" bIns="0" anchor="t">
            <a:noAutofit/>
          </a:bodyPr>
          <a:lstStyle/>
          <a:p>
            <a:pPr algn="l">
              <a:lnSpc>
                <a:spcPts val="1575"/>
              </a:lnSpc>
              <a:spcBef>
                <a:spcPts val="0"/>
              </a:spcBef>
              <a:spcAft>
                <a:spcPts val="0"/>
              </a:spcAft>
            </a:pPr>
            <a:r>
              <a:rPr sz="1125" b="0" i="0">
                <a:solidFill>
                  <a:srgbClr val="2B2B2B"/>
                </a:solidFill>
                <a:latin typeface="Arial"/>
              </a:rPr>
              <a:t>Whether the stations or detectors can be relied on. Not ready lists what needs attention, such as an offline station.</a:t>
            </a:r>
          </a:p>
        </p:txBody>
      </p:sp>
      <p:sp>
        <p:nvSpPr>
          <p:cNvPr id="14" name="Rounded Rectangle 13"/>
          <p:cNvSpPr/>
          <p:nvPr/>
        </p:nvSpPr>
        <p:spPr>
          <a:xfrm>
            <a:off x="6176962" y="2747962"/>
            <a:ext cx="5400675" cy="923925"/>
          </a:xfrm>
          <a:prstGeom prst="roundRect">
            <a:avLst>
              <a:gd name="adj" fmla="val 11855"/>
            </a:avLst>
          </a:prstGeom>
          <a:solidFill>
            <a:srgbClr val="FFFFFF"/>
          </a:solidFill>
          <a:ln w="9525">
            <a:solidFill>
              <a:srgbClr val="DCDCD7"/>
            </a:solidFill>
          </a:ln>
        </p:spPr>
        <p:txBody>
          <a:bodyPr rtlCol="0" anchor="ctr"/>
          <a:lstStyle/>
          <a:p>
            <a:pPr algn="ctr"/>
          </a:p>
        </p:txBody>
      </p:sp>
      <p:sp>
        <p:nvSpPr>
          <p:cNvPr id="15" name="TextBox 14"/>
          <p:cNvSpPr txBox="1"/>
          <p:nvPr/>
        </p:nvSpPr>
        <p:spPr>
          <a:xfrm>
            <a:off x="6400800" y="2876550"/>
            <a:ext cx="5029200" cy="228600"/>
          </a:xfrm>
          <a:prstGeom prst="rect">
            <a:avLst/>
          </a:prstGeom>
          <a:noFill/>
        </p:spPr>
        <p:txBody>
          <a:bodyPr wrap="square" lIns="0" rIns="0" tIns="0" bIns="0" anchor="t">
            <a:noAutofit/>
          </a:bodyPr>
          <a:lstStyle/>
          <a:p>
            <a:pPr algn="l">
              <a:lnSpc>
                <a:spcPts val="1800"/>
              </a:lnSpc>
              <a:spcBef>
                <a:spcPts val="0"/>
              </a:spcBef>
              <a:spcAft>
                <a:spcPts val="0"/>
              </a:spcAft>
            </a:pPr>
            <a:r>
              <a:rPr sz="1425" b="1" i="0">
                <a:solidFill>
                  <a:srgbClr val="0C0C0C"/>
                </a:solidFill>
                <a:latin typeface="Arial"/>
              </a:rPr>
              <a:t>Alert distances</a:t>
            </a:r>
          </a:p>
        </p:txBody>
      </p:sp>
      <p:sp>
        <p:nvSpPr>
          <p:cNvPr id="16" name="TextBox 15"/>
          <p:cNvSpPr txBox="1"/>
          <p:nvPr/>
        </p:nvSpPr>
        <p:spPr>
          <a:xfrm>
            <a:off x="6400800" y="3162300"/>
            <a:ext cx="5029200" cy="200025"/>
          </a:xfrm>
          <a:prstGeom prst="rect">
            <a:avLst/>
          </a:prstGeom>
          <a:noFill/>
        </p:spPr>
        <p:txBody>
          <a:bodyPr wrap="square" lIns="0" rIns="0" tIns="0" bIns="0" anchor="t">
            <a:noAutofit/>
          </a:bodyPr>
          <a:lstStyle/>
          <a:p>
            <a:pPr algn="l">
              <a:lnSpc>
                <a:spcPts val="1575"/>
              </a:lnSpc>
              <a:spcBef>
                <a:spcPts val="0"/>
              </a:spcBef>
              <a:spcAft>
                <a:spcPts val="0"/>
              </a:spcAft>
            </a:pPr>
            <a:r>
              <a:rPr sz="1125" b="0" i="0">
                <a:solidFill>
                  <a:srgbClr val="2B2B2B"/>
                </a:solidFill>
                <a:latin typeface="Arial"/>
              </a:rPr>
              <a:t>Lightning reference rings, red and yellow. A zone, not a live strike position.</a:t>
            </a:r>
          </a:p>
        </p:txBody>
      </p:sp>
      <p:sp>
        <p:nvSpPr>
          <p:cNvPr id="17" name="Rounded Rectangle 16"/>
          <p:cNvSpPr/>
          <p:nvPr/>
        </p:nvSpPr>
        <p:spPr>
          <a:xfrm>
            <a:off x="614362" y="3814762"/>
            <a:ext cx="5400675" cy="923925"/>
          </a:xfrm>
          <a:prstGeom prst="roundRect">
            <a:avLst>
              <a:gd name="adj" fmla="val 11855"/>
            </a:avLst>
          </a:prstGeom>
          <a:solidFill>
            <a:srgbClr val="FFFFFF"/>
          </a:solidFill>
          <a:ln w="9525">
            <a:solidFill>
              <a:srgbClr val="DCDCD7"/>
            </a:solidFill>
          </a:ln>
        </p:spPr>
        <p:txBody>
          <a:bodyPr rtlCol="0" anchor="ctr"/>
          <a:lstStyle/>
          <a:p>
            <a:pPr algn="ctr"/>
          </a:p>
        </p:txBody>
      </p:sp>
      <p:sp>
        <p:nvSpPr>
          <p:cNvPr id="18" name="TextBox 17"/>
          <p:cNvSpPr txBox="1"/>
          <p:nvPr/>
        </p:nvSpPr>
        <p:spPr>
          <a:xfrm>
            <a:off x="838200" y="3943350"/>
            <a:ext cx="5029200" cy="228600"/>
          </a:xfrm>
          <a:prstGeom prst="rect">
            <a:avLst/>
          </a:prstGeom>
          <a:noFill/>
        </p:spPr>
        <p:txBody>
          <a:bodyPr wrap="square" lIns="0" rIns="0" tIns="0" bIns="0" anchor="t">
            <a:noAutofit/>
          </a:bodyPr>
          <a:lstStyle/>
          <a:p>
            <a:pPr algn="l">
              <a:lnSpc>
                <a:spcPts val="1800"/>
              </a:lnSpc>
              <a:spcBef>
                <a:spcPts val="0"/>
              </a:spcBef>
              <a:spcAft>
                <a:spcPts val="0"/>
              </a:spcAft>
            </a:pPr>
            <a:r>
              <a:rPr sz="1425" b="1" i="0">
                <a:solidFill>
                  <a:srgbClr val="0C0C0C"/>
                </a:solidFill>
                <a:latin typeface="Arial"/>
              </a:rPr>
              <a:t>Held for</a:t>
            </a:r>
          </a:p>
        </p:txBody>
      </p:sp>
      <p:sp>
        <p:nvSpPr>
          <p:cNvPr id="19" name="TextBox 18"/>
          <p:cNvSpPr txBox="1"/>
          <p:nvPr/>
        </p:nvSpPr>
        <p:spPr>
          <a:xfrm>
            <a:off x="838200" y="4229100"/>
            <a:ext cx="5029200" cy="200025"/>
          </a:xfrm>
          <a:prstGeom prst="rect">
            <a:avLst/>
          </a:prstGeom>
          <a:noFill/>
        </p:spPr>
        <p:txBody>
          <a:bodyPr wrap="square" lIns="0" rIns="0" tIns="0" bIns="0" anchor="t">
            <a:noAutofit/>
          </a:bodyPr>
          <a:lstStyle/>
          <a:p>
            <a:pPr algn="l">
              <a:lnSpc>
                <a:spcPts val="1575"/>
              </a:lnSpc>
              <a:spcBef>
                <a:spcPts val="0"/>
              </a:spcBef>
              <a:spcAft>
                <a:spcPts val="0"/>
              </a:spcAft>
            </a:pPr>
            <a:r>
              <a:rPr sz="1125" b="0" i="0">
                <a:solidFill>
                  <a:srgbClr val="2B2B2B"/>
                </a:solidFill>
                <a:latin typeface="Arial"/>
              </a:rPr>
              <a:t>How long the current Lightning state has lasted.</a:t>
            </a:r>
          </a:p>
        </p:txBody>
      </p:sp>
      <p:sp>
        <p:nvSpPr>
          <p:cNvPr id="20" name="Rounded Rectangle 19"/>
          <p:cNvSpPr/>
          <p:nvPr/>
        </p:nvSpPr>
        <p:spPr>
          <a:xfrm>
            <a:off x="6176962" y="3814762"/>
            <a:ext cx="5400675" cy="923925"/>
          </a:xfrm>
          <a:prstGeom prst="roundRect">
            <a:avLst>
              <a:gd name="adj" fmla="val 11855"/>
            </a:avLst>
          </a:prstGeom>
          <a:solidFill>
            <a:srgbClr val="FFFFFF"/>
          </a:solidFill>
          <a:ln w="9525">
            <a:solidFill>
              <a:srgbClr val="DCDCD7"/>
            </a:solidFill>
          </a:ln>
        </p:spPr>
        <p:txBody>
          <a:bodyPr rtlCol="0" anchor="ctr"/>
          <a:lstStyle/>
          <a:p>
            <a:pPr algn="ctr"/>
          </a:p>
        </p:txBody>
      </p:sp>
      <p:sp>
        <p:nvSpPr>
          <p:cNvPr id="21" name="TextBox 20"/>
          <p:cNvSpPr txBox="1"/>
          <p:nvPr/>
        </p:nvSpPr>
        <p:spPr>
          <a:xfrm>
            <a:off x="6400800" y="3943350"/>
            <a:ext cx="5029200" cy="228600"/>
          </a:xfrm>
          <a:prstGeom prst="rect">
            <a:avLst/>
          </a:prstGeom>
          <a:noFill/>
        </p:spPr>
        <p:txBody>
          <a:bodyPr wrap="square" lIns="0" rIns="0" tIns="0" bIns="0" anchor="t">
            <a:noAutofit/>
          </a:bodyPr>
          <a:lstStyle/>
          <a:p>
            <a:pPr algn="l">
              <a:lnSpc>
                <a:spcPts val="1800"/>
              </a:lnSpc>
              <a:spcBef>
                <a:spcPts val="0"/>
              </a:spcBef>
              <a:spcAft>
                <a:spcPts val="0"/>
              </a:spcAft>
            </a:pPr>
            <a:r>
              <a:rPr sz="1425" b="1" i="0">
                <a:solidFill>
                  <a:srgbClr val="0C0C0C"/>
                </a:solidFill>
                <a:latin typeface="Arial"/>
              </a:rPr>
              <a:t>Wallboard view</a:t>
            </a:r>
          </a:p>
        </p:txBody>
      </p:sp>
      <p:sp>
        <p:nvSpPr>
          <p:cNvPr id="22" name="TextBox 21"/>
          <p:cNvSpPr txBox="1"/>
          <p:nvPr/>
        </p:nvSpPr>
        <p:spPr>
          <a:xfrm>
            <a:off x="6400800" y="4229100"/>
            <a:ext cx="5029200" cy="200025"/>
          </a:xfrm>
          <a:prstGeom prst="rect">
            <a:avLst/>
          </a:prstGeom>
          <a:noFill/>
        </p:spPr>
        <p:txBody>
          <a:bodyPr wrap="square" lIns="0" rIns="0" tIns="0" bIns="0" anchor="t">
            <a:noAutofit/>
          </a:bodyPr>
          <a:lstStyle/>
          <a:p>
            <a:pPr algn="l">
              <a:lnSpc>
                <a:spcPts val="1575"/>
              </a:lnSpc>
              <a:spcBef>
                <a:spcPts val="0"/>
              </a:spcBef>
              <a:spcAft>
                <a:spcPts val="0"/>
              </a:spcAft>
            </a:pPr>
            <a:r>
              <a:rPr sz="1125" b="0" i="0">
                <a:solidFill>
                  <a:srgbClr val="2B2B2B"/>
                </a:solidFill>
                <a:latin typeface="Arial"/>
              </a:rPr>
              <a:t>A large-type page for a site screen. Opens by web address.</a:t>
            </a:r>
          </a:p>
        </p:txBody>
      </p:sp>
      <p:sp>
        <p:nvSpPr>
          <p:cNvPr id="23" name="Rounded Rectangle 22"/>
          <p:cNvSpPr/>
          <p:nvPr/>
        </p:nvSpPr>
        <p:spPr>
          <a:xfrm>
            <a:off x="614362" y="4881562"/>
            <a:ext cx="5400675" cy="923925"/>
          </a:xfrm>
          <a:prstGeom prst="roundRect">
            <a:avLst>
              <a:gd name="adj" fmla="val 11855"/>
            </a:avLst>
          </a:prstGeom>
          <a:solidFill>
            <a:srgbClr val="FFFFFF"/>
          </a:solidFill>
          <a:ln w="9525">
            <a:solidFill>
              <a:srgbClr val="DCDCD7"/>
            </a:solidFill>
          </a:ln>
        </p:spPr>
        <p:txBody>
          <a:bodyPr rtlCol="0" anchor="ctr"/>
          <a:lstStyle/>
          <a:p>
            <a:pPr algn="ctr"/>
          </a:p>
        </p:txBody>
      </p:sp>
      <p:sp>
        <p:nvSpPr>
          <p:cNvPr id="24" name="TextBox 23"/>
          <p:cNvSpPr txBox="1"/>
          <p:nvPr/>
        </p:nvSpPr>
        <p:spPr>
          <a:xfrm>
            <a:off x="838200" y="5010150"/>
            <a:ext cx="5029200" cy="228600"/>
          </a:xfrm>
          <a:prstGeom prst="rect">
            <a:avLst/>
          </a:prstGeom>
          <a:noFill/>
        </p:spPr>
        <p:txBody>
          <a:bodyPr wrap="square" lIns="0" rIns="0" tIns="0" bIns="0" anchor="t">
            <a:noAutofit/>
          </a:bodyPr>
          <a:lstStyle/>
          <a:p>
            <a:pPr algn="l">
              <a:lnSpc>
                <a:spcPts val="1800"/>
              </a:lnSpc>
              <a:spcBef>
                <a:spcPts val="0"/>
              </a:spcBef>
              <a:spcAft>
                <a:spcPts val="0"/>
              </a:spcAft>
            </a:pPr>
            <a:r>
              <a:rPr sz="1425" b="1" i="0">
                <a:solidFill>
                  <a:srgbClr val="0C0C0C"/>
                </a:solidFill>
                <a:latin typeface="Arial"/>
              </a:rPr>
              <a:t>Live alarms / Acknowledged</a:t>
            </a:r>
          </a:p>
        </p:txBody>
      </p:sp>
      <p:sp>
        <p:nvSpPr>
          <p:cNvPr id="25" name="TextBox 24"/>
          <p:cNvSpPr txBox="1"/>
          <p:nvPr/>
        </p:nvSpPr>
        <p:spPr>
          <a:xfrm>
            <a:off x="838200" y="5295900"/>
            <a:ext cx="5029200" cy="400050"/>
          </a:xfrm>
          <a:prstGeom prst="rect">
            <a:avLst/>
          </a:prstGeom>
          <a:noFill/>
        </p:spPr>
        <p:txBody>
          <a:bodyPr wrap="square" lIns="0" rIns="0" tIns="0" bIns="0" anchor="t">
            <a:noAutofit/>
          </a:bodyPr>
          <a:lstStyle/>
          <a:p>
            <a:pPr algn="l">
              <a:lnSpc>
                <a:spcPts val="1575"/>
              </a:lnSpc>
              <a:spcBef>
                <a:spcPts val="0"/>
              </a:spcBef>
              <a:spcAft>
                <a:spcPts val="0"/>
              </a:spcAft>
            </a:pPr>
            <a:r>
              <a:rPr sz="1125" b="0" i="0">
                <a:solidFill>
                  <a:srgbClr val="2B2B2B"/>
                </a:solidFill>
                <a:latin typeface="Arial"/>
              </a:rPr>
              <a:t>Gas: alerts nobody has acknowledged, and open alerts that are being handled.</a:t>
            </a:r>
          </a:p>
        </p:txBody>
      </p:sp>
      <p:sp>
        <p:nvSpPr>
          <p:cNvPr id="26" name="Rounded Rectangle 25"/>
          <p:cNvSpPr/>
          <p:nvPr/>
        </p:nvSpPr>
        <p:spPr>
          <a:xfrm>
            <a:off x="6176962" y="4881562"/>
            <a:ext cx="5400675" cy="923925"/>
          </a:xfrm>
          <a:prstGeom prst="roundRect">
            <a:avLst>
              <a:gd name="adj" fmla="val 11855"/>
            </a:avLst>
          </a:prstGeom>
          <a:solidFill>
            <a:srgbClr val="FFFFFF"/>
          </a:solidFill>
          <a:ln w="9525">
            <a:solidFill>
              <a:srgbClr val="DCDCD7"/>
            </a:solidFill>
          </a:ln>
        </p:spPr>
        <p:txBody>
          <a:bodyPr rtlCol="0" anchor="ctr"/>
          <a:lstStyle/>
          <a:p>
            <a:pPr algn="ctr"/>
          </a:p>
        </p:txBody>
      </p:sp>
      <p:sp>
        <p:nvSpPr>
          <p:cNvPr id="27" name="TextBox 26"/>
          <p:cNvSpPr txBox="1"/>
          <p:nvPr/>
        </p:nvSpPr>
        <p:spPr>
          <a:xfrm>
            <a:off x="6400800" y="5010150"/>
            <a:ext cx="5029200" cy="228600"/>
          </a:xfrm>
          <a:prstGeom prst="rect">
            <a:avLst/>
          </a:prstGeom>
          <a:noFill/>
        </p:spPr>
        <p:txBody>
          <a:bodyPr wrap="square" lIns="0" rIns="0" tIns="0" bIns="0" anchor="t">
            <a:noAutofit/>
          </a:bodyPr>
          <a:lstStyle/>
          <a:p>
            <a:pPr algn="l">
              <a:lnSpc>
                <a:spcPts val="1800"/>
              </a:lnSpc>
              <a:spcBef>
                <a:spcPts val="0"/>
              </a:spcBef>
              <a:spcAft>
                <a:spcPts val="0"/>
              </a:spcAft>
            </a:pPr>
            <a:r>
              <a:rPr sz="1425" b="1" i="0">
                <a:solidFill>
                  <a:srgbClr val="0C0C0C"/>
                </a:solidFill>
                <a:latin typeface="Arial"/>
              </a:rPr>
              <a:t>Modbus</a:t>
            </a:r>
          </a:p>
        </p:txBody>
      </p:sp>
      <p:sp>
        <p:nvSpPr>
          <p:cNvPr id="28" name="TextBox 27"/>
          <p:cNvSpPr txBox="1"/>
          <p:nvPr/>
        </p:nvSpPr>
        <p:spPr>
          <a:xfrm>
            <a:off x="6400800" y="5295900"/>
            <a:ext cx="5029200" cy="200025"/>
          </a:xfrm>
          <a:prstGeom prst="rect">
            <a:avLst/>
          </a:prstGeom>
          <a:noFill/>
        </p:spPr>
        <p:txBody>
          <a:bodyPr wrap="square" lIns="0" rIns="0" tIns="0" bIns="0" anchor="t">
            <a:noAutofit/>
          </a:bodyPr>
          <a:lstStyle/>
          <a:p>
            <a:pPr algn="l">
              <a:lnSpc>
                <a:spcPts val="1575"/>
              </a:lnSpc>
              <a:spcBef>
                <a:spcPts val="0"/>
              </a:spcBef>
              <a:spcAft>
                <a:spcPts val="0"/>
              </a:spcAft>
            </a:pPr>
            <a:r>
              <a:rPr sz="1125" b="0" i="0">
                <a:solidFill>
                  <a:srgbClr val="2B2B2B"/>
                </a:solidFill>
                <a:latin typeface="Arial"/>
              </a:rPr>
              <a:t>An industrial wiring and data standard many sensors speak.</a:t>
            </a:r>
          </a:p>
        </p:txBody>
      </p:sp>
      <p:sp>
        <p:nvSpPr>
          <p:cNvPr id="29" name="TextBox 28"/>
          <p:cNvSpPr txBox="1"/>
          <p:nvPr/>
        </p:nvSpPr>
        <p:spPr>
          <a:xfrm>
            <a:off x="609600" y="6496050"/>
            <a:ext cx="5791200" cy="152400"/>
          </a:xfrm>
          <a:prstGeom prst="rect">
            <a:avLst/>
          </a:prstGeom>
          <a:noFill/>
        </p:spPr>
        <p:txBody>
          <a:bodyPr wrap="square" lIns="0" rIns="0" tIns="0" bIns="0" anchor="t">
            <a:noAutofit/>
          </a:bodyPr>
          <a:lstStyle/>
          <a:p>
            <a:pPr algn="l">
              <a:lnSpc>
                <a:spcPts val="1200"/>
              </a:lnSpc>
              <a:spcBef>
                <a:spcPts val="0"/>
              </a:spcBef>
              <a:spcAft>
                <a:spcPts val="0"/>
              </a:spcAft>
            </a:pPr>
            <a:r>
              <a:rPr sz="900" b="0" i="0">
                <a:solidFill>
                  <a:srgbClr val="6B6B6B"/>
                </a:solidFill>
                <a:latin typeface="Arial"/>
              </a:rPr>
              <a:t>Connected Environment 1.0 · Internal</a:t>
            </a:r>
          </a:p>
        </p:txBody>
      </p:sp>
      <p:sp>
        <p:nvSpPr>
          <p:cNvPr id="30" name="TextBox 29"/>
          <p:cNvSpPr txBox="1"/>
          <p:nvPr/>
        </p:nvSpPr>
        <p:spPr>
          <a:xfrm>
            <a:off x="10553700" y="6496050"/>
            <a:ext cx="1028700" cy="152400"/>
          </a:xfrm>
          <a:prstGeom prst="rect">
            <a:avLst/>
          </a:prstGeom>
          <a:noFill/>
        </p:spPr>
        <p:txBody>
          <a:bodyPr wrap="square" lIns="0" rIns="0" tIns="0" bIns="0" anchor="t">
            <a:noAutofit/>
          </a:bodyPr>
          <a:lstStyle/>
          <a:p>
            <a:pPr algn="r">
              <a:lnSpc>
                <a:spcPts val="1200"/>
              </a:lnSpc>
              <a:spcBef>
                <a:spcPts val="0"/>
              </a:spcBef>
              <a:spcAft>
                <a:spcPts val="0"/>
              </a:spcAft>
            </a:pPr>
            <a:r>
              <a:rPr sz="900" b="0" i="0">
                <a:solidFill>
                  <a:srgbClr val="6B6B6B"/>
                </a:solidFill>
                <a:latin typeface="Arial"/>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Connected Environment 1.0</dc:title>
  <dc:subject>Release presentation, October 2026 (internal)</dc:subject>
  <dc:creator>WakeCap</dc:creator>
  <cp:keywords>Connected Environment, Weather Station, Lightning, Gas</cp:keywords>
  <dc:description>Live production screens, 4 October 2026. Speaker notes on every slide.</dc:description>
  <cp:lastModifiedBy>Steve Canny</cp:lastModifiedBy>
  <cp:revision>1</cp:revision>
  <dcterms:created xsi:type="dcterms:W3CDTF">2013-01-27T09:14:16Z</dcterms:created>
  <dcterms:modified xsi:type="dcterms:W3CDTF">2013-01-27T09:15:58Z</dcterms:modified>
  <cp:category/>
</cp:coreProperties>
</file>